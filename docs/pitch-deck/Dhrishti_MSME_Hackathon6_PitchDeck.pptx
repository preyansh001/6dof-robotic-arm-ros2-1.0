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Fund utilization</c:v>
                </c:pt>
              </c:strCache>
            </c:strRef>
          </c:tx>
          <c:spPr>
            <a:solidFill>
              <a:schemeClr val="accent1"/>
            </a:solidFill>
            <a:ln w="9525" cap="flat">
              <a:solidFill>
                <a:srgbClr val="F9F9F9"/>
              </a:solidFill>
              <a:prstDash val="solid"/>
              <a:round/>
            </a:ln>
            <a:effectLst/>
          </c:spPr>
          <c:dPt>
            <c:idx val="0"/>
            <c:bubble3D val="0"/>
            <c:spPr>
              <a:solidFill>
                <a:srgbClr val="00B4D8"/>
              </a:solidFill>
              <a:ln w="25400" cap="flat">
                <a:solidFill>
                  <a:srgbClr val="1B2838"/>
                </a:solidFill>
                <a:prstDash val="solid"/>
                <a:round/>
              </a:ln>
              <a:effectLst/>
            </c:spPr>
          </c:dPt>
          <c:dPt>
            <c:idx val="1"/>
            <c:bubble3D val="0"/>
            <c:spPr>
              <a:solidFill>
                <a:srgbClr val="48CAE4"/>
              </a:solidFill>
              <a:ln w="25400" cap="flat">
                <a:solidFill>
                  <a:srgbClr val="1B2838"/>
                </a:solidFill>
                <a:prstDash val="solid"/>
                <a:round/>
              </a:ln>
              <a:effectLst/>
            </c:spPr>
          </c:dPt>
          <c:dPt>
            <c:idx val="2"/>
            <c:bubble3D val="0"/>
            <c:spPr>
              <a:solidFill>
                <a:srgbClr val="0077B6"/>
              </a:solidFill>
              <a:ln w="25400" cap="flat">
                <a:solidFill>
                  <a:srgbClr val="1B2838"/>
                </a:solidFill>
                <a:prstDash val="solid"/>
                <a:round/>
              </a:ln>
              <a:effectLst/>
            </c:spPr>
          </c:dPt>
          <c:dPt>
            <c:idx val="3"/>
            <c:bubble3D val="0"/>
            <c:spPr>
              <a:solidFill>
                <a:srgbClr val="023E8A"/>
              </a:solidFill>
              <a:ln w="25400" cap="flat">
                <a:solidFill>
                  <a:srgbClr val="1B2838"/>
                </a:solidFill>
                <a:prstDash val="solid"/>
                <a:round/>
              </a:ln>
              <a:effectLst/>
            </c:spPr>
          </c:dPt>
          <c:dPt>
            <c:idx val="4"/>
            <c:bubble3D val="0"/>
            <c:spPr>
              <a:solidFill>
                <a:srgbClr val="90E0EF"/>
              </a:solidFill>
              <a:ln w="25400" cap="flat">
                <a:solidFill>
                  <a:srgbClr val="1B2838"/>
                </a:solidFill>
                <a:prstDash val="solid"/>
                <a:round/>
              </a:ln>
              <a:effectLst/>
            </c:spPr>
          </c:dPt>
          <c:dPt>
            <c:idx val="5"/>
            <c:bubble3D val="0"/>
            <c:spPr>
              <a:solidFill>
                <a:srgbClr val="0096C7"/>
              </a:solidFill>
              <a:ln w="25400" cap="flat">
                <a:solidFill>
                  <a:srgbClr val="1B2838"/>
                </a:solidFill>
                <a:prstDash val="solid"/>
                <a:round/>
              </a:ln>
              <a:effectLst/>
            </c:spPr>
          </c:dPt>
          <c:dPt>
            <c:idx val="6"/>
            <c:bubble3D val="0"/>
            <c:spPr>
              <a:solidFill>
                <a:srgbClr val="5C8AA6"/>
              </a:solidFill>
              <a:ln w="25400" cap="flat">
                <a:solidFill>
                  <a:srgbClr val="1B2838"/>
                </a:solidFill>
                <a:prstDash val="solid"/>
                <a:round/>
              </a:ln>
              <a:effectLst/>
            </c:spPr>
          </c:dPt>
          <c:dPt>
            <c:idx val="7"/>
            <c:bubble3D val="0"/>
            <c:spPr>
              <a:solidFill>
                <a:srgbClr val="34687E"/>
              </a:solidFill>
              <a:ln w="25400" cap="flat">
                <a:solidFill>
                  <a:srgbClr val="1B2838"/>
                </a:solidFill>
                <a:prstDash val="solid"/>
                <a:round/>
              </a:ln>
              <a:effectLst/>
            </c:spPr>
          </c:dPt>
          <c:dPt>
            <c:idx val="8"/>
            <c:bubble3D val="0"/>
            <c:spPr>
              <a:solidFill>
                <a:srgbClr val="7FB3C8"/>
              </a:solidFill>
              <a:ln w="25400" cap="flat">
                <a:solidFill>
                  <a:srgbClr val="1B2838"/>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6"/>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7"/>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8"/>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Sheet1!$A$2:$A$10</c:f>
              <c:strCache>
                <c:ptCount val="9"/>
                <c:pt idx="0">
                  <c:v>Prototype hardware — 10 stations across builds</c:v>
                </c:pt>
                <c:pt idx="1">
                  <c:v>Cameras, lenses, lighting, sensors, spares</c:v>
                </c:pt>
                <c:pt idx="2">
                  <c:v>AI development — dataset capture, annotation, edge optimisation, compute</c:v>
                </c:pt>
                <c:pt idx="3">
                  <c:v>Enclosure design, tooling and fabrication</c:v>
                </c:pt>
                <c:pt idx="4">
                  <c:v>Field pilots — installation, travel, on-site data collection</c:v>
                </c:pt>
                <c:pt idx="5">
                  <c:v>Testing — electrical safety and EMI/EMC pre-compliance</c:v>
                </c:pt>
                <c:pt idx="6">
                  <c:v>IP — design registration and patent drafting/filing</c:v>
                </c:pt>
                <c:pt idx="7">
                  <c:v>Dashboard app and cloud for 12 months</c:v>
                </c:pt>
                <c:pt idx="8">
                  <c:v>Contingency</c:v>
                </c:pt>
              </c:strCache>
            </c:strRef>
          </c:cat>
          <c:val>
            <c:numRef>
              <c:f>Sheet1!$B$2:$B$10</c:f>
              <c:numCache>
                <c:ptCount val="9"/>
                <c:pt idx="0">
                  <c:v>450000</c:v>
                </c:pt>
                <c:pt idx="1">
                  <c:v>200000</c:v>
                </c:pt>
                <c:pt idx="2">
                  <c:v>250000</c:v>
                </c:pt>
                <c:pt idx="3">
                  <c:v>180000</c:v>
                </c:pt>
                <c:pt idx="4">
                  <c:v>120000</c:v>
                </c:pt>
                <c:pt idx="5">
                  <c:v>100000</c:v>
                </c:pt>
                <c:pt idx="6">
                  <c:v>100000</c:v>
                </c:pt>
                <c:pt idx="7">
                  <c:v>70000</c:v>
                </c:pt>
                <c:pt idx="8">
                  <c:v>30000</c:v>
                </c:pt>
              </c:numCache>
            </c:numRef>
          </c:val>
        </c:ser>
        <c:firstSliceAng val="0"/>
        <c:holeSize val="62"/>
      </c:doughnutChart>
      <c:spPr>
        <a:solidFill>
          <a:srgbClr val="1B2838"/>
        </a:solidFill>
        <a:ln>
          <a:noFill/>
        </a:ln>
        <a:effectLst/>
      </c:spPr>
    </c:plotArea>
    <c:plotVisOnly val="1"/>
    <c:dispBlanksAs val="span"/>
  </c:chart>
  <c:spPr>
    <a:solidFill>
      <a:srgbClr val="1B283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"Good afternoon. Thank you for the opportunity. I am Jenil Patel. Our idea is a low-cost AI inspection station that lets a small factory check every product for defects automatically, for under fifty thousand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Every small factory has the same weak point — the last step is a worker looking at each piece and deciding good or bad. After two hours, accuracy drops by thirty to forty percent and defects slip through. That costs a typical MSME two to ten lakh a year in returns and rejected batches. Machine vision solves this — but Cognex and Keyence start at five lakh and need a trained vision engineer. An MSME making a different product every week cannot call an engineer every week. The gap is not whether this can be done — it is that nobody has made it cheap enough and simple enough for a small factory.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Our answer is a small box you place at the end of the line. The owner shows it fifty good pieces and fifty bad pieces and taps one button. Fifteen minutes later it is checking parts on its own, about one piece every second, and telling the operator pass or fail. No coding, no engineer, no change to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A sensor sees the part arrive and triggers the camera. The camera sits inside a lit chamber, so lighting is always the same — that is the trick that lets a four-thousand-rupee camera do the job of a one-lakh camera. A Raspberry Pi runs the AI model on the device itself, so the factory does not need internet. Then two things happen: the operator gets an instant pass or fail signal, and the result goes to the owner's phone as a live yield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Cheap alone is not innovation. First, training runs on the device from about fifty samples — no data leaves the factory and no AI expert is needed. Second, we spend money on controlled lighting instead of an expensive camera — that is the core cost insight. Third, the system corrects its own lighting as the day changes, which is the number one reason low-cost vision fails on a real shop floor. Fourth, when the operator disagrees with the machine, that correction retrains the model. Fifth, it retrofits — nobody has to rebuild their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These are current Indian supplier prices, not estimates. A Raspberry Pi 5 with power and cooling is about ten thousand. A five-megapixel USB camera module is around four thousand two hundred. Add lighting, screen, enclosure and controls and a single prototype comes to roughly thirty thousand. At a hundred-unit batch it drops to about twenty-five thousand. That is how we sell at forty-nine thousand and still hold a healthy margin. Backup slide B5 has the live listings.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We are building a product company. The total addressable market is one hundred seventy-five crore, but here is our honest plan: fifty stations in year one, all in Morbi, ninety minutes from our workshop. Two hundred in year two, adding Surat and Rajkot. Five hundred by year three — about two and a half crore in revenue. We start in Gujarat because we can drive to our customers, install, train and fix problems in person. On impact — we are not removing jobs. The same worker stops staring at parts and starts running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We sell the station, then earn every year from support, model updates and custom training. For the customer the maths is easy — two QC workers cost about twenty-five thousand a month, so the box pays for itself in two to four months. That short payback is what makes a cost-conscious MSME owner say yes. At a hundred-unit batch the BOM is about twenty-five thousand and we sell at forty-nine thousand — forty-nine percent gross margin. The business is self-sustaining after the grant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To be straight with you — the architecture, the bill of materials and the software pipeline are done, and we have tested the model on defect image datasets. What we have not built yet is the physical station, and that is exactly what this grant is for. What we do bring is a team that has built hardware before, so this is not our first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 Twelve months, four milestones, each one with something you can physically inspect at the end. First quarter, one working unit. Second, three units inside real factories. Third, hardened in the field and measured. Fourth, ten units, IP filed and a manufacturing-ready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We are asking for the full fifteen lakh, drawn milestone by milestone through AIC-GISC. Thirty percent goes into building ten physical stations, because units in real factories are what turn this from a drawing into a product. Another seventeen percent into the AI work and data collection. We have deliberately claimed nothing for salaries or rent — the entire grant goes into hardware, validation and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We are two engineers who build machines. I handle the electronics and control side. My co-founder has a masters in advanced engineering design from Brunel in London and has worked in R&amp;D at Mercedes-Benz and Switch Mobility. We already run a hardware startup together, so the workshop, the CAD, the electronics and the AI are all in-house. Thank you —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open only if the committee asks who else is in this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open if asked how 95% will be demonstrated. Recall and false-reject rate are always reported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open if asked about technical or commercial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open if asked about accuracy limits or metrology. Being explicit about limits builds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open immediately if a member challenges the ₹50,000 cost. A live listing settles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2776728" y="868680"/>
            <a:ext cx="3200400" cy="402336"/>
          </a:xfrm>
          <a:prstGeom prst="roundRect">
            <a:avLst>
              <a:gd name="adj" fmla="val 50000"/>
            </a:avLst>
          </a:prstGeom>
          <a:solidFill>
            <a:srgbClr val="1B2838"/>
          </a:solidFill>
          <a:ln w="12700">
            <a:solidFill>
              <a:srgbClr val="00B4D8"/>
            </a:solidFill>
            <a:prstDash val="solid"/>
          </a:ln>
        </p:spPr>
      </p:sp>
      <p:sp>
        <p:nvSpPr>
          <p:cNvPr id="3" name="Text 1"/>
          <p:cNvSpPr/>
          <p:nvPr/>
        </p:nvSpPr>
        <p:spPr>
          <a:xfrm>
            <a:off x="2776728" y="868680"/>
            <a:ext cx="3200400" cy="402336"/>
          </a:xfrm>
          <a:prstGeom prst="rect">
            <a:avLst/>
          </a:prstGeom>
          <a:noFill/>
          <a:ln/>
        </p:spPr>
        <p:txBody>
          <a:bodyPr wrap="square" lIns="0" tIns="0" rIns="0" bIns="0" rtlCol="0" anchor="ctr"/>
          <a:lstStyle/>
          <a:p>
            <a:pPr algn="ctr" indent="0" marL="0">
              <a:buNone/>
            </a:pPr>
            <a:r>
              <a:rPr lang="en-US" sz="1000" b="1" spc="140" kern="0" dirty="0">
                <a:solidFill>
                  <a:srgbClr val="00B4D8"/>
                </a:solidFill>
                <a:latin typeface="Inter" pitchFamily="34" charset="0"/>
                <a:ea typeface="Inter" pitchFamily="34" charset="-122"/>
                <a:cs typeface="Inter" pitchFamily="34" charset="-120"/>
              </a:rPr>
              <a:t>MSME IDEA HACKATHON 6.0</a:t>
            </a:r>
            <a:endParaRPr lang="en-US" sz="1000" dirty="0"/>
          </a:p>
        </p:txBody>
      </p:sp>
      <p:sp>
        <p:nvSpPr>
          <p:cNvPr id="4" name="Shape 2"/>
          <p:cNvSpPr/>
          <p:nvPr/>
        </p:nvSpPr>
        <p:spPr>
          <a:xfrm>
            <a:off x="6214872" y="868680"/>
            <a:ext cx="3200400" cy="402336"/>
          </a:xfrm>
          <a:prstGeom prst="roundRect">
            <a:avLst>
              <a:gd name="adj" fmla="val 50000"/>
            </a:avLst>
          </a:prstGeom>
          <a:solidFill>
            <a:srgbClr val="1B2838"/>
          </a:solidFill>
          <a:ln w="12700">
            <a:solidFill>
              <a:srgbClr val="00B4D8"/>
            </a:solidFill>
            <a:prstDash val="solid"/>
          </a:ln>
        </p:spPr>
      </p:sp>
      <p:sp>
        <p:nvSpPr>
          <p:cNvPr id="5" name="Text 3"/>
          <p:cNvSpPr/>
          <p:nvPr/>
        </p:nvSpPr>
        <p:spPr>
          <a:xfrm>
            <a:off x="6214872" y="868680"/>
            <a:ext cx="3200400" cy="402336"/>
          </a:xfrm>
          <a:prstGeom prst="rect">
            <a:avLst/>
          </a:prstGeom>
          <a:noFill/>
          <a:ln/>
        </p:spPr>
        <p:txBody>
          <a:bodyPr wrap="square" lIns="0" tIns="0" rIns="0" bIns="0" rtlCol="0" anchor="ctr"/>
          <a:lstStyle/>
          <a:p>
            <a:pPr algn="ctr" indent="0" marL="0">
              <a:buNone/>
            </a:pPr>
            <a:r>
              <a:rPr lang="en-US" sz="1000" b="1" spc="140" kern="0" dirty="0">
                <a:solidFill>
                  <a:srgbClr val="00B4D8"/>
                </a:solidFill>
                <a:latin typeface="Inter" pitchFamily="34" charset="0"/>
                <a:ea typeface="Inter" pitchFamily="34" charset="-122"/>
                <a:cs typeface="Inter" pitchFamily="34" charset="-120"/>
              </a:rPr>
              <a:t>THEME 4 · INDUSTRY 4.0 &amp; 5.0</a:t>
            </a:r>
            <a:endParaRPr lang="en-US" sz="1000" dirty="0"/>
          </a:p>
        </p:txBody>
      </p:sp>
      <p:sp>
        <p:nvSpPr>
          <p:cNvPr id="6" name="Text 4"/>
          <p:cNvSpPr/>
          <p:nvPr/>
        </p:nvSpPr>
        <p:spPr>
          <a:xfrm>
            <a:off x="822960" y="2057400"/>
            <a:ext cx="10546080" cy="1234440"/>
          </a:xfrm>
          <a:prstGeom prst="rect">
            <a:avLst/>
          </a:prstGeom>
          <a:noFill/>
          <a:ln/>
        </p:spPr>
        <p:txBody>
          <a:bodyPr wrap="square" lIns="0" tIns="0" rIns="0" bIns="0" rtlCol="0" anchor="ctr"/>
          <a:lstStyle/>
          <a:p>
            <a:pPr algn="ctr" indent="0" marL="0">
              <a:buNone/>
            </a:pPr>
            <a:r>
              <a:rPr lang="en-US" sz="7200" b="1" spc="50" kern="0" dirty="0">
                <a:solidFill>
                  <a:srgbClr val="FFFFFF"/>
                </a:solidFill>
                <a:latin typeface="Inter" pitchFamily="34" charset="0"/>
                <a:ea typeface="Inter" pitchFamily="34" charset="-122"/>
                <a:cs typeface="Inter" pitchFamily="34" charset="-120"/>
              </a:rPr>
              <a:t>Dhrishti</a:t>
            </a:r>
            <a:endParaRPr lang="en-US" sz="7200" dirty="0"/>
          </a:p>
        </p:txBody>
      </p:sp>
      <p:sp>
        <p:nvSpPr>
          <p:cNvPr id="7" name="Text 5"/>
          <p:cNvSpPr/>
          <p:nvPr/>
        </p:nvSpPr>
        <p:spPr>
          <a:xfrm>
            <a:off x="1280160" y="3337560"/>
            <a:ext cx="9631680" cy="868680"/>
          </a:xfrm>
          <a:prstGeom prst="rect">
            <a:avLst/>
          </a:prstGeom>
          <a:noFill/>
          <a:ln/>
        </p:spPr>
        <p:txBody>
          <a:bodyPr wrap="square" lIns="0" tIns="0" rIns="0" bIns="0" rtlCol="0" anchor="t"/>
          <a:lstStyle/>
          <a:p>
            <a:pPr algn="ctr" indent="0" marL="0">
              <a:lnSpc>
                <a:spcPct val="120000"/>
              </a:lnSpc>
              <a:buNone/>
            </a:pPr>
            <a:r>
              <a:rPr lang="en-US" sz="1900" dirty="0">
                <a:solidFill>
                  <a:srgbClr val="00B4D8"/>
                </a:solidFill>
                <a:latin typeface="Inter" pitchFamily="34" charset="0"/>
                <a:ea typeface="Inter" pitchFamily="34" charset="-122"/>
                <a:cs typeface="Inter" pitchFamily="34" charset="-120"/>
              </a:rPr>
              <a:t>Low-Cost AI Visual Defect Detection Station</a:t>
            </a:r>
            <a:endParaRPr lang="en-US" sz="1900" dirty="0"/>
          </a:p>
          <a:p>
            <a:pPr algn="ctr" indent="0" marL="0">
              <a:lnSpc>
                <a:spcPct val="120000"/>
              </a:lnSpc>
              <a:buNone/>
            </a:pPr>
            <a:r>
              <a:rPr lang="en-US" sz="1900" dirty="0">
                <a:solidFill>
                  <a:srgbClr val="00B4D8"/>
                </a:solidFill>
                <a:latin typeface="Inter" pitchFamily="34" charset="0"/>
                <a:ea typeface="Inter" pitchFamily="34" charset="-122"/>
                <a:cs typeface="Inter" pitchFamily="34" charset="-120"/>
              </a:rPr>
              <a:t>for MSME Production Lines</a:t>
            </a:r>
            <a:endParaRPr lang="en-US" sz="1900" dirty="0"/>
          </a:p>
        </p:txBody>
      </p:sp>
      <p:sp>
        <p:nvSpPr>
          <p:cNvPr id="8" name="Text 6"/>
          <p:cNvSpPr/>
          <p:nvPr/>
        </p:nvSpPr>
        <p:spPr>
          <a:xfrm>
            <a:off x="1280160" y="4617720"/>
            <a:ext cx="9631680" cy="1097280"/>
          </a:xfrm>
          <a:prstGeom prst="rect">
            <a:avLst/>
          </a:prstGeom>
          <a:noFill/>
          <a:ln/>
        </p:spPr>
        <p:txBody>
          <a:bodyPr wrap="square" lIns="0" tIns="0" rIns="0" bIns="0" rtlCol="0" anchor="t"/>
          <a:lstStyle/>
          <a:p>
            <a:pPr algn="ctr" indent="0" marL="0">
              <a:lnSpc>
                <a:spcPct val="145000"/>
              </a:lnSpc>
              <a:buNone/>
            </a:pPr>
            <a:r>
              <a:rPr lang="en-US" sz="1250" dirty="0">
                <a:solidFill>
                  <a:srgbClr val="9FB3C4"/>
                </a:solidFill>
                <a:latin typeface="Inter" pitchFamily="34" charset="0"/>
                <a:ea typeface="Inter" pitchFamily="34" charset="-122"/>
                <a:cs typeface="Inter" pitchFamily="34" charset="-120"/>
              </a:rPr>
              <a:t>Host Institute: AIC-GISC Foundation, Gujarat Technological University</a:t>
            </a:r>
            <a:endParaRPr lang="en-US" sz="1250" dirty="0"/>
          </a:p>
          <a:p>
            <a:pPr algn="ctr" indent="0" marL="0">
              <a:lnSpc>
                <a:spcPct val="145000"/>
              </a:lnSpc>
              <a:buNone/>
            </a:pPr>
            <a:r>
              <a:rPr lang="en-US" sz="1250" dirty="0">
                <a:solidFill>
                  <a:srgbClr val="9FB3C4"/>
                </a:solidFill>
                <a:latin typeface="Inter" pitchFamily="34" charset="0"/>
                <a:ea typeface="Inter" pitchFamily="34" charset="-122"/>
                <a:cs typeface="Inter" pitchFamily="34" charset="-120"/>
              </a:rPr>
              <a:t>Presented by: Jenil Patel</a:t>
            </a:r>
            <a:endParaRPr lang="en-US" sz="1250" dirty="0"/>
          </a:p>
          <a:p>
            <a:pPr algn="ctr" indent="0" marL="0">
              <a:lnSpc>
                <a:spcPct val="145000"/>
              </a:lnSpc>
              <a:buNone/>
            </a:pPr>
            <a:r>
              <a:rPr lang="en-US" sz="1250" dirty="0">
                <a:solidFill>
                  <a:srgbClr val="9FB3C4"/>
                </a:solidFill>
                <a:latin typeface="Inter" pitchFamily="34" charset="0"/>
                <a:ea typeface="Inter" pitchFamily="34" charset="-122"/>
                <a:cs typeface="Inter" pitchFamily="34" charset="-120"/>
              </a:rPr>
              <a:t>10 August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THE PROBLEM &amp; THE GAP</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01 / 12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150" b="1" dirty="0">
                <a:solidFill>
                  <a:srgbClr val="FFFFFF"/>
                </a:solidFill>
                <a:latin typeface="Inter" pitchFamily="34" charset="0"/>
                <a:ea typeface="Inter" pitchFamily="34" charset="-122"/>
                <a:cs typeface="Inter" pitchFamily="34" charset="-120"/>
              </a:rPr>
              <a:t>Quality control in Indian MSMEs is still done by tired human eyes.</a:t>
            </a:r>
            <a:endParaRPr lang="en-US" sz="2150" dirty="0"/>
          </a:p>
        </p:txBody>
      </p:sp>
      <p:sp>
        <p:nvSpPr>
          <p:cNvPr id="5" name="Text 3"/>
          <p:cNvSpPr/>
          <p:nvPr/>
        </p:nvSpPr>
        <p:spPr>
          <a:xfrm>
            <a:off x="566928" y="1444752"/>
            <a:ext cx="5074920" cy="786384"/>
          </a:xfrm>
          <a:prstGeom prst="rect">
            <a:avLst/>
          </a:prstGeom>
          <a:noFill/>
          <a:ln/>
        </p:spPr>
        <p:txBody>
          <a:bodyPr wrap="square" lIns="0" tIns="0" rIns="0" bIns="0" rtlCol="0" anchor="ctr"/>
          <a:lstStyle/>
          <a:p>
            <a:pPr indent="0" marL="0">
              <a:buNone/>
            </a:pPr>
            <a:r>
              <a:rPr lang="en-US" sz="5000" b="1" dirty="0">
                <a:solidFill>
                  <a:srgbClr val="E63946"/>
                </a:solidFill>
                <a:latin typeface="Inter" pitchFamily="34" charset="0"/>
                <a:ea typeface="Inter" pitchFamily="34" charset="-122"/>
                <a:cs typeface="Inter" pitchFamily="34" charset="-120"/>
              </a:rPr>
              <a:t>5–15%</a:t>
            </a:r>
            <a:endParaRPr lang="en-US" sz="5000" dirty="0"/>
          </a:p>
        </p:txBody>
      </p:sp>
      <p:sp>
        <p:nvSpPr>
          <p:cNvPr id="6" name="Text 4"/>
          <p:cNvSpPr/>
          <p:nvPr/>
        </p:nvSpPr>
        <p:spPr>
          <a:xfrm>
            <a:off x="566928" y="2249424"/>
            <a:ext cx="5074920" cy="640080"/>
          </a:xfrm>
          <a:prstGeom prst="rect">
            <a:avLst/>
          </a:prstGeom>
          <a:noFill/>
          <a:ln/>
        </p:spPr>
        <p:txBody>
          <a:bodyPr wrap="square" lIns="0" tIns="0" rIns="0" bIns="0" rtlCol="0" anchor="t"/>
          <a:lstStyle/>
          <a:p>
            <a:pPr indent="0" marL="0">
              <a:lnSpc>
                <a:spcPct val="120000"/>
              </a:lnSpc>
              <a:buNone/>
            </a:pPr>
            <a:r>
              <a:rPr lang="en-US" sz="1300" dirty="0">
                <a:solidFill>
                  <a:srgbClr val="FFFFFF"/>
                </a:solidFill>
                <a:latin typeface="Inter" pitchFamily="34" charset="0"/>
                <a:ea typeface="Inter" pitchFamily="34" charset="-122"/>
                <a:cs typeface="Inter" pitchFamily="34" charset="-120"/>
              </a:rPr>
              <a:t>of defective output still reaches the customer</a:t>
            </a:r>
            <a:endParaRPr lang="en-US" sz="1300" dirty="0"/>
          </a:p>
          <a:p>
            <a:pPr indent="0" marL="0">
              <a:lnSpc>
                <a:spcPct val="120000"/>
              </a:lnSpc>
              <a:buNone/>
            </a:pPr>
            <a:r>
              <a:rPr lang="en-US" sz="1300" dirty="0">
                <a:solidFill>
                  <a:srgbClr val="FFFFFF"/>
                </a:solidFill>
                <a:latin typeface="Inter" pitchFamily="34" charset="0"/>
                <a:ea typeface="Inter" pitchFamily="34" charset="-122"/>
                <a:cs typeface="Inter" pitchFamily="34" charset="-120"/>
              </a:rPr>
              <a:t>→ returns, rejections, lost orders</a:t>
            </a:r>
            <a:endParaRPr lang="en-US" sz="1300" dirty="0"/>
          </a:p>
        </p:txBody>
      </p:sp>
      <p:sp>
        <p:nvSpPr>
          <p:cNvPr id="7" name="Text 5"/>
          <p:cNvSpPr/>
          <p:nvPr/>
        </p:nvSpPr>
        <p:spPr>
          <a:xfrm>
            <a:off x="566928" y="3127248"/>
            <a:ext cx="5074920" cy="658368"/>
          </a:xfrm>
          <a:prstGeom prst="rect">
            <a:avLst/>
          </a:prstGeom>
          <a:noFill/>
          <a:ln/>
        </p:spPr>
        <p:txBody>
          <a:bodyPr wrap="square" lIns="0" tIns="0" rIns="0" bIns="0" rtlCol="0" anchor="t"/>
          <a:lstStyle/>
          <a:p>
            <a:pPr indent="0" marL="0">
              <a:lnSpc>
                <a:spcPct val="114000"/>
              </a:lnSpc>
              <a:buNone/>
            </a:pPr>
            <a:r>
              <a:rPr lang="en-US" sz="1350" b="1" dirty="0">
                <a:solidFill>
                  <a:srgbClr val="E63946"/>
                </a:solidFill>
                <a:latin typeface="Inter" pitchFamily="34" charset="0"/>
                <a:ea typeface="Inter" pitchFamily="34" charset="-122"/>
                <a:cs typeface="Inter" pitchFamily="34" charset="-120"/>
              </a:rPr>
              <a:t>2–4 QC workers</a:t>
            </a:r>
            <a:pPr indent="0" marL="0">
              <a:lnSpc>
                <a:spcPct val="114000"/>
              </a:lnSpc>
              <a:buNone/>
            </a:pPr>
            <a:r>
              <a:rPr lang="en-US" sz="1350" dirty="0">
                <a:solidFill>
                  <a:srgbClr val="FFFFFF"/>
                </a:solidFill>
                <a:latin typeface="Inter" pitchFamily="34" charset="0"/>
                <a:ea typeface="Inter" pitchFamily="34" charset="-122"/>
                <a:cs typeface="Inter" pitchFamily="34" charset="-120"/>
              </a:rPr>
              <a:t> per shift, accuracy drops </a:t>
            </a:r>
            <a:pPr indent="0" marL="0">
              <a:lnSpc>
                <a:spcPct val="114000"/>
              </a:lnSpc>
              <a:buNone/>
            </a:pPr>
            <a:r>
              <a:rPr lang="en-US" sz="1350" b="1" dirty="0">
                <a:solidFill>
                  <a:srgbClr val="E63946"/>
                </a:solidFill>
                <a:latin typeface="Inter" pitchFamily="34" charset="0"/>
                <a:ea typeface="Inter" pitchFamily="34" charset="-122"/>
                <a:cs typeface="Inter" pitchFamily="34" charset="-120"/>
              </a:rPr>
              <a:t>30–40%</a:t>
            </a:r>
            <a:pPr indent="0" marL="0">
              <a:lnSpc>
                <a:spcPct val="114000"/>
              </a:lnSpc>
              <a:buNone/>
            </a:pPr>
            <a:r>
              <a:rPr lang="en-US" sz="1350" dirty="0">
                <a:solidFill>
                  <a:srgbClr val="FFFFFF"/>
                </a:solidFill>
                <a:latin typeface="Inter" pitchFamily="34" charset="0"/>
                <a:ea typeface="Inter" pitchFamily="34" charset="-122"/>
                <a:cs typeface="Inter" pitchFamily="34" charset="-120"/>
              </a:rPr>
              <a:t> after 2 hours</a:t>
            </a:r>
            <a:endParaRPr lang="en-US" sz="1350" dirty="0"/>
          </a:p>
        </p:txBody>
      </p:sp>
      <p:sp>
        <p:nvSpPr>
          <p:cNvPr id="8" name="Text 6"/>
          <p:cNvSpPr/>
          <p:nvPr/>
        </p:nvSpPr>
        <p:spPr>
          <a:xfrm>
            <a:off x="566928" y="3858768"/>
            <a:ext cx="5074920" cy="658368"/>
          </a:xfrm>
          <a:prstGeom prst="rect">
            <a:avLst/>
          </a:prstGeom>
          <a:noFill/>
          <a:ln/>
        </p:spPr>
        <p:txBody>
          <a:bodyPr wrap="square" lIns="0" tIns="0" rIns="0" bIns="0" rtlCol="0" anchor="t"/>
          <a:lstStyle/>
          <a:p>
            <a:pPr indent="0" marL="0">
              <a:lnSpc>
                <a:spcPct val="114000"/>
              </a:lnSpc>
              <a:buNone/>
            </a:pPr>
            <a:r>
              <a:rPr lang="en-US" sz="1350" dirty="0">
                <a:solidFill>
                  <a:srgbClr val="FFFFFF"/>
                </a:solidFill>
                <a:latin typeface="Inter" pitchFamily="34" charset="0"/>
                <a:ea typeface="Inter" pitchFamily="34" charset="-122"/>
                <a:cs typeface="Inter" pitchFamily="34" charset="-120"/>
              </a:rPr>
              <a:t>MSME loses </a:t>
            </a:r>
            <a:pPr indent="0" marL="0">
              <a:lnSpc>
                <a:spcPct val="114000"/>
              </a:lnSpc>
              <a:buNone/>
            </a:pPr>
            <a:r>
              <a:rPr lang="en-US" sz="1350" b="1" dirty="0">
                <a:solidFill>
                  <a:srgbClr val="E63946"/>
                </a:solidFill>
                <a:latin typeface="Inter" pitchFamily="34" charset="0"/>
                <a:ea typeface="Inter" pitchFamily="34" charset="-122"/>
                <a:cs typeface="Inter" pitchFamily="34" charset="-120"/>
              </a:rPr>
              <a:t>₹2–10 lakh</a:t>
            </a:r>
            <a:pPr indent="0" marL="0">
              <a:lnSpc>
                <a:spcPct val="114000"/>
              </a:lnSpc>
              <a:buNone/>
            </a:pPr>
            <a:r>
              <a:rPr lang="en-US" sz="1350" dirty="0">
                <a:solidFill>
                  <a:srgbClr val="FFFFFF"/>
                </a:solidFill>
                <a:latin typeface="Inter" pitchFamily="34" charset="0"/>
                <a:ea typeface="Inter" pitchFamily="34" charset="-122"/>
                <a:cs typeface="Inter" pitchFamily="34" charset="-120"/>
              </a:rPr>
              <a:t> per year on defects that a machine would catch</a:t>
            </a:r>
            <a:endParaRPr lang="en-US" sz="1350" dirty="0"/>
          </a:p>
        </p:txBody>
      </p:sp>
      <p:sp>
        <p:nvSpPr>
          <p:cNvPr id="9" name="Text 7"/>
          <p:cNvSpPr/>
          <p:nvPr/>
        </p:nvSpPr>
        <p:spPr>
          <a:xfrm>
            <a:off x="6172200" y="1444752"/>
            <a:ext cx="5449824" cy="329184"/>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Machine vision exists, but not for small factories.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172200" y="1828800"/>
          <a:ext cx="9144000" cy="914400"/>
        </p:xfrm>
        <a:graphic>
          <a:graphicData uri="http://schemas.openxmlformats.org/drawingml/2006/table">
            <a:tbl>
              <a:tblPr/>
              <a:tblGrid>
                <a:gridCol w="1481328"/>
                <a:gridCol w="2084832"/>
                <a:gridCol w="1883664"/>
              </a:tblGrid>
              <a:tr h="502920">
                <a:tc>
                  <a:txBody>
                    <a:bodyPr/>
                    <a:lstStyle/>
                    <a:p>
                      <a:pPr algn="l" indent="0" marL="0">
                        <a:buNone/>
                      </a:pPr>
                      <a:endParaRPr lang="en-US" sz="950" dirty="0">
                        <a:latin typeface="Inter" charset="0"/>
                        <a:ea typeface="Inter" charset="0"/>
                        <a:cs typeface="Inter" charset="0"/>
                      </a:endParaRPr>
                    </a:p>
                  </a:txBody>
                  <a:tcPr marL="254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l" indent="0" marL="0">
                        <a:buNone/>
                      </a:pPr>
                      <a:r>
                        <a:rPr lang="en-US" sz="950" b="1" spc="140" kern="0" dirty="0">
                          <a:solidFill>
                            <a:srgbClr val="00B4D8"/>
                          </a:solidFill>
                          <a:latin typeface="Inter" pitchFamily="34" charset="0"/>
                          <a:ea typeface="Inter" pitchFamily="34" charset="-122"/>
                          <a:cs typeface="Inter" pitchFamily="34" charset="-120"/>
                        </a:rPr>
                        <a:t>Cognex / Keyence</a:t>
                      </a:r>
                      <a:endParaRPr lang="en-US" sz="95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l" indent="0" marL="0">
                        <a:buNone/>
                      </a:pPr>
                      <a:r>
                        <a:rPr lang="en-US" sz="950" b="1" spc="140" kern="0" dirty="0">
                          <a:solidFill>
                            <a:srgbClr val="00B4D8"/>
                          </a:solidFill>
                          <a:latin typeface="Inter" pitchFamily="34" charset="0"/>
                          <a:ea typeface="Inter" pitchFamily="34" charset="-122"/>
                          <a:cs typeface="Inter" pitchFamily="34" charset="-120"/>
                        </a:rPr>
                        <a:t>Our target</a:t>
                      </a:r>
                      <a:endParaRPr lang="en-US" sz="95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r>
              <a:tr h="502920">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Cost</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150" b="1" dirty="0">
                          <a:solidFill>
                            <a:srgbClr val="E63946"/>
                          </a:solidFill>
                          <a:latin typeface="Inter" pitchFamily="34" charset="0"/>
                          <a:ea typeface="Inter" pitchFamily="34" charset="-122"/>
                          <a:cs typeface="Inter" pitchFamily="34" charset="-120"/>
                        </a:rPr>
                        <a:t>₹5–20 lakh</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150" b="1" dirty="0">
                          <a:solidFill>
                            <a:srgbClr val="00B4D8"/>
                          </a:solidFill>
                          <a:latin typeface="Inter" pitchFamily="34" charset="0"/>
                          <a:ea typeface="Inter" pitchFamily="34" charset="-122"/>
                          <a:cs typeface="Inter" pitchFamily="34" charset="-120"/>
                        </a:rPr>
                        <a:t>Under ₹50,000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502920">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Setup</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Vision engineer,</a:t>
                      </a:r>
                      <a:endParaRPr lang="en-US" sz="1150" dirty="0">
                        <a:latin typeface="Inter" charset="0"/>
                        <a:ea typeface="Inter" charset="0"/>
                        <a:cs typeface="Inter" charset="0"/>
                      </a:endParaRPr>
                    </a:p>
                    <a:p>
                      <a:pPr algn="l" indent="0" marL="0">
                        <a:buNone/>
                      </a:pPr>
                      <a:r>
                        <a:rPr lang="en-US" sz="1150" dirty="0">
                          <a:solidFill>
                            <a:srgbClr val="FFFFFF"/>
                          </a:solidFill>
                          <a:latin typeface="Inter" pitchFamily="34" charset="0"/>
                          <a:ea typeface="Inter" pitchFamily="34" charset="-122"/>
                          <a:cs typeface="Inter" pitchFamily="34" charset="-120"/>
                        </a:rPr>
                        <a:t>2–4 weeks</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Plug-and-play,</a:t>
                      </a:r>
                      <a:endParaRPr lang="en-US" sz="1150" dirty="0">
                        <a:latin typeface="Inter" charset="0"/>
                        <a:ea typeface="Inter" charset="0"/>
                        <a:cs typeface="Inter" charset="0"/>
                      </a:endParaRPr>
                    </a:p>
                    <a:p>
                      <a:pPr algn="l" indent="0" marL="0">
                        <a:buNone/>
                      </a:pPr>
                      <a:r>
                        <a:rPr lang="en-US" sz="1150" dirty="0">
                          <a:solidFill>
                            <a:srgbClr val="FFFFFF"/>
                          </a:solidFill>
                          <a:latin typeface="Inter" pitchFamily="34" charset="0"/>
                          <a:ea typeface="Inter" pitchFamily="34" charset="-122"/>
                          <a:cs typeface="Inter" pitchFamily="34" charset="-120"/>
                        </a:rPr>
                        <a:t>30 min</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502920">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New product</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Re-program</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Owner trains it himself</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bl>
          </a:graphicData>
        </a:graphic>
      </p:graphicFrame>
      <p:sp>
        <p:nvSpPr>
          <p:cNvPr id="11" name="Shape 8"/>
          <p:cNvSpPr/>
          <p:nvPr/>
        </p:nvSpPr>
        <p:spPr>
          <a:xfrm>
            <a:off x="6172200" y="4041648"/>
            <a:ext cx="5449824" cy="786384"/>
          </a:xfrm>
          <a:prstGeom prst="roundRect">
            <a:avLst>
              <a:gd name="adj" fmla="val 5814"/>
            </a:avLst>
          </a:prstGeom>
          <a:solidFill>
            <a:srgbClr val="13384A"/>
          </a:solidFill>
          <a:ln/>
        </p:spPr>
      </p:sp>
      <p:sp>
        <p:nvSpPr>
          <p:cNvPr id="12" name="Text 9"/>
          <p:cNvSpPr/>
          <p:nvPr/>
        </p:nvSpPr>
        <p:spPr>
          <a:xfrm>
            <a:off x="6409944" y="4041648"/>
            <a:ext cx="4974336" cy="786384"/>
          </a:xfrm>
          <a:prstGeom prst="rect">
            <a:avLst/>
          </a:prstGeom>
          <a:noFill/>
          <a:ln/>
        </p:spPr>
        <p:txBody>
          <a:bodyPr wrap="square" lIns="0" tIns="0" rIns="0" bIns="0" rtlCol="0" anchor="ctr"/>
          <a:lstStyle/>
          <a:p>
            <a:pPr indent="0" marL="0">
              <a:lnSpc>
                <a:spcPct val="115000"/>
              </a:lnSpc>
              <a:buNone/>
            </a:pPr>
            <a:r>
              <a:rPr lang="en-US" sz="1400" b="1" dirty="0">
                <a:solidFill>
                  <a:srgbClr val="00B4D8"/>
                </a:solidFill>
                <a:latin typeface="Inter" pitchFamily="34" charset="0"/>
                <a:ea typeface="Inter" pitchFamily="34" charset="-122"/>
                <a:cs typeface="Inter" pitchFamily="34" charset="-120"/>
              </a:rPr>
              <a:t>No product under ₹1 lakh with AI and no-code training exists in India.</a:t>
            </a:r>
            <a:endParaRPr lang="en-US" sz="1400" dirty="0"/>
          </a:p>
        </p:txBody>
      </p:sp>
      <p:sp>
        <p:nvSpPr>
          <p:cNvPr id="13" name="Shape 10"/>
          <p:cNvSpPr/>
          <p:nvPr/>
        </p:nvSpPr>
        <p:spPr>
          <a:xfrm>
            <a:off x="566928" y="5358384"/>
            <a:ext cx="6766560" cy="384048"/>
          </a:xfrm>
          <a:prstGeom prst="rect">
            <a:avLst/>
          </a:prstGeom>
          <a:solidFill>
            <a:srgbClr val="E63946"/>
          </a:solidFill>
          <a:ln/>
        </p:spPr>
      </p:sp>
      <p:sp>
        <p:nvSpPr>
          <p:cNvPr id="14" name="Text 11"/>
          <p:cNvSpPr/>
          <p:nvPr/>
        </p:nvSpPr>
        <p:spPr>
          <a:xfrm>
            <a:off x="731520" y="5358384"/>
            <a:ext cx="2743200" cy="384048"/>
          </a:xfrm>
          <a:prstGeom prst="rect">
            <a:avLst/>
          </a:prstGeom>
          <a:noFill/>
          <a:ln/>
        </p:spPr>
        <p:txBody>
          <a:bodyPr wrap="square" lIns="0" tIns="0" rIns="0" bIns="0" rtlCol="0" anchor="ctr"/>
          <a:lstStyle/>
          <a:p>
            <a:pPr indent="0" marL="0">
              <a:buNone/>
            </a:pPr>
            <a:r>
              <a:rPr lang="en-US" sz="1450" b="1" dirty="0">
                <a:solidFill>
                  <a:srgbClr val="FFFFFF"/>
                </a:solidFill>
                <a:latin typeface="Inter" pitchFamily="34" charset="0"/>
                <a:ea typeface="Inter" pitchFamily="34" charset="-122"/>
                <a:cs typeface="Inter" pitchFamily="34" charset="-120"/>
              </a:rPr>
              <a:t>₹5–20 lakh</a:t>
            </a:r>
            <a:endParaRPr lang="en-US" sz="1450" dirty="0"/>
          </a:p>
        </p:txBody>
      </p:sp>
      <p:sp>
        <p:nvSpPr>
          <p:cNvPr id="15" name="Text 12"/>
          <p:cNvSpPr/>
          <p:nvPr/>
        </p:nvSpPr>
        <p:spPr>
          <a:xfrm>
            <a:off x="7516368" y="5358384"/>
            <a:ext cx="4023360" cy="384048"/>
          </a:xfrm>
          <a:prstGeom prst="rect">
            <a:avLst/>
          </a:prstGeom>
          <a:noFill/>
          <a:ln/>
        </p:spPr>
        <p:txBody>
          <a:bodyPr wrap="square" lIns="0" tIns="0" rIns="0" bIns="0" rtlCol="0" anchor="ctr"/>
          <a:lstStyle/>
          <a:p>
            <a:pPr indent="0" marL="0">
              <a:buNone/>
            </a:pPr>
            <a:r>
              <a:rPr lang="en-US" sz="1150" dirty="0">
                <a:solidFill>
                  <a:srgbClr val="9FB3C4"/>
                </a:solidFill>
                <a:latin typeface="Inter" pitchFamily="34" charset="0"/>
                <a:ea typeface="Inter" pitchFamily="34" charset="-122"/>
                <a:cs typeface="Inter" pitchFamily="34" charset="-120"/>
              </a:rPr>
              <a:t>Cognex / Keyence today</a:t>
            </a:r>
            <a:endParaRPr lang="en-US" sz="1150" dirty="0"/>
          </a:p>
        </p:txBody>
      </p:sp>
      <p:sp>
        <p:nvSpPr>
          <p:cNvPr id="16" name="Shape 13"/>
          <p:cNvSpPr/>
          <p:nvPr/>
        </p:nvSpPr>
        <p:spPr>
          <a:xfrm>
            <a:off x="566928" y="5852160"/>
            <a:ext cx="566928" cy="384048"/>
          </a:xfrm>
          <a:prstGeom prst="rect">
            <a:avLst/>
          </a:prstGeom>
          <a:solidFill>
            <a:srgbClr val="00B4D8"/>
          </a:solidFill>
          <a:ln/>
        </p:spPr>
      </p:sp>
      <p:sp>
        <p:nvSpPr>
          <p:cNvPr id="17" name="Text 14"/>
          <p:cNvSpPr/>
          <p:nvPr/>
        </p:nvSpPr>
        <p:spPr>
          <a:xfrm>
            <a:off x="1243584" y="5852160"/>
            <a:ext cx="5486400" cy="384048"/>
          </a:xfrm>
          <a:prstGeom prst="rect">
            <a:avLst/>
          </a:prstGeom>
          <a:noFill/>
          <a:ln/>
        </p:spPr>
        <p:txBody>
          <a:bodyPr wrap="square" lIns="0" tIns="0" rIns="0" bIns="0" rtlCol="0" anchor="ctr"/>
          <a:lstStyle/>
          <a:p>
            <a:pPr indent="0" marL="0">
              <a:buNone/>
            </a:pPr>
            <a:r>
              <a:rPr lang="en-US" sz="1450" b="1" dirty="0">
                <a:solidFill>
                  <a:srgbClr val="00B4D8"/>
                </a:solidFill>
                <a:latin typeface="Inter" pitchFamily="34" charset="0"/>
                <a:ea typeface="Inter" pitchFamily="34" charset="-122"/>
                <a:cs typeface="Inter" pitchFamily="34" charset="-120"/>
              </a:rPr>
              <a:t>Under ₹50,000 — our target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OUR SOLUTION</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02 / 12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100" b="1" dirty="0">
                <a:solidFill>
                  <a:srgbClr val="FFFFFF"/>
                </a:solidFill>
                <a:latin typeface="Inter" pitchFamily="34" charset="0"/>
                <a:ea typeface="Inter" pitchFamily="34" charset="-122"/>
                <a:cs typeface="Inter" pitchFamily="34" charset="-120"/>
              </a:rPr>
              <a:t>A plug-and-play inspection box that the factory owner trains himself.</a:t>
            </a:r>
            <a:endParaRPr lang="en-US" sz="2100" dirty="0"/>
          </a:p>
        </p:txBody>
      </p:sp>
      <p:sp>
        <p:nvSpPr>
          <p:cNvPr id="5" name="Text 3"/>
          <p:cNvSpPr/>
          <p:nvPr/>
        </p:nvSpPr>
        <p:spPr>
          <a:xfrm>
            <a:off x="566928" y="1508760"/>
            <a:ext cx="5989320" cy="3017520"/>
          </a:xfrm>
          <a:prstGeom prst="rect">
            <a:avLst/>
          </a:prstGeom>
          <a:noFill/>
          <a:ln/>
        </p:spPr>
        <p:txBody>
          <a:bodyPr wrap="square" lIns="0" tIns="0" rIns="0" bIns="0" rtlCol="0" anchor="t"/>
          <a:lstStyle/>
          <a:p>
            <a:pPr marL="177800" indent="-177800">
              <a:lnSpc>
                <a:spcPct val="112000"/>
              </a:lnSpc>
              <a:spcAft>
                <a:spcPts val="2200"/>
              </a:spcAft>
              <a:buSzPct val="100000"/>
              <a:buChar char="•"/>
            </a:pPr>
            <a:r>
              <a:rPr lang="en-US" sz="1400" dirty="0">
                <a:solidFill>
                  <a:srgbClr val="FFFFFF"/>
                </a:solidFill>
                <a:latin typeface="Inter" pitchFamily="34" charset="0"/>
                <a:ea typeface="Inter" pitchFamily="34" charset="-122"/>
                <a:cs typeface="Inter" pitchFamily="34" charset="-120"/>
              </a:rPr>
              <a:t>Sits at the end of any existing line — table-top or on a conveyor</a:t>
            </a:r>
            <a:endParaRPr lang="en-US" sz="1400" dirty="0"/>
          </a:p>
          <a:p>
            <a:pPr marL="177800" indent="-177800">
              <a:lnSpc>
                <a:spcPct val="112000"/>
              </a:lnSpc>
              <a:spcAft>
                <a:spcPts val="2200"/>
              </a:spcAft>
              <a:buSzPct val="100000"/>
              <a:buChar char="•"/>
            </a:pPr>
            <a:r>
              <a:rPr lang="en-US" sz="1400" dirty="0">
                <a:solidFill>
                  <a:srgbClr val="FFFFFF"/>
                </a:solidFill>
                <a:latin typeface="Inter" pitchFamily="34" charset="0"/>
                <a:ea typeface="Inter" pitchFamily="34" charset="-122"/>
                <a:cs typeface="Inter" pitchFamily="34" charset="-120"/>
              </a:rPr>
              <a:t>Owner shows it 50 good pieces and 50 bad pieces, taps “Train”</a:t>
            </a:r>
            <a:endParaRPr lang="en-US" sz="1400" dirty="0"/>
          </a:p>
          <a:p>
            <a:pPr marL="177800" indent="-177800">
              <a:lnSpc>
                <a:spcPct val="112000"/>
              </a:lnSpc>
              <a:spcAft>
                <a:spcPts val="2200"/>
              </a:spcAft>
              <a:buSzPct val="100000"/>
              <a:buChar char="•"/>
            </a:pPr>
            <a:r>
              <a:rPr lang="en-US" sz="1400" dirty="0">
                <a:solidFill>
                  <a:srgbClr val="FFFFFF"/>
                </a:solidFill>
                <a:latin typeface="Inter" pitchFamily="34" charset="0"/>
                <a:ea typeface="Inter" pitchFamily="34" charset="-122"/>
                <a:cs typeface="Inter" pitchFamily="34" charset="-120"/>
              </a:rPr>
              <a:t>Ready to inspect in about 30 minutes</a:t>
            </a:r>
            <a:endParaRPr lang="en-US" sz="1400" dirty="0"/>
          </a:p>
          <a:p>
            <a:pPr marL="177800" indent="-177800">
              <a:lnSpc>
                <a:spcPct val="112000"/>
              </a:lnSpc>
              <a:spcAft>
                <a:spcPts val="2200"/>
              </a:spcAft>
              <a:buSzPct val="100000"/>
              <a:buChar char="•"/>
            </a:pPr>
            <a:r>
              <a:rPr lang="en-US" sz="1400" dirty="0">
                <a:solidFill>
                  <a:srgbClr val="FFFFFF"/>
                </a:solidFill>
                <a:latin typeface="Inter" pitchFamily="34" charset="0"/>
                <a:ea typeface="Inter" pitchFamily="34" charset="-122"/>
                <a:cs typeface="Inter" pitchFamily="34" charset="-120"/>
              </a:rPr>
              <a:t>Decides PASS or FAIL in under 200 milliseconds, 30–60 pieces per minute</a:t>
            </a:r>
            <a:endParaRPr lang="en-US" sz="1400" dirty="0"/>
          </a:p>
        </p:txBody>
      </p:sp>
      <p:sp>
        <p:nvSpPr>
          <p:cNvPr id="6" name="Shape 4"/>
          <p:cNvSpPr/>
          <p:nvPr/>
        </p:nvSpPr>
        <p:spPr>
          <a:xfrm>
            <a:off x="6903720" y="1508760"/>
            <a:ext cx="4718304" cy="1920240"/>
          </a:xfrm>
          <a:prstGeom prst="roundRect">
            <a:avLst>
              <a:gd name="adj" fmla="val 2381"/>
            </a:avLst>
          </a:prstGeom>
          <a:solidFill>
            <a:srgbClr val="223244"/>
          </a:solidFill>
          <a:ln/>
        </p:spPr>
      </p:sp>
      <p:sp>
        <p:nvSpPr>
          <p:cNvPr id="7" name="Text 5"/>
          <p:cNvSpPr/>
          <p:nvPr/>
        </p:nvSpPr>
        <p:spPr>
          <a:xfrm>
            <a:off x="7223760" y="1847088"/>
            <a:ext cx="4114800"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TARGET PRICE TO THE MSME</a:t>
            </a:r>
            <a:endParaRPr lang="en-US" sz="950" dirty="0"/>
          </a:p>
        </p:txBody>
      </p:sp>
      <p:sp>
        <p:nvSpPr>
          <p:cNvPr id="8" name="Text 6"/>
          <p:cNvSpPr/>
          <p:nvPr/>
        </p:nvSpPr>
        <p:spPr>
          <a:xfrm>
            <a:off x="7223760" y="2176272"/>
            <a:ext cx="4114800" cy="868680"/>
          </a:xfrm>
          <a:prstGeom prst="rect">
            <a:avLst/>
          </a:prstGeom>
          <a:noFill/>
          <a:ln/>
        </p:spPr>
        <p:txBody>
          <a:bodyPr wrap="square" lIns="0" tIns="0" rIns="0" bIns="0" rtlCol="0" anchor="ctr"/>
          <a:lstStyle/>
          <a:p>
            <a:pPr indent="0" marL="0">
              <a:buNone/>
            </a:pPr>
            <a:r>
              <a:rPr lang="en-US" sz="3600" b="1" dirty="0">
                <a:solidFill>
                  <a:srgbClr val="00B4D8"/>
                </a:solidFill>
                <a:latin typeface="Inter" pitchFamily="34" charset="0"/>
                <a:ea typeface="Inter" pitchFamily="34" charset="-122"/>
                <a:cs typeface="Inter" pitchFamily="34" charset="-120"/>
              </a:rPr>
              <a:t>Under ₹50,000</a:t>
            </a:r>
            <a:endParaRPr lang="en-US" sz="3600" dirty="0"/>
          </a:p>
        </p:txBody>
      </p:sp>
      <p:sp>
        <p:nvSpPr>
          <p:cNvPr id="9" name="Text 7"/>
          <p:cNvSpPr/>
          <p:nvPr/>
        </p:nvSpPr>
        <p:spPr>
          <a:xfrm>
            <a:off x="566928" y="4526280"/>
            <a:ext cx="5486400"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HOW THE OWNER TRAINS IT</a:t>
            </a:r>
            <a:endParaRPr lang="en-US" sz="950" dirty="0"/>
          </a:p>
        </p:txBody>
      </p:sp>
      <p:sp>
        <p:nvSpPr>
          <p:cNvPr id="10" name="Shape 8"/>
          <p:cNvSpPr/>
          <p:nvPr/>
        </p:nvSpPr>
        <p:spPr>
          <a:xfrm>
            <a:off x="566928" y="4864608"/>
            <a:ext cx="1977542" cy="1143000"/>
          </a:xfrm>
          <a:prstGeom prst="roundRect">
            <a:avLst>
              <a:gd name="adj" fmla="val 4000"/>
            </a:avLst>
          </a:prstGeom>
          <a:solidFill>
            <a:srgbClr val="223244"/>
          </a:solidFill>
          <a:ln/>
        </p:spPr>
      </p:sp>
      <p:sp>
        <p:nvSpPr>
          <p:cNvPr id="11" name="Text 9"/>
          <p:cNvSpPr/>
          <p:nvPr/>
        </p:nvSpPr>
        <p:spPr>
          <a:xfrm>
            <a:off x="749808" y="4974336"/>
            <a:ext cx="1611782"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Inter" pitchFamily="34" charset="0"/>
                <a:ea typeface="Inter" pitchFamily="34" charset="-122"/>
                <a:cs typeface="Inter" pitchFamily="34" charset="-120"/>
              </a:rPr>
              <a:t>01</a:t>
            </a:r>
            <a:endParaRPr lang="en-US" sz="1100" dirty="0"/>
          </a:p>
        </p:txBody>
      </p:sp>
      <p:sp>
        <p:nvSpPr>
          <p:cNvPr id="12" name="Text 10"/>
          <p:cNvSpPr/>
          <p:nvPr/>
        </p:nvSpPr>
        <p:spPr>
          <a:xfrm>
            <a:off x="749808" y="5285232"/>
            <a:ext cx="1611782" cy="621792"/>
          </a:xfrm>
          <a:prstGeom prst="rect">
            <a:avLst/>
          </a:prstGeom>
          <a:noFill/>
          <a:ln/>
        </p:spPr>
        <p:txBody>
          <a:bodyPr wrap="square" lIns="0" tIns="0" rIns="0" bIns="0" rtlCol="0" anchor="t"/>
          <a:lstStyle/>
          <a:p>
            <a:pPr indent="0" marL="0">
              <a:lnSpc>
                <a:spcPct val="110000"/>
              </a:lnSpc>
              <a:buNone/>
            </a:pPr>
            <a:r>
              <a:rPr lang="en-US" sz="1250" b="1" dirty="0">
                <a:solidFill>
                  <a:srgbClr val="FFFFFF"/>
                </a:solidFill>
                <a:latin typeface="Inter" pitchFamily="34" charset="0"/>
                <a:ea typeface="Inter" pitchFamily="34" charset="-122"/>
                <a:cs typeface="Inter" pitchFamily="34" charset="-120"/>
              </a:rPr>
              <a:t>Show 50 good</a:t>
            </a:r>
            <a:endParaRPr lang="en-US" sz="1250" dirty="0"/>
          </a:p>
        </p:txBody>
      </p:sp>
      <p:sp>
        <p:nvSpPr>
          <p:cNvPr id="13" name="Text 11"/>
          <p:cNvSpPr/>
          <p:nvPr/>
        </p:nvSpPr>
        <p:spPr>
          <a:xfrm>
            <a:off x="2544470" y="4864608"/>
            <a:ext cx="292608" cy="1143000"/>
          </a:xfrm>
          <a:prstGeom prst="rect">
            <a:avLst/>
          </a:prstGeom>
          <a:noFill/>
          <a:ln/>
        </p:spPr>
        <p:txBody>
          <a:bodyPr wrap="square" lIns="0" tIns="0" rIns="0" bIns="0" rtlCol="0" anchor="ctr"/>
          <a:lstStyle/>
          <a:p>
            <a:pPr algn="ctr" indent="0" marL="0">
              <a:buNone/>
            </a:pPr>
            <a:r>
              <a:rPr lang="en-US" sz="1400" b="1" dirty="0">
                <a:solidFill>
                  <a:srgbClr val="00B4D8"/>
                </a:solidFill>
                <a:latin typeface="Inter" pitchFamily="34" charset="0"/>
                <a:ea typeface="Inter" pitchFamily="34" charset="-122"/>
                <a:cs typeface="Inter" pitchFamily="34" charset="-120"/>
              </a:rPr>
              <a:t>→</a:t>
            </a:r>
            <a:endParaRPr lang="en-US" sz="1400" dirty="0"/>
          </a:p>
        </p:txBody>
      </p:sp>
      <p:sp>
        <p:nvSpPr>
          <p:cNvPr id="14" name="Shape 12"/>
          <p:cNvSpPr/>
          <p:nvPr/>
        </p:nvSpPr>
        <p:spPr>
          <a:xfrm>
            <a:off x="2837078" y="4864608"/>
            <a:ext cx="1977542" cy="1143000"/>
          </a:xfrm>
          <a:prstGeom prst="roundRect">
            <a:avLst>
              <a:gd name="adj" fmla="val 4000"/>
            </a:avLst>
          </a:prstGeom>
          <a:solidFill>
            <a:srgbClr val="223244"/>
          </a:solidFill>
          <a:ln/>
        </p:spPr>
      </p:sp>
      <p:sp>
        <p:nvSpPr>
          <p:cNvPr id="15" name="Text 13"/>
          <p:cNvSpPr/>
          <p:nvPr/>
        </p:nvSpPr>
        <p:spPr>
          <a:xfrm>
            <a:off x="3019958" y="4974336"/>
            <a:ext cx="1611782"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Inter" pitchFamily="34" charset="0"/>
                <a:ea typeface="Inter" pitchFamily="34" charset="-122"/>
                <a:cs typeface="Inter" pitchFamily="34" charset="-120"/>
              </a:rPr>
              <a:t>02</a:t>
            </a:r>
            <a:endParaRPr lang="en-US" sz="1100" dirty="0"/>
          </a:p>
        </p:txBody>
      </p:sp>
      <p:sp>
        <p:nvSpPr>
          <p:cNvPr id="16" name="Text 14"/>
          <p:cNvSpPr/>
          <p:nvPr/>
        </p:nvSpPr>
        <p:spPr>
          <a:xfrm>
            <a:off x="3019958" y="5285232"/>
            <a:ext cx="1611782" cy="621792"/>
          </a:xfrm>
          <a:prstGeom prst="rect">
            <a:avLst/>
          </a:prstGeom>
          <a:noFill/>
          <a:ln/>
        </p:spPr>
        <p:txBody>
          <a:bodyPr wrap="square" lIns="0" tIns="0" rIns="0" bIns="0" rtlCol="0" anchor="t"/>
          <a:lstStyle/>
          <a:p>
            <a:pPr indent="0" marL="0">
              <a:lnSpc>
                <a:spcPct val="110000"/>
              </a:lnSpc>
              <a:buNone/>
            </a:pPr>
            <a:r>
              <a:rPr lang="en-US" sz="1250" b="1" dirty="0">
                <a:solidFill>
                  <a:srgbClr val="FFFFFF"/>
                </a:solidFill>
                <a:latin typeface="Inter" pitchFamily="34" charset="0"/>
                <a:ea typeface="Inter" pitchFamily="34" charset="-122"/>
                <a:cs typeface="Inter" pitchFamily="34" charset="-120"/>
              </a:rPr>
              <a:t>Show 50 defective</a:t>
            </a:r>
            <a:endParaRPr lang="en-US" sz="1250" dirty="0"/>
          </a:p>
        </p:txBody>
      </p:sp>
      <p:sp>
        <p:nvSpPr>
          <p:cNvPr id="17" name="Text 15"/>
          <p:cNvSpPr/>
          <p:nvPr/>
        </p:nvSpPr>
        <p:spPr>
          <a:xfrm>
            <a:off x="4814621" y="4864608"/>
            <a:ext cx="292608" cy="1143000"/>
          </a:xfrm>
          <a:prstGeom prst="rect">
            <a:avLst/>
          </a:prstGeom>
          <a:noFill/>
          <a:ln/>
        </p:spPr>
        <p:txBody>
          <a:bodyPr wrap="square" lIns="0" tIns="0" rIns="0" bIns="0" rtlCol="0" anchor="ctr"/>
          <a:lstStyle/>
          <a:p>
            <a:pPr algn="ctr" indent="0" marL="0">
              <a:buNone/>
            </a:pPr>
            <a:r>
              <a:rPr lang="en-US" sz="1400" b="1" dirty="0">
                <a:solidFill>
                  <a:srgbClr val="00B4D8"/>
                </a:solidFill>
                <a:latin typeface="Inter" pitchFamily="34" charset="0"/>
                <a:ea typeface="Inter" pitchFamily="34" charset="-122"/>
                <a:cs typeface="Inter" pitchFamily="34" charset="-120"/>
              </a:rPr>
              <a:t>→</a:t>
            </a:r>
            <a:endParaRPr lang="en-US" sz="1400" dirty="0"/>
          </a:p>
        </p:txBody>
      </p:sp>
      <p:sp>
        <p:nvSpPr>
          <p:cNvPr id="18" name="Shape 16"/>
          <p:cNvSpPr/>
          <p:nvPr/>
        </p:nvSpPr>
        <p:spPr>
          <a:xfrm>
            <a:off x="5107229" y="4864608"/>
            <a:ext cx="1977542" cy="1143000"/>
          </a:xfrm>
          <a:prstGeom prst="roundRect">
            <a:avLst>
              <a:gd name="adj" fmla="val 4000"/>
            </a:avLst>
          </a:prstGeom>
          <a:solidFill>
            <a:srgbClr val="223244"/>
          </a:solidFill>
          <a:ln/>
        </p:spPr>
      </p:sp>
      <p:sp>
        <p:nvSpPr>
          <p:cNvPr id="19" name="Text 17"/>
          <p:cNvSpPr/>
          <p:nvPr/>
        </p:nvSpPr>
        <p:spPr>
          <a:xfrm>
            <a:off x="5290109" y="4974336"/>
            <a:ext cx="1611782"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Inter" pitchFamily="34" charset="0"/>
                <a:ea typeface="Inter" pitchFamily="34" charset="-122"/>
                <a:cs typeface="Inter" pitchFamily="34" charset="-120"/>
              </a:rPr>
              <a:t>03</a:t>
            </a:r>
            <a:endParaRPr lang="en-US" sz="1100" dirty="0"/>
          </a:p>
        </p:txBody>
      </p:sp>
      <p:sp>
        <p:nvSpPr>
          <p:cNvPr id="20" name="Text 18"/>
          <p:cNvSpPr/>
          <p:nvPr/>
        </p:nvSpPr>
        <p:spPr>
          <a:xfrm>
            <a:off x="5290109" y="5285232"/>
            <a:ext cx="1611782" cy="621792"/>
          </a:xfrm>
          <a:prstGeom prst="rect">
            <a:avLst/>
          </a:prstGeom>
          <a:noFill/>
          <a:ln/>
        </p:spPr>
        <p:txBody>
          <a:bodyPr wrap="square" lIns="0" tIns="0" rIns="0" bIns="0" rtlCol="0" anchor="t"/>
          <a:lstStyle/>
          <a:p>
            <a:pPr indent="0" marL="0">
              <a:lnSpc>
                <a:spcPct val="110000"/>
              </a:lnSpc>
              <a:buNone/>
            </a:pPr>
            <a:r>
              <a:rPr lang="en-US" sz="1250" b="1" dirty="0">
                <a:solidFill>
                  <a:srgbClr val="FFFFFF"/>
                </a:solidFill>
                <a:latin typeface="Inter" pitchFamily="34" charset="0"/>
                <a:ea typeface="Inter" pitchFamily="34" charset="-122"/>
                <a:cs typeface="Inter" pitchFamily="34" charset="-120"/>
              </a:rPr>
              <a:t>Tap “Train”</a:t>
            </a:r>
            <a:endParaRPr lang="en-US" sz="1250" dirty="0"/>
          </a:p>
        </p:txBody>
      </p:sp>
      <p:sp>
        <p:nvSpPr>
          <p:cNvPr id="21" name="Text 19"/>
          <p:cNvSpPr/>
          <p:nvPr/>
        </p:nvSpPr>
        <p:spPr>
          <a:xfrm>
            <a:off x="7084771" y="4864608"/>
            <a:ext cx="292608" cy="1143000"/>
          </a:xfrm>
          <a:prstGeom prst="rect">
            <a:avLst/>
          </a:prstGeom>
          <a:noFill/>
          <a:ln/>
        </p:spPr>
        <p:txBody>
          <a:bodyPr wrap="square" lIns="0" tIns="0" rIns="0" bIns="0" rtlCol="0" anchor="ctr"/>
          <a:lstStyle/>
          <a:p>
            <a:pPr algn="ctr" indent="0" marL="0">
              <a:buNone/>
            </a:pPr>
            <a:r>
              <a:rPr lang="en-US" sz="1400" b="1" dirty="0">
                <a:solidFill>
                  <a:srgbClr val="00B4D8"/>
                </a:solidFill>
                <a:latin typeface="Inter" pitchFamily="34" charset="0"/>
                <a:ea typeface="Inter" pitchFamily="34" charset="-122"/>
                <a:cs typeface="Inter" pitchFamily="34" charset="-120"/>
              </a:rPr>
              <a:t>→</a:t>
            </a:r>
            <a:endParaRPr lang="en-US" sz="1400" dirty="0"/>
          </a:p>
        </p:txBody>
      </p:sp>
      <p:sp>
        <p:nvSpPr>
          <p:cNvPr id="22" name="Shape 20"/>
          <p:cNvSpPr/>
          <p:nvPr/>
        </p:nvSpPr>
        <p:spPr>
          <a:xfrm>
            <a:off x="7377379" y="4864608"/>
            <a:ext cx="1977542" cy="1143000"/>
          </a:xfrm>
          <a:prstGeom prst="roundRect">
            <a:avLst>
              <a:gd name="adj" fmla="val 4000"/>
            </a:avLst>
          </a:prstGeom>
          <a:solidFill>
            <a:srgbClr val="223244"/>
          </a:solidFill>
          <a:ln/>
        </p:spPr>
      </p:sp>
      <p:sp>
        <p:nvSpPr>
          <p:cNvPr id="23" name="Text 21"/>
          <p:cNvSpPr/>
          <p:nvPr/>
        </p:nvSpPr>
        <p:spPr>
          <a:xfrm>
            <a:off x="7560259" y="4974336"/>
            <a:ext cx="1611782"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Inter" pitchFamily="34" charset="0"/>
                <a:ea typeface="Inter" pitchFamily="34" charset="-122"/>
                <a:cs typeface="Inter" pitchFamily="34" charset="-120"/>
              </a:rPr>
              <a:t>04</a:t>
            </a:r>
            <a:endParaRPr lang="en-US" sz="1100" dirty="0"/>
          </a:p>
        </p:txBody>
      </p:sp>
      <p:sp>
        <p:nvSpPr>
          <p:cNvPr id="24" name="Text 22"/>
          <p:cNvSpPr/>
          <p:nvPr/>
        </p:nvSpPr>
        <p:spPr>
          <a:xfrm>
            <a:off x="7560259" y="5285232"/>
            <a:ext cx="1611782" cy="621792"/>
          </a:xfrm>
          <a:prstGeom prst="rect">
            <a:avLst/>
          </a:prstGeom>
          <a:noFill/>
          <a:ln/>
        </p:spPr>
        <p:txBody>
          <a:bodyPr wrap="square" lIns="0" tIns="0" rIns="0" bIns="0" rtlCol="0" anchor="t"/>
          <a:lstStyle/>
          <a:p>
            <a:pPr indent="0" marL="0">
              <a:lnSpc>
                <a:spcPct val="110000"/>
              </a:lnSpc>
              <a:buNone/>
            </a:pPr>
            <a:r>
              <a:rPr lang="en-US" sz="1250" b="1" dirty="0">
                <a:solidFill>
                  <a:srgbClr val="FFFFFF"/>
                </a:solidFill>
                <a:latin typeface="Inter" pitchFamily="34" charset="0"/>
                <a:ea typeface="Inter" pitchFamily="34" charset="-122"/>
                <a:cs typeface="Inter" pitchFamily="34" charset="-120"/>
              </a:rPr>
              <a:t>Auto-train 15 min</a:t>
            </a:r>
            <a:endParaRPr lang="en-US" sz="1250" dirty="0"/>
          </a:p>
        </p:txBody>
      </p:sp>
      <p:sp>
        <p:nvSpPr>
          <p:cNvPr id="25" name="Text 23"/>
          <p:cNvSpPr/>
          <p:nvPr/>
        </p:nvSpPr>
        <p:spPr>
          <a:xfrm>
            <a:off x="9354922" y="4864608"/>
            <a:ext cx="292608" cy="1143000"/>
          </a:xfrm>
          <a:prstGeom prst="rect">
            <a:avLst/>
          </a:prstGeom>
          <a:noFill/>
          <a:ln/>
        </p:spPr>
        <p:txBody>
          <a:bodyPr wrap="square" lIns="0" tIns="0" rIns="0" bIns="0" rtlCol="0" anchor="ctr"/>
          <a:lstStyle/>
          <a:p>
            <a:pPr algn="ctr" indent="0" marL="0">
              <a:buNone/>
            </a:pPr>
            <a:r>
              <a:rPr lang="en-US" sz="1400" b="1" dirty="0">
                <a:solidFill>
                  <a:srgbClr val="00B4D8"/>
                </a:solidFill>
                <a:latin typeface="Inter" pitchFamily="34" charset="0"/>
                <a:ea typeface="Inter" pitchFamily="34" charset="-122"/>
                <a:cs typeface="Inter" pitchFamily="34" charset="-120"/>
              </a:rPr>
              <a:t>→</a:t>
            </a:r>
            <a:endParaRPr lang="en-US" sz="1400" dirty="0"/>
          </a:p>
        </p:txBody>
      </p:sp>
      <p:sp>
        <p:nvSpPr>
          <p:cNvPr id="26" name="Shape 24"/>
          <p:cNvSpPr/>
          <p:nvPr/>
        </p:nvSpPr>
        <p:spPr>
          <a:xfrm>
            <a:off x="9647530" y="4864608"/>
            <a:ext cx="1977542" cy="1143000"/>
          </a:xfrm>
          <a:prstGeom prst="roundRect">
            <a:avLst>
              <a:gd name="adj" fmla="val 4000"/>
            </a:avLst>
          </a:prstGeom>
          <a:solidFill>
            <a:srgbClr val="223244"/>
          </a:solidFill>
          <a:ln/>
        </p:spPr>
      </p:sp>
      <p:sp>
        <p:nvSpPr>
          <p:cNvPr id="27" name="Text 25"/>
          <p:cNvSpPr/>
          <p:nvPr/>
        </p:nvSpPr>
        <p:spPr>
          <a:xfrm>
            <a:off x="9830410" y="4974336"/>
            <a:ext cx="1611782"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Inter" pitchFamily="34" charset="0"/>
                <a:ea typeface="Inter" pitchFamily="34" charset="-122"/>
                <a:cs typeface="Inter" pitchFamily="34" charset="-120"/>
              </a:rPr>
              <a:t>05</a:t>
            </a:r>
            <a:endParaRPr lang="en-US" sz="1100" dirty="0"/>
          </a:p>
        </p:txBody>
      </p:sp>
      <p:sp>
        <p:nvSpPr>
          <p:cNvPr id="28" name="Text 26"/>
          <p:cNvSpPr/>
          <p:nvPr/>
        </p:nvSpPr>
        <p:spPr>
          <a:xfrm>
            <a:off x="9830410" y="5285232"/>
            <a:ext cx="1611782" cy="621792"/>
          </a:xfrm>
          <a:prstGeom prst="rect">
            <a:avLst/>
          </a:prstGeom>
          <a:noFill/>
          <a:ln/>
        </p:spPr>
        <p:txBody>
          <a:bodyPr wrap="square" lIns="0" tIns="0" rIns="0" bIns="0" rtlCol="0" anchor="t"/>
          <a:lstStyle/>
          <a:p>
            <a:pPr indent="0" marL="0">
              <a:lnSpc>
                <a:spcPct val="110000"/>
              </a:lnSpc>
              <a:buNone/>
            </a:pPr>
            <a:r>
              <a:rPr lang="en-US" sz="1250" b="1" dirty="0">
                <a:solidFill>
                  <a:srgbClr val="FFFFFF"/>
                </a:solidFill>
                <a:latin typeface="Inter" pitchFamily="34" charset="0"/>
                <a:ea typeface="Inter" pitchFamily="34" charset="-122"/>
                <a:cs typeface="Inter" pitchFamily="34" charset="-120"/>
              </a:rPr>
              <a:t>Inspecting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HOW IT WORKS — TECHNOLOGY</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03 / 12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System block diagram</a:t>
            </a:r>
            <a:endParaRPr lang="en-US" sz="2600" dirty="0"/>
          </a:p>
        </p:txBody>
      </p:sp>
      <p:sp>
        <p:nvSpPr>
          <p:cNvPr id="5" name="Text 3"/>
          <p:cNvSpPr/>
          <p:nvPr/>
        </p:nvSpPr>
        <p:spPr>
          <a:xfrm>
            <a:off x="566928" y="1243584"/>
            <a:ext cx="11058144" cy="310896"/>
          </a:xfrm>
          <a:prstGeom prst="rect">
            <a:avLst/>
          </a:prstGeom>
          <a:noFill/>
          <a:ln/>
        </p:spPr>
        <p:txBody>
          <a:bodyPr wrap="square" lIns="0" tIns="0" rIns="0" bIns="0" rtlCol="0" anchor="ctr"/>
          <a:lstStyle/>
          <a:p>
            <a:pPr indent="0" marL="0">
              <a:buNone/>
            </a:pPr>
            <a:r>
              <a:rPr lang="en-US" sz="1400" dirty="0">
                <a:solidFill>
                  <a:srgbClr val="00B4D8"/>
                </a:solidFill>
                <a:latin typeface="Inter" pitchFamily="34" charset="0"/>
                <a:ea typeface="Inter" pitchFamily="34" charset="-122"/>
                <a:cs typeface="Inter" pitchFamily="34" charset="-120"/>
              </a:rPr>
              <a:t>Sensor trigger → lit imaging chamber → AI on the edge → two output paths</a:t>
            </a:r>
            <a:endParaRPr lang="en-US" sz="1400" dirty="0"/>
          </a:p>
        </p:txBody>
      </p:sp>
      <p:sp>
        <p:nvSpPr>
          <p:cNvPr id="6" name="Shape 4"/>
          <p:cNvSpPr/>
          <p:nvPr/>
        </p:nvSpPr>
        <p:spPr>
          <a:xfrm>
            <a:off x="2331720" y="1700784"/>
            <a:ext cx="7525512" cy="2834640"/>
          </a:xfrm>
          <a:prstGeom prst="roundRect">
            <a:avLst>
              <a:gd name="adj" fmla="val 1613"/>
            </a:avLst>
          </a:prstGeom>
          <a:solidFill>
            <a:srgbClr val="1A2634"/>
          </a:solidFill>
          <a:ln w="15875">
            <a:solidFill>
              <a:srgbClr val="3E5A72"/>
            </a:solidFill>
            <a:prstDash val="dash"/>
          </a:ln>
        </p:spPr>
      </p:sp>
      <p:sp>
        <p:nvSpPr>
          <p:cNvPr id="7" name="Text 5"/>
          <p:cNvSpPr/>
          <p:nvPr/>
        </p:nvSpPr>
        <p:spPr>
          <a:xfrm>
            <a:off x="2468880" y="2889504"/>
            <a:ext cx="7251192" cy="457200"/>
          </a:xfrm>
          <a:prstGeom prst="rect">
            <a:avLst/>
          </a:prstGeom>
          <a:noFill/>
          <a:ln/>
        </p:spPr>
        <p:txBody>
          <a:bodyPr wrap="square" lIns="0" tIns="0" rIns="0" bIns="0" rtlCol="0" anchor="ctr"/>
          <a:lstStyle/>
          <a:p>
            <a:pPr algn="ctr" indent="0" marL="0">
              <a:buNone/>
            </a:pPr>
            <a:r>
              <a:rPr lang="en-US" sz="1250" b="1" spc="180" kern="0" dirty="0">
                <a:solidFill>
                  <a:srgbClr val="728EA3"/>
                </a:solidFill>
                <a:latin typeface="Inter" pitchFamily="34" charset="0"/>
                <a:ea typeface="Inter" pitchFamily="34" charset="-122"/>
                <a:cs typeface="Inter" pitchFamily="34" charset="-120"/>
              </a:rPr>
              <a:t>BLOCK DIAGRAM — INSERT IMAGE HERE</a:t>
            </a:r>
            <a:endParaRPr lang="en-US" sz="1250" dirty="0"/>
          </a:p>
        </p:txBody>
      </p:sp>
      <p:sp>
        <p:nvSpPr>
          <p:cNvPr id="8" name="Text 6"/>
          <p:cNvSpPr/>
          <p:nvPr/>
        </p:nvSpPr>
        <p:spPr>
          <a:xfrm>
            <a:off x="566928" y="4736592"/>
            <a:ext cx="5349240" cy="1554480"/>
          </a:xfrm>
          <a:prstGeom prst="rect">
            <a:avLst/>
          </a:prstGeom>
          <a:noFill/>
          <a:ln/>
        </p:spPr>
        <p:txBody>
          <a:bodyPr wrap="square" lIns="0" tIns="0" rIns="0" bIns="0" rtlCol="0" anchor="t"/>
          <a:lstStyle/>
          <a:p>
            <a:pPr indent="0" marL="0">
              <a:lnSpc>
                <a:spcPct val="114000"/>
              </a:lnSpc>
              <a:spcAft>
                <a:spcPts val="1100"/>
              </a:spcAft>
              <a:buNone/>
            </a:pPr>
            <a:r>
              <a:rPr lang="en-US" sz="1150" b="1" dirty="0">
                <a:solidFill>
                  <a:srgbClr val="00B4D8"/>
                </a:solidFill>
                <a:latin typeface="Inter" pitchFamily="34" charset="0"/>
                <a:ea typeface="Inter" pitchFamily="34" charset="-122"/>
                <a:cs typeface="Inter" pitchFamily="34" charset="-120"/>
              </a:rPr>
              <a:t>Trigger: </a:t>
            </a:r>
            <a:pPr indent="0" marL="0">
              <a:lnSpc>
                <a:spcPct val="114000"/>
              </a:lnSpc>
              <a:buNone/>
            </a:pPr>
            <a:r>
              <a:rPr lang="en-US" sz="1150" dirty="0">
                <a:solidFill>
                  <a:srgbClr val="FFFFFF"/>
                </a:solidFill>
                <a:latin typeface="Inter" pitchFamily="34" charset="0"/>
                <a:ea typeface="Inter" pitchFamily="34" charset="-122"/>
                <a:cs typeface="Inter" pitchFamily="34" charset="-120"/>
              </a:rPr>
              <a:t>IR proximity sensor + Arduino Nano</a:t>
            </a:r>
            <a:endParaRPr lang="en-US" sz="1150" dirty="0"/>
          </a:p>
          <a:p>
            <a:pPr indent="0" marL="0">
              <a:lnSpc>
                <a:spcPct val="114000"/>
              </a:lnSpc>
              <a:spcAft>
                <a:spcPts val="1100"/>
              </a:spcAft>
              <a:buNone/>
            </a:pPr>
            <a:r>
              <a:rPr lang="en-US" sz="1150" b="1" dirty="0">
                <a:solidFill>
                  <a:srgbClr val="00B4D8"/>
                </a:solidFill>
                <a:latin typeface="Inter" pitchFamily="34" charset="0"/>
                <a:ea typeface="Inter" pitchFamily="34" charset="-122"/>
                <a:cs typeface="Inter" pitchFamily="34" charset="-120"/>
              </a:rPr>
              <a:t>Imaging: </a:t>
            </a:r>
            <a:pPr indent="0" marL="0">
              <a:lnSpc>
                <a:spcPct val="114000"/>
              </a:lnSpc>
              <a:buNone/>
            </a:pPr>
            <a:r>
              <a:rPr lang="en-US" sz="1150" dirty="0">
                <a:solidFill>
                  <a:srgbClr val="FFFFFF"/>
                </a:solidFill>
                <a:latin typeface="Inter" pitchFamily="34" charset="0"/>
                <a:ea typeface="Inter" pitchFamily="34" charset="-122"/>
                <a:cs typeface="Inter" pitchFamily="34" charset="-120"/>
              </a:rPr>
              <a:t>1080p/5MP USB camera inside a 400×300×300 mm chamber with LED ring light</a:t>
            </a:r>
            <a:endParaRPr lang="en-US" sz="1150" dirty="0"/>
          </a:p>
          <a:p>
            <a:pPr indent="0" marL="0">
              <a:lnSpc>
                <a:spcPct val="114000"/>
              </a:lnSpc>
              <a:spcAft>
                <a:spcPts val="1100"/>
              </a:spcAft>
              <a:buNone/>
            </a:pPr>
            <a:r>
              <a:rPr lang="en-US" sz="1150" b="1" dirty="0">
                <a:solidFill>
                  <a:srgbClr val="00B4D8"/>
                </a:solidFill>
                <a:latin typeface="Inter" pitchFamily="34" charset="0"/>
                <a:ea typeface="Inter" pitchFamily="34" charset="-122"/>
                <a:cs typeface="Inter" pitchFamily="34" charset="-120"/>
              </a:rPr>
              <a:t>Brain: </a:t>
            </a:r>
            <a:pPr indent="0" marL="0">
              <a:lnSpc>
                <a:spcPct val="114000"/>
              </a:lnSpc>
              <a:buNone/>
            </a:pPr>
            <a:r>
              <a:rPr lang="en-US" sz="1150" dirty="0">
                <a:solidFill>
                  <a:srgbClr val="FFFFFF"/>
                </a:solidFill>
                <a:latin typeface="Inter" pitchFamily="34" charset="0"/>
                <a:ea typeface="Inter" pitchFamily="34" charset="-122"/>
                <a:cs typeface="Inter" pitchFamily="34" charset="-120"/>
              </a:rPr>
              <a:t>Raspberry Pi 5 — MobileNetV2 CNN on TensorFlow Lite, runs offline</a:t>
            </a:r>
            <a:endParaRPr lang="en-US" sz="1150" dirty="0"/>
          </a:p>
        </p:txBody>
      </p:sp>
      <p:sp>
        <p:nvSpPr>
          <p:cNvPr id="9" name="Text 7"/>
          <p:cNvSpPr/>
          <p:nvPr/>
        </p:nvSpPr>
        <p:spPr>
          <a:xfrm>
            <a:off x="6263640" y="4736592"/>
            <a:ext cx="5349240" cy="1554480"/>
          </a:xfrm>
          <a:prstGeom prst="rect">
            <a:avLst/>
          </a:prstGeom>
          <a:noFill/>
          <a:ln/>
        </p:spPr>
        <p:txBody>
          <a:bodyPr wrap="square" lIns="0" tIns="0" rIns="0" bIns="0" rtlCol="0" anchor="t"/>
          <a:lstStyle/>
          <a:p>
            <a:pPr indent="0" marL="0">
              <a:lnSpc>
                <a:spcPct val="114000"/>
              </a:lnSpc>
              <a:spcAft>
                <a:spcPts val="1100"/>
              </a:spcAft>
              <a:buNone/>
            </a:pPr>
            <a:r>
              <a:rPr lang="en-US" sz="1150" b="1" dirty="0">
                <a:solidFill>
                  <a:srgbClr val="00B4D8"/>
                </a:solidFill>
                <a:latin typeface="Inter" pitchFamily="34" charset="0"/>
                <a:ea typeface="Inter" pitchFamily="34" charset="-122"/>
                <a:cs typeface="Inter" pitchFamily="34" charset="-120"/>
              </a:rPr>
              <a:t>Path 1 — Act: </a:t>
            </a:r>
            <a:pPr indent="0" marL="0">
              <a:lnSpc>
                <a:spcPct val="114000"/>
              </a:lnSpc>
              <a:buNone/>
            </a:pPr>
            <a:r>
              <a:rPr lang="en-US" sz="1150" dirty="0">
                <a:solidFill>
                  <a:srgbClr val="FFFFFF"/>
                </a:solidFill>
                <a:latin typeface="Inter" pitchFamily="34" charset="0"/>
                <a:ea typeface="Inter" pitchFamily="34" charset="-122"/>
                <a:cs typeface="Inter" pitchFamily="34" charset="-120"/>
              </a:rPr>
              <a:t>display, buzzer, LED tower, optional pneumatic reject</a:t>
            </a:r>
            <a:endParaRPr lang="en-US" sz="1150" dirty="0"/>
          </a:p>
          <a:p>
            <a:pPr indent="0" marL="0">
              <a:lnSpc>
                <a:spcPct val="114000"/>
              </a:lnSpc>
              <a:spcAft>
                <a:spcPts val="1100"/>
              </a:spcAft>
              <a:buNone/>
            </a:pPr>
            <a:r>
              <a:rPr lang="en-US" sz="1150" b="1" dirty="0">
                <a:solidFill>
                  <a:srgbClr val="00B4D8"/>
                </a:solidFill>
                <a:latin typeface="Inter" pitchFamily="34" charset="0"/>
                <a:ea typeface="Inter" pitchFamily="34" charset="-122"/>
                <a:cs typeface="Inter" pitchFamily="34" charset="-120"/>
              </a:rPr>
              <a:t>Path 2 — Learn &amp; report: </a:t>
            </a:r>
            <a:pPr indent="0" marL="0">
              <a:lnSpc>
                <a:spcPct val="114000"/>
              </a:lnSpc>
              <a:buNone/>
            </a:pPr>
            <a:r>
              <a:rPr lang="en-US" sz="1150" dirty="0">
                <a:solidFill>
                  <a:srgbClr val="FFFFFF"/>
                </a:solidFill>
                <a:latin typeface="Inter" pitchFamily="34" charset="0"/>
                <a:ea typeface="Inter" pitchFamily="34" charset="-122"/>
                <a:cs typeface="Inter" pitchFamily="34" charset="-120"/>
              </a:rPr>
              <a:t>ESP32 over MQTT → phone dashboard (yield %, defect trend)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INNOVATION</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04 / 12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Five things that make this different, not just cheaper</a:t>
            </a:r>
            <a:endParaRPr lang="en-US" sz="2600" dirty="0"/>
          </a:p>
        </p:txBody>
      </p:sp>
      <p:sp>
        <p:nvSpPr>
          <p:cNvPr id="5" name="Shape 3"/>
          <p:cNvSpPr/>
          <p:nvPr/>
        </p:nvSpPr>
        <p:spPr>
          <a:xfrm>
            <a:off x="566928" y="1481328"/>
            <a:ext cx="11058144" cy="914400"/>
          </a:xfrm>
          <a:prstGeom prst="roundRect">
            <a:avLst>
              <a:gd name="adj" fmla="val 5000"/>
            </a:avLst>
          </a:prstGeom>
          <a:solidFill>
            <a:srgbClr val="223244"/>
          </a:solidFill>
          <a:ln/>
        </p:spPr>
      </p:sp>
      <p:sp>
        <p:nvSpPr>
          <p:cNvPr id="6" name="Text 4"/>
          <p:cNvSpPr/>
          <p:nvPr/>
        </p:nvSpPr>
        <p:spPr>
          <a:xfrm>
            <a:off x="841248" y="1664208"/>
            <a:ext cx="731520" cy="365760"/>
          </a:xfrm>
          <a:prstGeom prst="rect">
            <a:avLst/>
          </a:prstGeom>
          <a:noFill/>
          <a:ln/>
        </p:spPr>
        <p:txBody>
          <a:bodyPr wrap="square" lIns="0" tIns="0" rIns="0" bIns="0" rtlCol="0" anchor="ctr"/>
          <a:lstStyle/>
          <a:p>
            <a:pPr indent="0" marL="0">
              <a:buNone/>
            </a:pPr>
            <a:r>
              <a:rPr lang="en-US" sz="2200" b="1" dirty="0">
                <a:solidFill>
                  <a:srgbClr val="00B4D8"/>
                </a:solidFill>
                <a:latin typeface="Inter" pitchFamily="34" charset="0"/>
                <a:ea typeface="Inter" pitchFamily="34" charset="-122"/>
                <a:cs typeface="Inter" pitchFamily="34" charset="-120"/>
              </a:rPr>
              <a:t>01</a:t>
            </a:r>
            <a:endParaRPr lang="en-US" sz="2200" dirty="0"/>
          </a:p>
        </p:txBody>
      </p:sp>
      <p:sp>
        <p:nvSpPr>
          <p:cNvPr id="7" name="Text 5"/>
          <p:cNvSpPr/>
          <p:nvPr/>
        </p:nvSpPr>
        <p:spPr>
          <a:xfrm>
            <a:off x="1709928" y="1691640"/>
            <a:ext cx="9595104"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Few-shot training on the device</a:t>
            </a:r>
            <a:endParaRPr lang="en-US" sz="1400" dirty="0"/>
          </a:p>
        </p:txBody>
      </p:sp>
      <p:sp>
        <p:nvSpPr>
          <p:cNvPr id="8" name="Text 6"/>
          <p:cNvSpPr/>
          <p:nvPr/>
        </p:nvSpPr>
        <p:spPr>
          <a:xfrm>
            <a:off x="1709928" y="2002536"/>
            <a:ext cx="9595104" cy="201168"/>
          </a:xfrm>
          <a:prstGeom prst="rect">
            <a:avLst/>
          </a:prstGeom>
          <a:noFill/>
          <a:ln/>
        </p:spPr>
        <p:txBody>
          <a:bodyPr wrap="square" lIns="0" tIns="0" rIns="0" bIns="0" rtlCol="0" anchor="t"/>
          <a:lstStyle/>
          <a:p>
            <a:pPr indent="0" marL="0">
              <a:lnSpc>
                <a:spcPct val="110000"/>
              </a:lnSpc>
              <a:buNone/>
            </a:pPr>
            <a:r>
              <a:rPr lang="en-US" sz="1150" dirty="0">
                <a:solidFill>
                  <a:srgbClr val="9FB3C4"/>
                </a:solidFill>
                <a:latin typeface="Inter" pitchFamily="34" charset="0"/>
                <a:ea typeface="Inter" pitchFamily="34" charset="-122"/>
                <a:cs typeface="Inter" pitchFamily="34" charset="-120"/>
              </a:rPr>
              <a:t>50–100 samples, transfer learning runs on the Pi itself. No cloud, no data leaving the factory.</a:t>
            </a:r>
            <a:endParaRPr lang="en-US" sz="1150" dirty="0"/>
          </a:p>
        </p:txBody>
      </p:sp>
      <p:sp>
        <p:nvSpPr>
          <p:cNvPr id="9" name="Shape 7"/>
          <p:cNvSpPr/>
          <p:nvPr/>
        </p:nvSpPr>
        <p:spPr>
          <a:xfrm>
            <a:off x="566928" y="2468880"/>
            <a:ext cx="11058144" cy="914400"/>
          </a:xfrm>
          <a:prstGeom prst="roundRect">
            <a:avLst>
              <a:gd name="adj" fmla="val 5000"/>
            </a:avLst>
          </a:prstGeom>
          <a:solidFill>
            <a:srgbClr val="1F2C3B"/>
          </a:solidFill>
          <a:ln/>
        </p:spPr>
      </p:sp>
      <p:sp>
        <p:nvSpPr>
          <p:cNvPr id="10" name="Text 8"/>
          <p:cNvSpPr/>
          <p:nvPr/>
        </p:nvSpPr>
        <p:spPr>
          <a:xfrm>
            <a:off x="841248" y="2651760"/>
            <a:ext cx="731520" cy="365760"/>
          </a:xfrm>
          <a:prstGeom prst="rect">
            <a:avLst/>
          </a:prstGeom>
          <a:noFill/>
          <a:ln/>
        </p:spPr>
        <p:txBody>
          <a:bodyPr wrap="square" lIns="0" tIns="0" rIns="0" bIns="0" rtlCol="0" anchor="ctr"/>
          <a:lstStyle/>
          <a:p>
            <a:pPr indent="0" marL="0">
              <a:buNone/>
            </a:pPr>
            <a:r>
              <a:rPr lang="en-US" sz="2200" b="1" dirty="0">
                <a:solidFill>
                  <a:srgbClr val="00B4D8"/>
                </a:solidFill>
                <a:latin typeface="Inter" pitchFamily="34" charset="0"/>
                <a:ea typeface="Inter" pitchFamily="34" charset="-122"/>
                <a:cs typeface="Inter" pitchFamily="34" charset="-120"/>
              </a:rPr>
              <a:t>02</a:t>
            </a:r>
            <a:endParaRPr lang="en-US" sz="2200" dirty="0"/>
          </a:p>
        </p:txBody>
      </p:sp>
      <p:sp>
        <p:nvSpPr>
          <p:cNvPr id="11" name="Text 9"/>
          <p:cNvSpPr/>
          <p:nvPr/>
        </p:nvSpPr>
        <p:spPr>
          <a:xfrm>
            <a:off x="1709928" y="2679192"/>
            <a:ext cx="9595104"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Controlled optics instead of a costly camera</a:t>
            </a:r>
            <a:endParaRPr lang="en-US" sz="1400" dirty="0"/>
          </a:p>
        </p:txBody>
      </p:sp>
      <p:sp>
        <p:nvSpPr>
          <p:cNvPr id="12" name="Text 10"/>
          <p:cNvSpPr/>
          <p:nvPr/>
        </p:nvSpPr>
        <p:spPr>
          <a:xfrm>
            <a:off x="1709928" y="2990088"/>
            <a:ext cx="9595104" cy="201168"/>
          </a:xfrm>
          <a:prstGeom prst="rect">
            <a:avLst/>
          </a:prstGeom>
          <a:noFill/>
          <a:ln/>
        </p:spPr>
        <p:txBody>
          <a:bodyPr wrap="square" lIns="0" tIns="0" rIns="0" bIns="0" rtlCol="0" anchor="t"/>
          <a:lstStyle/>
          <a:p>
            <a:pPr indent="0" marL="0">
              <a:lnSpc>
                <a:spcPct val="110000"/>
              </a:lnSpc>
              <a:buNone/>
            </a:pPr>
            <a:r>
              <a:rPr lang="en-US" sz="1150" dirty="0">
                <a:solidFill>
                  <a:srgbClr val="9FB3C4"/>
                </a:solidFill>
                <a:latin typeface="Inter" pitchFamily="34" charset="0"/>
                <a:ea typeface="Inter" pitchFamily="34" charset="-122"/>
                <a:cs typeface="Inter" pitchFamily="34" charset="-120"/>
              </a:rPr>
              <a:t>The lit chamber does the work that expensive industrial cameras normally do.</a:t>
            </a:r>
            <a:endParaRPr lang="en-US" sz="1150" dirty="0"/>
          </a:p>
        </p:txBody>
      </p:sp>
      <p:sp>
        <p:nvSpPr>
          <p:cNvPr id="13" name="Shape 11"/>
          <p:cNvSpPr/>
          <p:nvPr/>
        </p:nvSpPr>
        <p:spPr>
          <a:xfrm>
            <a:off x="566928" y="3456432"/>
            <a:ext cx="11058144" cy="914400"/>
          </a:xfrm>
          <a:prstGeom prst="roundRect">
            <a:avLst>
              <a:gd name="adj" fmla="val 5000"/>
            </a:avLst>
          </a:prstGeom>
          <a:solidFill>
            <a:srgbClr val="223244"/>
          </a:solidFill>
          <a:ln/>
        </p:spPr>
      </p:sp>
      <p:sp>
        <p:nvSpPr>
          <p:cNvPr id="14" name="Text 12"/>
          <p:cNvSpPr/>
          <p:nvPr/>
        </p:nvSpPr>
        <p:spPr>
          <a:xfrm>
            <a:off x="841248" y="3547872"/>
            <a:ext cx="731520" cy="365760"/>
          </a:xfrm>
          <a:prstGeom prst="rect">
            <a:avLst/>
          </a:prstGeom>
          <a:noFill/>
          <a:ln/>
        </p:spPr>
        <p:txBody>
          <a:bodyPr wrap="square" lIns="0" tIns="0" rIns="0" bIns="0" rtlCol="0" anchor="ctr"/>
          <a:lstStyle/>
          <a:p>
            <a:pPr indent="0" marL="0">
              <a:buNone/>
            </a:pPr>
            <a:r>
              <a:rPr lang="en-US" sz="2200" b="1" dirty="0">
                <a:solidFill>
                  <a:srgbClr val="00B4D8"/>
                </a:solidFill>
                <a:latin typeface="Inter" pitchFamily="34" charset="0"/>
                <a:ea typeface="Inter" pitchFamily="34" charset="-122"/>
                <a:cs typeface="Inter" pitchFamily="34" charset="-120"/>
              </a:rPr>
              <a:t>03</a:t>
            </a:r>
            <a:endParaRPr lang="en-US" sz="2200" dirty="0"/>
          </a:p>
        </p:txBody>
      </p:sp>
      <p:sp>
        <p:nvSpPr>
          <p:cNvPr id="15" name="Text 13"/>
          <p:cNvSpPr/>
          <p:nvPr/>
        </p:nvSpPr>
        <p:spPr>
          <a:xfrm>
            <a:off x="1709928" y="3575304"/>
            <a:ext cx="9595104"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Closed lighting loop</a:t>
            </a:r>
            <a:endParaRPr lang="en-US" sz="1400" dirty="0"/>
          </a:p>
        </p:txBody>
      </p:sp>
      <p:sp>
        <p:nvSpPr>
          <p:cNvPr id="16" name="Text 14"/>
          <p:cNvSpPr/>
          <p:nvPr/>
        </p:nvSpPr>
        <p:spPr>
          <a:xfrm>
            <a:off x="1709928" y="3886200"/>
            <a:ext cx="9595104" cy="402336"/>
          </a:xfrm>
          <a:prstGeom prst="rect">
            <a:avLst/>
          </a:prstGeom>
          <a:noFill/>
          <a:ln/>
        </p:spPr>
        <p:txBody>
          <a:bodyPr wrap="square" lIns="0" tIns="0" rIns="0" bIns="0" rtlCol="0" anchor="t"/>
          <a:lstStyle/>
          <a:p>
            <a:pPr indent="0" marL="0">
              <a:lnSpc>
                <a:spcPct val="110000"/>
              </a:lnSpc>
              <a:buNone/>
            </a:pPr>
            <a:r>
              <a:rPr lang="en-US" sz="1150" dirty="0">
                <a:solidFill>
                  <a:srgbClr val="9FB3C4"/>
                </a:solidFill>
                <a:latin typeface="Inter" pitchFamily="34" charset="0"/>
                <a:ea typeface="Inter" pitchFamily="34" charset="-122"/>
                <a:cs typeface="Inter" pitchFamily="34" charset="-120"/>
              </a:rPr>
              <a:t>The Pi measures image brightness and corrects the LED ring automatically, so the model stays valid as daylight changes through the shift.</a:t>
            </a:r>
            <a:endParaRPr lang="en-US" sz="1150" dirty="0"/>
          </a:p>
        </p:txBody>
      </p:sp>
      <p:sp>
        <p:nvSpPr>
          <p:cNvPr id="17" name="Shape 15"/>
          <p:cNvSpPr/>
          <p:nvPr/>
        </p:nvSpPr>
        <p:spPr>
          <a:xfrm>
            <a:off x="566928" y="4443984"/>
            <a:ext cx="11058144" cy="914400"/>
          </a:xfrm>
          <a:prstGeom prst="roundRect">
            <a:avLst>
              <a:gd name="adj" fmla="val 5000"/>
            </a:avLst>
          </a:prstGeom>
          <a:solidFill>
            <a:srgbClr val="1F2C3B"/>
          </a:solidFill>
          <a:ln/>
        </p:spPr>
      </p:sp>
      <p:sp>
        <p:nvSpPr>
          <p:cNvPr id="18" name="Text 16"/>
          <p:cNvSpPr/>
          <p:nvPr/>
        </p:nvSpPr>
        <p:spPr>
          <a:xfrm>
            <a:off x="841248" y="4626864"/>
            <a:ext cx="731520" cy="365760"/>
          </a:xfrm>
          <a:prstGeom prst="rect">
            <a:avLst/>
          </a:prstGeom>
          <a:noFill/>
          <a:ln/>
        </p:spPr>
        <p:txBody>
          <a:bodyPr wrap="square" lIns="0" tIns="0" rIns="0" bIns="0" rtlCol="0" anchor="ctr"/>
          <a:lstStyle/>
          <a:p>
            <a:pPr indent="0" marL="0">
              <a:buNone/>
            </a:pPr>
            <a:r>
              <a:rPr lang="en-US" sz="2200" b="1" dirty="0">
                <a:solidFill>
                  <a:srgbClr val="00B4D8"/>
                </a:solidFill>
                <a:latin typeface="Inter" pitchFamily="34" charset="0"/>
                <a:ea typeface="Inter" pitchFamily="34" charset="-122"/>
                <a:cs typeface="Inter" pitchFamily="34" charset="-120"/>
              </a:rPr>
              <a:t>04</a:t>
            </a:r>
            <a:endParaRPr lang="en-US" sz="2200" dirty="0"/>
          </a:p>
        </p:txBody>
      </p:sp>
      <p:sp>
        <p:nvSpPr>
          <p:cNvPr id="19" name="Text 17"/>
          <p:cNvSpPr/>
          <p:nvPr/>
        </p:nvSpPr>
        <p:spPr>
          <a:xfrm>
            <a:off x="1709928" y="4654296"/>
            <a:ext cx="9595104"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Operator-in-the-loop retraining</a:t>
            </a:r>
            <a:endParaRPr lang="en-US" sz="1400" dirty="0"/>
          </a:p>
        </p:txBody>
      </p:sp>
      <p:sp>
        <p:nvSpPr>
          <p:cNvPr id="20" name="Text 18"/>
          <p:cNvSpPr/>
          <p:nvPr/>
        </p:nvSpPr>
        <p:spPr>
          <a:xfrm>
            <a:off x="1709928" y="4965192"/>
            <a:ext cx="9595104" cy="201168"/>
          </a:xfrm>
          <a:prstGeom prst="rect">
            <a:avLst/>
          </a:prstGeom>
          <a:noFill/>
          <a:ln/>
        </p:spPr>
        <p:txBody>
          <a:bodyPr wrap="square" lIns="0" tIns="0" rIns="0" bIns="0" rtlCol="0" anchor="t"/>
          <a:lstStyle/>
          <a:p>
            <a:pPr indent="0" marL="0">
              <a:lnSpc>
                <a:spcPct val="110000"/>
              </a:lnSpc>
              <a:buNone/>
            </a:pPr>
            <a:r>
              <a:rPr lang="en-US" sz="1150" dirty="0">
                <a:solidFill>
                  <a:srgbClr val="9FB3C4"/>
                </a:solidFill>
                <a:latin typeface="Inter" pitchFamily="34" charset="0"/>
                <a:ea typeface="Inter" pitchFamily="34" charset="-122"/>
                <a:cs typeface="Inter" pitchFamily="34" charset="-120"/>
              </a:rPr>
              <a:t>A wrong call is flagged on the screen and feeds back into the model. Accuracy improves week by week.</a:t>
            </a:r>
            <a:endParaRPr lang="en-US" sz="1150" dirty="0"/>
          </a:p>
        </p:txBody>
      </p:sp>
      <p:sp>
        <p:nvSpPr>
          <p:cNvPr id="21" name="Shape 19"/>
          <p:cNvSpPr/>
          <p:nvPr/>
        </p:nvSpPr>
        <p:spPr>
          <a:xfrm>
            <a:off x="566928" y="5431536"/>
            <a:ext cx="11058144" cy="914400"/>
          </a:xfrm>
          <a:prstGeom prst="roundRect">
            <a:avLst>
              <a:gd name="adj" fmla="val 5000"/>
            </a:avLst>
          </a:prstGeom>
          <a:solidFill>
            <a:srgbClr val="223244"/>
          </a:solidFill>
          <a:ln/>
        </p:spPr>
      </p:sp>
      <p:sp>
        <p:nvSpPr>
          <p:cNvPr id="22" name="Text 20"/>
          <p:cNvSpPr/>
          <p:nvPr/>
        </p:nvSpPr>
        <p:spPr>
          <a:xfrm>
            <a:off x="841248" y="5614416"/>
            <a:ext cx="731520" cy="365760"/>
          </a:xfrm>
          <a:prstGeom prst="rect">
            <a:avLst/>
          </a:prstGeom>
          <a:noFill/>
          <a:ln/>
        </p:spPr>
        <p:txBody>
          <a:bodyPr wrap="square" lIns="0" tIns="0" rIns="0" bIns="0" rtlCol="0" anchor="ctr"/>
          <a:lstStyle/>
          <a:p>
            <a:pPr indent="0" marL="0">
              <a:buNone/>
            </a:pPr>
            <a:r>
              <a:rPr lang="en-US" sz="2200" b="1" dirty="0">
                <a:solidFill>
                  <a:srgbClr val="00B4D8"/>
                </a:solidFill>
                <a:latin typeface="Inter" pitchFamily="34" charset="0"/>
                <a:ea typeface="Inter" pitchFamily="34" charset="-122"/>
                <a:cs typeface="Inter" pitchFamily="34" charset="-120"/>
              </a:rPr>
              <a:t>05</a:t>
            </a:r>
            <a:endParaRPr lang="en-US" sz="2200" dirty="0"/>
          </a:p>
        </p:txBody>
      </p:sp>
      <p:sp>
        <p:nvSpPr>
          <p:cNvPr id="23" name="Text 21"/>
          <p:cNvSpPr/>
          <p:nvPr/>
        </p:nvSpPr>
        <p:spPr>
          <a:xfrm>
            <a:off x="1709928" y="5641848"/>
            <a:ext cx="9595104"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Retrofit-first design</a:t>
            </a:r>
            <a:endParaRPr lang="en-US" sz="1400" dirty="0"/>
          </a:p>
        </p:txBody>
      </p:sp>
      <p:sp>
        <p:nvSpPr>
          <p:cNvPr id="24" name="Text 22"/>
          <p:cNvSpPr/>
          <p:nvPr/>
        </p:nvSpPr>
        <p:spPr>
          <a:xfrm>
            <a:off x="1709928" y="5952744"/>
            <a:ext cx="9595104" cy="201168"/>
          </a:xfrm>
          <a:prstGeom prst="rect">
            <a:avLst/>
          </a:prstGeom>
          <a:noFill/>
          <a:ln/>
        </p:spPr>
        <p:txBody>
          <a:bodyPr wrap="square" lIns="0" tIns="0" rIns="0" bIns="0" rtlCol="0" anchor="t"/>
          <a:lstStyle/>
          <a:p>
            <a:pPr indent="0" marL="0">
              <a:lnSpc>
                <a:spcPct val="110000"/>
              </a:lnSpc>
              <a:buNone/>
            </a:pPr>
            <a:r>
              <a:rPr lang="en-US" sz="1150" dirty="0">
                <a:solidFill>
                  <a:srgbClr val="9FB3C4"/>
                </a:solidFill>
                <a:latin typeface="Inter" pitchFamily="34" charset="0"/>
                <a:ea typeface="Inter" pitchFamily="34" charset="-122"/>
                <a:cs typeface="Inter" pitchFamily="34" charset="-120"/>
              </a:rPr>
              <a:t>Bolts onto an existing table or belt in 30 minutes. No line redesign.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COST PROOF</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05 / 12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How we hold ₹50,000</a:t>
            </a:r>
            <a:endParaRPr lang="en-US" sz="2600" dirty="0"/>
          </a:p>
        </p:txBody>
      </p:sp>
      <p:sp>
        <p:nvSpPr>
          <p:cNvPr id="5" name="Text 3"/>
          <p:cNvSpPr/>
          <p:nvPr/>
        </p:nvSpPr>
        <p:spPr>
          <a:xfrm>
            <a:off x="566928" y="1207008"/>
            <a:ext cx="11058144" cy="274320"/>
          </a:xfrm>
          <a:prstGeom prst="rect">
            <a:avLst/>
          </a:prstGeom>
          <a:noFill/>
          <a:ln/>
        </p:spPr>
        <p:txBody>
          <a:bodyPr wrap="square" lIns="0" tIns="0" rIns="0" bIns="0" rtlCol="0" anchor="ctr"/>
          <a:lstStyle/>
          <a:p>
            <a:pPr indent="0" marL="0">
              <a:buNone/>
            </a:pPr>
            <a:r>
              <a:rPr lang="en-US" sz="1250" dirty="0">
                <a:solidFill>
                  <a:srgbClr val="9FB3C4"/>
                </a:solidFill>
                <a:latin typeface="Inter" pitchFamily="34" charset="0"/>
                <a:ea typeface="Inter" pitchFamily="34" charset="-122"/>
                <a:cs typeface="Inter" pitchFamily="34" charset="-120"/>
              </a:rPr>
              <a:t>Bill of materials — checked against live Indian listings, August 2026</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9144000" cy="914400"/>
        </p:xfrm>
        <a:graphic>
          <a:graphicData uri="http://schemas.openxmlformats.org/drawingml/2006/table">
            <a:tbl>
              <a:tblPr/>
              <a:tblGrid>
                <a:gridCol w="5532120"/>
                <a:gridCol w="2103120"/>
              </a:tblGrid>
              <a:tr h="402336">
                <a:tc>
                  <a:txBody>
                    <a:bodyPr/>
                    <a:lstStyle/>
                    <a:p>
                      <a:pPr algn="l" indent="0" marL="0">
                        <a:buNone/>
                      </a:pPr>
                      <a:r>
                        <a:rPr lang="en-US" sz="950" b="1" spc="140" kern="0" dirty="0">
                          <a:solidFill>
                            <a:srgbClr val="00B4D8"/>
                          </a:solidFill>
                          <a:latin typeface="Inter" pitchFamily="34" charset="0"/>
                          <a:ea typeface="Inter" pitchFamily="34" charset="-122"/>
                          <a:cs typeface="Inter" pitchFamily="34" charset="-120"/>
                        </a:rPr>
                        <a:t>Item</a:t>
                      </a:r>
                      <a:endParaRPr lang="en-US" sz="950" dirty="0">
                        <a:latin typeface="Inter" charset="0"/>
                        <a:ea typeface="Inter" charset="0"/>
                        <a:cs typeface="Inter" charset="0"/>
                      </a:endParaRPr>
                    </a:p>
                  </a:txBody>
                  <a:tcPr marL="254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r" indent="0" marL="0">
                        <a:buNone/>
                      </a:pPr>
                      <a:r>
                        <a:rPr lang="en-US" sz="950" b="1" spc="140" kern="0" dirty="0">
                          <a:solidFill>
                            <a:srgbClr val="00B4D8"/>
                          </a:solidFill>
                          <a:latin typeface="Inter" pitchFamily="34" charset="0"/>
                          <a:ea typeface="Inter" pitchFamily="34" charset="-122"/>
                          <a:cs typeface="Inter" pitchFamily="34" charset="-120"/>
                        </a:rPr>
                        <a:t>Cost</a:t>
                      </a:r>
                      <a:endParaRPr lang="en-US" sz="95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r>
              <a:tr h="402336">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Raspberry Pi 5 (8 GB) + power + cooling + storage</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150" dirty="0">
                          <a:solidFill>
                            <a:srgbClr val="FFFFFF"/>
                          </a:solidFill>
                          <a:latin typeface="Inter" pitchFamily="34" charset="0"/>
                          <a:ea typeface="Inter" pitchFamily="34" charset="-122"/>
                          <a:cs typeface="Inter" pitchFamily="34" charset="-120"/>
                        </a:rPr>
                        <a:t>₹10,000–11,000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402336">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5 MP USB camera module + lens</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150" dirty="0">
                          <a:solidFill>
                            <a:srgbClr val="FFFFFF"/>
                          </a:solidFill>
                          <a:latin typeface="Inter" pitchFamily="34" charset="0"/>
                          <a:ea typeface="Inter" pitchFamily="34" charset="-122"/>
                          <a:cs typeface="Inter" pitchFamily="34" charset="-120"/>
                        </a:rPr>
                        <a:t>₹4,200–4,500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402336">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LED ring light + diffuser + driver</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150" dirty="0">
                          <a:solidFill>
                            <a:srgbClr val="FFFFFF"/>
                          </a:solidFill>
                          <a:latin typeface="Inter" pitchFamily="34" charset="0"/>
                          <a:ea typeface="Inter" pitchFamily="34" charset="-122"/>
                          <a:cs typeface="Inter" pitchFamily="34" charset="-120"/>
                        </a:rPr>
                        <a:t>₹1,500–3,000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402336">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7" touchscreen</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150" dirty="0">
                          <a:solidFill>
                            <a:srgbClr val="FFFFFF"/>
                          </a:solidFill>
                          <a:latin typeface="Inter" pitchFamily="34" charset="0"/>
                          <a:ea typeface="Inter" pitchFamily="34" charset="-122"/>
                          <a:cs typeface="Inter" pitchFamily="34" charset="-120"/>
                        </a:rPr>
                        <a:t>₹5,000–7,000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402336">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Enclosure, platform, mounts (sheet metal / ACP)</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150" dirty="0">
                          <a:solidFill>
                            <a:srgbClr val="FFFFFF"/>
                          </a:solidFill>
                          <a:latin typeface="Inter" pitchFamily="34" charset="0"/>
                          <a:ea typeface="Inter" pitchFamily="34" charset="-122"/>
                          <a:cs typeface="Inter" pitchFamily="34" charset="-120"/>
                        </a:rPr>
                        <a:t>₹4,000–6,000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402336">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Arduino Nano, ESP32, IR sensor, buzzer, LED tower</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150" dirty="0">
                          <a:solidFill>
                            <a:srgbClr val="FFFFFF"/>
                          </a:solidFill>
                          <a:latin typeface="Inter" pitchFamily="34" charset="0"/>
                          <a:ea typeface="Inter" pitchFamily="34" charset="-122"/>
                          <a:cs typeface="Inter" pitchFamily="34" charset="-120"/>
                        </a:rPr>
                        <a:t>₹2,000–2,500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402336">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12 V SMPS, wiring, connectors</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150" dirty="0">
                          <a:solidFill>
                            <a:srgbClr val="FFFFFF"/>
                          </a:solidFill>
                          <a:latin typeface="Inter" pitchFamily="34" charset="0"/>
                          <a:ea typeface="Inter" pitchFamily="34" charset="-122"/>
                          <a:cs typeface="Inter" pitchFamily="34" charset="-120"/>
                        </a:rPr>
                        <a:t>₹1,200–1,500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402336">
                <a:tc>
                  <a:txBody>
                    <a:bodyPr/>
                    <a:lstStyle/>
                    <a:p>
                      <a:pPr algn="l" indent="0" marL="0">
                        <a:buNone/>
                      </a:pPr>
                      <a:r>
                        <a:rPr lang="en-US" sz="1150" b="1" dirty="0">
                          <a:solidFill>
                            <a:srgbClr val="FFFFFF"/>
                          </a:solidFill>
                          <a:latin typeface="Inter" pitchFamily="34" charset="0"/>
                          <a:ea typeface="Inter" pitchFamily="34" charset="-122"/>
                          <a:cs typeface="Inter" pitchFamily="34" charset="-120"/>
                        </a:rPr>
                        <a:t>Prototype BOM (single unit)</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A5570"/>
                    </a:solidFill>
                  </a:tcPr>
                </a:tc>
                <a:tc>
                  <a:txBody>
                    <a:bodyPr/>
                    <a:lstStyle/>
                    <a:p>
                      <a:pPr algn="r" indent="0" marL="0">
                        <a:buNone/>
                      </a:pPr>
                      <a:r>
                        <a:rPr lang="en-US" sz="1150" b="1" dirty="0">
                          <a:solidFill>
                            <a:srgbClr val="FFFFFF"/>
                          </a:solidFill>
                          <a:latin typeface="Inter" pitchFamily="34" charset="0"/>
                          <a:ea typeface="Inter" pitchFamily="34" charset="-122"/>
                          <a:cs typeface="Inter" pitchFamily="34" charset="-120"/>
                        </a:rPr>
                        <a:t>≈ ₹28,000–35,000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A5570"/>
                    </a:solidFill>
                  </a:tcPr>
                </a:tc>
              </a:tr>
              <a:tr h="402336">
                <a:tc>
                  <a:txBody>
                    <a:bodyPr/>
                    <a:lstStyle/>
                    <a:p>
                      <a:pPr algn="l" indent="0" marL="0">
                        <a:buNone/>
                      </a:pPr>
                      <a:r>
                        <a:rPr lang="en-US" sz="1150" b="1" dirty="0">
                          <a:solidFill>
                            <a:srgbClr val="00B4D8"/>
                          </a:solidFill>
                          <a:latin typeface="Inter" pitchFamily="34" charset="0"/>
                          <a:ea typeface="Inter" pitchFamily="34" charset="-122"/>
                          <a:cs typeface="Inter" pitchFamily="34" charset="-120"/>
                        </a:rPr>
                        <a:t>At 100-unit batch</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150" b="1" dirty="0">
                          <a:solidFill>
                            <a:srgbClr val="00B4D8"/>
                          </a:solidFill>
                          <a:latin typeface="Inter" pitchFamily="34" charset="0"/>
                          <a:ea typeface="Inter" pitchFamily="34" charset="-122"/>
                          <a:cs typeface="Inter" pitchFamily="34" charset="-120"/>
                        </a:rPr>
                        <a:t>≈ ₹24,000–27,000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bl>
          </a:graphicData>
        </a:graphic>
      </p:graphicFrame>
      <p:sp>
        <p:nvSpPr>
          <p:cNvPr id="7" name="Shape 4"/>
          <p:cNvSpPr/>
          <p:nvPr/>
        </p:nvSpPr>
        <p:spPr>
          <a:xfrm>
            <a:off x="8503920" y="1664208"/>
            <a:ext cx="3118104" cy="1234440"/>
          </a:xfrm>
          <a:prstGeom prst="roundRect">
            <a:avLst>
              <a:gd name="adj" fmla="val 3704"/>
            </a:avLst>
          </a:prstGeom>
          <a:solidFill>
            <a:srgbClr val="223244"/>
          </a:solidFill>
          <a:ln/>
        </p:spPr>
      </p:sp>
      <p:sp>
        <p:nvSpPr>
          <p:cNvPr id="8" name="Text 5"/>
          <p:cNvSpPr/>
          <p:nvPr/>
        </p:nvSpPr>
        <p:spPr>
          <a:xfrm>
            <a:off x="8741664" y="1828800"/>
            <a:ext cx="2642616" cy="502920"/>
          </a:xfrm>
          <a:prstGeom prst="rect">
            <a:avLst/>
          </a:prstGeom>
          <a:noFill/>
          <a:ln/>
        </p:spPr>
        <p:txBody>
          <a:bodyPr wrap="square" lIns="0" tIns="0" rIns="0" bIns="0" rtlCol="0" anchor="ctr"/>
          <a:lstStyle/>
          <a:p>
            <a:pPr indent="0" marL="0">
              <a:buNone/>
            </a:pPr>
            <a:r>
              <a:rPr lang="en-US" sz="3000" b="1" dirty="0">
                <a:solidFill>
                  <a:srgbClr val="FFFFFF"/>
                </a:solidFill>
                <a:latin typeface="Inter" pitchFamily="34" charset="0"/>
                <a:ea typeface="Inter" pitchFamily="34" charset="-122"/>
                <a:cs typeface="Inter" pitchFamily="34" charset="-120"/>
              </a:rPr>
              <a:t>₹49,000</a:t>
            </a:r>
            <a:endParaRPr lang="en-US" sz="3000" dirty="0"/>
          </a:p>
        </p:txBody>
      </p:sp>
      <p:sp>
        <p:nvSpPr>
          <p:cNvPr id="9" name="Text 6"/>
          <p:cNvSpPr/>
          <p:nvPr/>
        </p:nvSpPr>
        <p:spPr>
          <a:xfrm>
            <a:off x="8741664" y="2359152"/>
            <a:ext cx="2642616" cy="548640"/>
          </a:xfrm>
          <a:prstGeom prst="rect">
            <a:avLst/>
          </a:prstGeom>
          <a:noFill/>
          <a:ln/>
        </p:spPr>
        <p:txBody>
          <a:bodyPr wrap="square" lIns="0" tIns="0" rIns="0" bIns="0" rtlCol="0" anchor="t"/>
          <a:lstStyle/>
          <a:p>
            <a:pPr indent="0" marL="0">
              <a:lnSpc>
                <a:spcPct val="112000"/>
              </a:lnSpc>
              <a:buNone/>
            </a:pPr>
            <a:r>
              <a:rPr lang="en-US" sz="1050" dirty="0">
                <a:solidFill>
                  <a:srgbClr val="9FB3C4"/>
                </a:solidFill>
                <a:latin typeface="Inter" pitchFamily="34" charset="0"/>
                <a:ea typeface="Inter" pitchFamily="34" charset="-122"/>
                <a:cs typeface="Inter" pitchFamily="34" charset="-120"/>
              </a:rPr>
              <a:t>Selling price to the MSME</a:t>
            </a:r>
            <a:endParaRPr lang="en-US" sz="1050" dirty="0"/>
          </a:p>
        </p:txBody>
      </p:sp>
      <p:sp>
        <p:nvSpPr>
          <p:cNvPr id="10" name="Shape 7"/>
          <p:cNvSpPr/>
          <p:nvPr/>
        </p:nvSpPr>
        <p:spPr>
          <a:xfrm>
            <a:off x="8503920" y="2990088"/>
            <a:ext cx="3118104" cy="1234440"/>
          </a:xfrm>
          <a:prstGeom prst="roundRect">
            <a:avLst>
              <a:gd name="adj" fmla="val 3704"/>
            </a:avLst>
          </a:prstGeom>
          <a:solidFill>
            <a:srgbClr val="223244"/>
          </a:solidFill>
          <a:ln/>
        </p:spPr>
      </p:sp>
      <p:sp>
        <p:nvSpPr>
          <p:cNvPr id="11" name="Text 8"/>
          <p:cNvSpPr/>
          <p:nvPr/>
        </p:nvSpPr>
        <p:spPr>
          <a:xfrm>
            <a:off x="8741664" y="3154680"/>
            <a:ext cx="2642616" cy="502920"/>
          </a:xfrm>
          <a:prstGeom prst="rect">
            <a:avLst/>
          </a:prstGeom>
          <a:noFill/>
          <a:ln/>
        </p:spPr>
        <p:txBody>
          <a:bodyPr wrap="square" lIns="0" tIns="0" rIns="0" bIns="0" rtlCol="0" anchor="ctr"/>
          <a:lstStyle/>
          <a:p>
            <a:pPr indent="0" marL="0">
              <a:buNone/>
            </a:pPr>
            <a:r>
              <a:rPr lang="en-US" sz="3000" b="1" dirty="0">
                <a:solidFill>
                  <a:srgbClr val="00B4D8"/>
                </a:solidFill>
                <a:latin typeface="Inter" pitchFamily="34" charset="0"/>
                <a:ea typeface="Inter" pitchFamily="34" charset="-122"/>
                <a:cs typeface="Inter" pitchFamily="34" charset="-120"/>
              </a:rPr>
              <a:t>40–45%</a:t>
            </a:r>
            <a:endParaRPr lang="en-US" sz="3000" dirty="0"/>
          </a:p>
        </p:txBody>
      </p:sp>
      <p:sp>
        <p:nvSpPr>
          <p:cNvPr id="12" name="Text 9"/>
          <p:cNvSpPr/>
          <p:nvPr/>
        </p:nvSpPr>
        <p:spPr>
          <a:xfrm>
            <a:off x="8741664" y="3685032"/>
            <a:ext cx="2642616" cy="548640"/>
          </a:xfrm>
          <a:prstGeom prst="rect">
            <a:avLst/>
          </a:prstGeom>
          <a:noFill/>
          <a:ln/>
        </p:spPr>
        <p:txBody>
          <a:bodyPr wrap="square" lIns="0" tIns="0" rIns="0" bIns="0" rtlCol="0" anchor="t"/>
          <a:lstStyle/>
          <a:p>
            <a:pPr indent="0" marL="0">
              <a:lnSpc>
                <a:spcPct val="112000"/>
              </a:lnSpc>
              <a:buNone/>
            </a:pPr>
            <a:r>
              <a:rPr lang="en-US" sz="1050" dirty="0">
                <a:solidFill>
                  <a:srgbClr val="9FB3C4"/>
                </a:solidFill>
                <a:latin typeface="Inter" pitchFamily="34" charset="0"/>
                <a:ea typeface="Inter" pitchFamily="34" charset="-122"/>
                <a:cs typeface="Inter" pitchFamily="34" charset="-120"/>
              </a:rPr>
              <a:t>Gross margin at 100-unit batch</a:t>
            </a:r>
            <a:endParaRPr lang="en-US" sz="1050" dirty="0"/>
          </a:p>
        </p:txBody>
      </p:sp>
      <p:sp>
        <p:nvSpPr>
          <p:cNvPr id="13" name="Shape 10"/>
          <p:cNvSpPr/>
          <p:nvPr/>
        </p:nvSpPr>
        <p:spPr>
          <a:xfrm>
            <a:off x="8503920" y="4315968"/>
            <a:ext cx="3118104" cy="1371600"/>
          </a:xfrm>
          <a:prstGeom prst="roundRect">
            <a:avLst>
              <a:gd name="adj" fmla="val 3333"/>
            </a:avLst>
          </a:prstGeom>
          <a:solidFill>
            <a:srgbClr val="223244"/>
          </a:solidFill>
          <a:ln/>
        </p:spPr>
      </p:sp>
      <p:sp>
        <p:nvSpPr>
          <p:cNvPr id="14" name="Text 11"/>
          <p:cNvSpPr/>
          <p:nvPr/>
        </p:nvSpPr>
        <p:spPr>
          <a:xfrm>
            <a:off x="8741664" y="4480560"/>
            <a:ext cx="2642616" cy="502920"/>
          </a:xfrm>
          <a:prstGeom prst="rect">
            <a:avLst/>
          </a:prstGeom>
          <a:noFill/>
          <a:ln/>
        </p:spPr>
        <p:txBody>
          <a:bodyPr wrap="square" lIns="0" tIns="0" rIns="0" bIns="0" rtlCol="0" anchor="ctr"/>
          <a:lstStyle/>
          <a:p>
            <a:pPr indent="0" marL="0">
              <a:buNone/>
            </a:pPr>
            <a:r>
              <a:rPr lang="en-US" sz="2000" b="1" dirty="0">
                <a:solidFill>
                  <a:srgbClr val="FFFFFF"/>
                </a:solidFill>
                <a:latin typeface="Inter" pitchFamily="34" charset="0"/>
                <a:ea typeface="Inter" pitchFamily="34" charset="-122"/>
                <a:cs typeface="Inter" pitchFamily="34" charset="-120"/>
              </a:rPr>
              <a:t>₹15,000–18,000</a:t>
            </a:r>
            <a:endParaRPr lang="en-US" sz="2000" dirty="0"/>
          </a:p>
        </p:txBody>
      </p:sp>
      <p:sp>
        <p:nvSpPr>
          <p:cNvPr id="15" name="Text 12"/>
          <p:cNvSpPr/>
          <p:nvPr/>
        </p:nvSpPr>
        <p:spPr>
          <a:xfrm>
            <a:off x="8741664" y="5010912"/>
            <a:ext cx="2642616" cy="548640"/>
          </a:xfrm>
          <a:prstGeom prst="rect">
            <a:avLst/>
          </a:prstGeom>
          <a:noFill/>
          <a:ln/>
        </p:spPr>
        <p:txBody>
          <a:bodyPr wrap="square" lIns="0" tIns="0" rIns="0" bIns="0" rtlCol="0" anchor="t"/>
          <a:lstStyle/>
          <a:p>
            <a:pPr indent="0" marL="0">
              <a:lnSpc>
                <a:spcPct val="112000"/>
              </a:lnSpc>
              <a:buNone/>
            </a:pPr>
            <a:r>
              <a:rPr lang="en-US" sz="1050" dirty="0">
                <a:solidFill>
                  <a:srgbClr val="9FB3C4"/>
                </a:solidFill>
                <a:latin typeface="Inter" pitchFamily="34" charset="0"/>
                <a:ea typeface="Inter" pitchFamily="34" charset="-122"/>
                <a:cs typeface="Inter" pitchFamily="34" charset="-120"/>
              </a:rPr>
              <a:t>Optional add-on: mini conveyor + pneumatic reject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TARGET MARKET &amp; BUSINESS OPPORTUNITY</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06 / 12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This is a product business, not a project.</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9144000" cy="914400"/>
        </p:xfrm>
        <a:graphic>
          <a:graphicData uri="http://schemas.openxmlformats.org/drawingml/2006/table">
            <a:tbl>
              <a:tblPr/>
              <a:tblGrid>
                <a:gridCol w="4572000"/>
                <a:gridCol w="3200400"/>
                <a:gridCol w="3285439"/>
              </a:tblGrid>
              <a:tr h="384048">
                <a:tc>
                  <a:txBody>
                    <a:bodyPr/>
                    <a:lstStyle/>
                    <a:p>
                      <a:pPr algn="l" indent="0" marL="0">
                        <a:buNone/>
                      </a:pPr>
                      <a:endParaRPr lang="en-US" sz="950" dirty="0">
                        <a:latin typeface="Inter" charset="0"/>
                        <a:ea typeface="Inter" charset="0"/>
                        <a:cs typeface="Inter" charset="0"/>
                      </a:endParaRPr>
                    </a:p>
                  </a:txBody>
                  <a:tcPr marL="254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l" indent="0" marL="0">
                        <a:buNone/>
                      </a:pPr>
                      <a:r>
                        <a:rPr lang="en-US" sz="950" b="1" spc="140" kern="0" dirty="0">
                          <a:solidFill>
                            <a:srgbClr val="00B4D8"/>
                          </a:solidFill>
                          <a:latin typeface="Inter" pitchFamily="34" charset="0"/>
                          <a:ea typeface="Inter" pitchFamily="34" charset="-122"/>
                          <a:cs typeface="Inter" pitchFamily="34" charset="-120"/>
                        </a:rPr>
                        <a:t>Size</a:t>
                      </a:r>
                      <a:endParaRPr lang="en-US" sz="95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l" indent="0" marL="0">
                        <a:buNone/>
                      </a:pPr>
                      <a:r>
                        <a:rPr lang="en-US" sz="950" b="1" spc="140" kern="0" dirty="0">
                          <a:solidFill>
                            <a:srgbClr val="00B4D8"/>
                          </a:solidFill>
                          <a:latin typeface="Inter" pitchFamily="34" charset="0"/>
                          <a:ea typeface="Inter" pitchFamily="34" charset="-122"/>
                          <a:cs typeface="Inter" pitchFamily="34" charset="-120"/>
                        </a:rPr>
                        <a:t>Our price point</a:t>
                      </a:r>
                      <a:endParaRPr lang="en-US" sz="95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r>
              <a:tr h="384048">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Manufacturing MSMEs in India</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35 lakh+</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150" b="1" dirty="0">
                          <a:solidFill>
                            <a:srgbClr val="00B4D8"/>
                          </a:solidFill>
                          <a:latin typeface="Inter" pitchFamily="34" charset="0"/>
                          <a:ea typeface="Inter" pitchFamily="34" charset="-122"/>
                          <a:cs typeface="Inter" pitchFamily="34" charset="-120"/>
                        </a:rPr>
                        <a:t>₹49,000/station</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384048">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Gujarat GIDC clusters alone</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5+ lakh MSMEs</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l" indent="0" marL="0">
                        <a:buNone/>
                      </a:pPr>
                      <a:r>
                        <a:rPr lang="en-US" sz="1150" b="1" dirty="0">
                          <a:solidFill>
                            <a:srgbClr val="00B4D8"/>
                          </a:solidFill>
                          <a:latin typeface="Inter" pitchFamily="34" charset="0"/>
                          <a:ea typeface="Inter" pitchFamily="34" charset="-122"/>
                          <a:cs typeface="Inter" pitchFamily="34" charset="-120"/>
                        </a:rPr>
                        <a:t>~₹50 crore opportunity</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384048">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1% national penetration</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35,000 stations</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150" b="1" dirty="0">
                          <a:solidFill>
                            <a:srgbClr val="00B4D8"/>
                          </a:solidFill>
                          <a:latin typeface="Inter" pitchFamily="34" charset="0"/>
                          <a:ea typeface="Inter" pitchFamily="34" charset="-122"/>
                          <a:cs typeface="Inter" pitchFamily="34" charset="-120"/>
                        </a:rPr>
                        <a:t>~₹175 crore</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bl>
          </a:graphicData>
        </a:graphic>
      </p:graphicFrame>
      <p:sp>
        <p:nvSpPr>
          <p:cNvPr id="6" name="Text 3"/>
          <p:cNvSpPr/>
          <p:nvPr/>
        </p:nvSpPr>
        <p:spPr>
          <a:xfrm>
            <a:off x="566928" y="3054096"/>
            <a:ext cx="11058144" cy="27432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We start where we can drive to</a:t>
            </a:r>
            <a:endParaRPr lang="en-US" sz="1400" dirty="0"/>
          </a:p>
        </p:txBody>
      </p:sp>
      <p:sp>
        <p:nvSpPr>
          <p:cNvPr id="7" name="Shape 4"/>
          <p:cNvSpPr/>
          <p:nvPr/>
        </p:nvSpPr>
        <p:spPr>
          <a:xfrm>
            <a:off x="566928" y="3401568"/>
            <a:ext cx="3503168" cy="2011680"/>
          </a:xfrm>
          <a:prstGeom prst="roundRect">
            <a:avLst>
              <a:gd name="adj" fmla="val 2273"/>
            </a:avLst>
          </a:prstGeom>
          <a:solidFill>
            <a:srgbClr val="223244"/>
          </a:solidFill>
          <a:ln/>
        </p:spPr>
      </p:sp>
      <p:sp>
        <p:nvSpPr>
          <p:cNvPr id="8" name="Text 5"/>
          <p:cNvSpPr/>
          <p:nvPr/>
        </p:nvSpPr>
        <p:spPr>
          <a:xfrm>
            <a:off x="804672" y="3584448"/>
            <a:ext cx="3027680" cy="219456"/>
          </a:xfrm>
          <a:prstGeom prst="rect">
            <a:avLst/>
          </a:prstGeom>
          <a:noFill/>
          <a:ln/>
        </p:spPr>
        <p:txBody>
          <a:bodyPr wrap="square" lIns="0" tIns="0" rIns="0" bIns="0" rtlCol="0" anchor="ctr"/>
          <a:lstStyle/>
          <a:p>
            <a:pPr indent="0" marL="0">
              <a:buNone/>
            </a:pPr>
            <a:r>
              <a:rPr lang="en-US" sz="950" b="1" spc="160" kern="0" dirty="0">
                <a:solidFill>
                  <a:srgbClr val="00B4D8"/>
                </a:solidFill>
                <a:latin typeface="Inter" pitchFamily="34" charset="0"/>
                <a:ea typeface="Inter" pitchFamily="34" charset="-122"/>
                <a:cs typeface="Inter" pitchFamily="34" charset="-120"/>
              </a:rPr>
              <a:t>YEAR 1</a:t>
            </a:r>
            <a:endParaRPr lang="en-US" sz="950" dirty="0"/>
          </a:p>
        </p:txBody>
      </p:sp>
      <p:sp>
        <p:nvSpPr>
          <p:cNvPr id="9" name="Text 6"/>
          <p:cNvSpPr/>
          <p:nvPr/>
        </p:nvSpPr>
        <p:spPr>
          <a:xfrm>
            <a:off x="804672" y="3803904"/>
            <a:ext cx="3027680" cy="530352"/>
          </a:xfrm>
          <a:prstGeom prst="rect">
            <a:avLst/>
          </a:prstGeom>
          <a:noFill/>
          <a:ln/>
        </p:spPr>
        <p:txBody>
          <a:bodyPr wrap="square" lIns="0" tIns="0" rIns="0" bIns="0" rtlCol="0" anchor="t"/>
          <a:lstStyle/>
          <a:p>
            <a:pPr indent="0" marL="0">
              <a:lnSpc>
                <a:spcPct val="108000"/>
              </a:lnSpc>
              <a:buNone/>
            </a:pPr>
            <a:r>
              <a:rPr lang="en-US" sz="1400" b="1" dirty="0">
                <a:solidFill>
                  <a:srgbClr val="FFFFFF"/>
                </a:solidFill>
                <a:latin typeface="Inter" pitchFamily="34" charset="0"/>
                <a:ea typeface="Inter" pitchFamily="34" charset="-122"/>
                <a:cs typeface="Inter" pitchFamily="34" charset="-120"/>
              </a:rPr>
              <a:t>Morbi ceramics</a:t>
            </a:r>
            <a:endParaRPr lang="en-US" sz="1400" dirty="0"/>
          </a:p>
        </p:txBody>
      </p:sp>
      <p:sp>
        <p:nvSpPr>
          <p:cNvPr id="10" name="Text 7"/>
          <p:cNvSpPr/>
          <p:nvPr/>
        </p:nvSpPr>
        <p:spPr>
          <a:xfrm>
            <a:off x="804672" y="4352544"/>
            <a:ext cx="3027680" cy="384048"/>
          </a:xfrm>
          <a:prstGeom prst="rect">
            <a:avLst/>
          </a:prstGeom>
          <a:noFill/>
          <a:ln/>
        </p:spPr>
        <p:txBody>
          <a:bodyPr wrap="square" lIns="0" tIns="0" rIns="0" bIns="0" rtlCol="0" anchor="t"/>
          <a:lstStyle/>
          <a:p>
            <a:pPr indent="0" marL="0">
              <a:lnSpc>
                <a:spcPct val="110000"/>
              </a:lnSpc>
              <a:buNone/>
            </a:pPr>
            <a:r>
              <a:rPr lang="en-US" sz="1050" dirty="0">
                <a:solidFill>
                  <a:srgbClr val="9FB3C4"/>
                </a:solidFill>
                <a:latin typeface="Inter" pitchFamily="34" charset="0"/>
                <a:ea typeface="Inter" pitchFamily="34" charset="-122"/>
                <a:cs typeface="Inter" pitchFamily="34" charset="-120"/>
              </a:rPr>
              <a:t>1,000+ tile factories, every tile graded by hand today.</a:t>
            </a:r>
            <a:endParaRPr lang="en-US" sz="1050" dirty="0"/>
          </a:p>
        </p:txBody>
      </p:sp>
      <p:sp>
        <p:nvSpPr>
          <p:cNvPr id="11" name="Text 8"/>
          <p:cNvSpPr/>
          <p:nvPr/>
        </p:nvSpPr>
        <p:spPr>
          <a:xfrm>
            <a:off x="804672" y="4754880"/>
            <a:ext cx="3027680" cy="292608"/>
          </a:xfrm>
          <a:prstGeom prst="rect">
            <a:avLst/>
          </a:prstGeom>
          <a:noFill/>
          <a:ln/>
        </p:spPr>
        <p:txBody>
          <a:bodyPr wrap="square" lIns="0" tIns="0" rIns="0" bIns="0" rtlCol="0" anchor="ctr"/>
          <a:lstStyle/>
          <a:p>
            <a:pPr indent="0" marL="0">
              <a:buNone/>
            </a:pPr>
            <a:r>
              <a:rPr lang="en-US" sz="1550" b="1" dirty="0">
                <a:solidFill>
                  <a:srgbClr val="00B4D8"/>
                </a:solidFill>
                <a:latin typeface="Inter" pitchFamily="34" charset="0"/>
                <a:ea typeface="Inter" pitchFamily="34" charset="-122"/>
                <a:cs typeface="Inter" pitchFamily="34" charset="-120"/>
              </a:rPr>
              <a:t>50 stations</a:t>
            </a:r>
            <a:endParaRPr lang="en-US" sz="1550" dirty="0"/>
          </a:p>
        </p:txBody>
      </p:sp>
      <p:sp>
        <p:nvSpPr>
          <p:cNvPr id="12" name="Text 9"/>
          <p:cNvSpPr/>
          <p:nvPr/>
        </p:nvSpPr>
        <p:spPr>
          <a:xfrm>
            <a:off x="804672" y="5029200"/>
            <a:ext cx="3027680" cy="256032"/>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₹25 lakh revenue</a:t>
            </a:r>
            <a:endParaRPr lang="en-US" sz="1150" dirty="0"/>
          </a:p>
        </p:txBody>
      </p:sp>
      <p:sp>
        <p:nvSpPr>
          <p:cNvPr id="13" name="Shape 10"/>
          <p:cNvSpPr/>
          <p:nvPr/>
        </p:nvSpPr>
        <p:spPr>
          <a:xfrm>
            <a:off x="4344416" y="3401568"/>
            <a:ext cx="3503168" cy="2011680"/>
          </a:xfrm>
          <a:prstGeom prst="roundRect">
            <a:avLst>
              <a:gd name="adj" fmla="val 2273"/>
            </a:avLst>
          </a:prstGeom>
          <a:solidFill>
            <a:srgbClr val="223244"/>
          </a:solidFill>
          <a:ln/>
        </p:spPr>
      </p:sp>
      <p:sp>
        <p:nvSpPr>
          <p:cNvPr id="14" name="Text 11"/>
          <p:cNvSpPr/>
          <p:nvPr/>
        </p:nvSpPr>
        <p:spPr>
          <a:xfrm>
            <a:off x="4582160" y="3584448"/>
            <a:ext cx="3027680" cy="219456"/>
          </a:xfrm>
          <a:prstGeom prst="rect">
            <a:avLst/>
          </a:prstGeom>
          <a:noFill/>
          <a:ln/>
        </p:spPr>
        <p:txBody>
          <a:bodyPr wrap="square" lIns="0" tIns="0" rIns="0" bIns="0" rtlCol="0" anchor="ctr"/>
          <a:lstStyle/>
          <a:p>
            <a:pPr indent="0" marL="0">
              <a:buNone/>
            </a:pPr>
            <a:r>
              <a:rPr lang="en-US" sz="950" b="1" spc="160" kern="0" dirty="0">
                <a:solidFill>
                  <a:srgbClr val="00B4D8"/>
                </a:solidFill>
                <a:latin typeface="Inter" pitchFamily="34" charset="0"/>
                <a:ea typeface="Inter" pitchFamily="34" charset="-122"/>
                <a:cs typeface="Inter" pitchFamily="34" charset="-120"/>
              </a:rPr>
              <a:t>YEAR 2</a:t>
            </a:r>
            <a:endParaRPr lang="en-US" sz="950" dirty="0"/>
          </a:p>
        </p:txBody>
      </p:sp>
      <p:sp>
        <p:nvSpPr>
          <p:cNvPr id="15" name="Text 12"/>
          <p:cNvSpPr/>
          <p:nvPr/>
        </p:nvSpPr>
        <p:spPr>
          <a:xfrm>
            <a:off x="4582160" y="3803904"/>
            <a:ext cx="3027680" cy="530352"/>
          </a:xfrm>
          <a:prstGeom prst="rect">
            <a:avLst/>
          </a:prstGeom>
          <a:noFill/>
          <a:ln/>
        </p:spPr>
        <p:txBody>
          <a:bodyPr wrap="square" lIns="0" tIns="0" rIns="0" bIns="0" rtlCol="0" anchor="t"/>
          <a:lstStyle/>
          <a:p>
            <a:pPr indent="0" marL="0">
              <a:lnSpc>
                <a:spcPct val="108000"/>
              </a:lnSpc>
              <a:buNone/>
            </a:pPr>
            <a:r>
              <a:rPr lang="en-US" sz="1400" b="1" dirty="0">
                <a:solidFill>
                  <a:srgbClr val="FFFFFF"/>
                </a:solidFill>
                <a:latin typeface="Inter" pitchFamily="34" charset="0"/>
                <a:ea typeface="Inter" pitchFamily="34" charset="-122"/>
                <a:cs typeface="Inter" pitchFamily="34" charset="-120"/>
              </a:rPr>
              <a:t>Surat textiles + Rajkot auto parts</a:t>
            </a:r>
            <a:endParaRPr lang="en-US" sz="1400" dirty="0"/>
          </a:p>
        </p:txBody>
      </p:sp>
      <p:sp>
        <p:nvSpPr>
          <p:cNvPr id="16" name="Text 13"/>
          <p:cNvSpPr/>
          <p:nvPr/>
        </p:nvSpPr>
        <p:spPr>
          <a:xfrm>
            <a:off x="4582160" y="4754880"/>
            <a:ext cx="3027680" cy="292608"/>
          </a:xfrm>
          <a:prstGeom prst="rect">
            <a:avLst/>
          </a:prstGeom>
          <a:noFill/>
          <a:ln/>
        </p:spPr>
        <p:txBody>
          <a:bodyPr wrap="square" lIns="0" tIns="0" rIns="0" bIns="0" rtlCol="0" anchor="ctr"/>
          <a:lstStyle/>
          <a:p>
            <a:pPr indent="0" marL="0">
              <a:buNone/>
            </a:pPr>
            <a:r>
              <a:rPr lang="en-US" sz="1550" b="1" dirty="0">
                <a:solidFill>
                  <a:srgbClr val="00B4D8"/>
                </a:solidFill>
                <a:latin typeface="Inter" pitchFamily="34" charset="0"/>
                <a:ea typeface="Inter" pitchFamily="34" charset="-122"/>
                <a:cs typeface="Inter" pitchFamily="34" charset="-120"/>
              </a:rPr>
              <a:t>200 stations</a:t>
            </a:r>
            <a:endParaRPr lang="en-US" sz="1550" dirty="0"/>
          </a:p>
        </p:txBody>
      </p:sp>
      <p:sp>
        <p:nvSpPr>
          <p:cNvPr id="17" name="Text 14"/>
          <p:cNvSpPr/>
          <p:nvPr/>
        </p:nvSpPr>
        <p:spPr>
          <a:xfrm>
            <a:off x="4582160" y="5029200"/>
            <a:ext cx="3027680" cy="256032"/>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₹1 crore revenue</a:t>
            </a:r>
            <a:endParaRPr lang="en-US" sz="1150" dirty="0"/>
          </a:p>
        </p:txBody>
      </p:sp>
      <p:sp>
        <p:nvSpPr>
          <p:cNvPr id="18" name="Shape 15"/>
          <p:cNvSpPr/>
          <p:nvPr/>
        </p:nvSpPr>
        <p:spPr>
          <a:xfrm>
            <a:off x="8121904" y="3401568"/>
            <a:ext cx="3503168" cy="2011680"/>
          </a:xfrm>
          <a:prstGeom prst="roundRect">
            <a:avLst>
              <a:gd name="adj" fmla="val 2273"/>
            </a:avLst>
          </a:prstGeom>
          <a:solidFill>
            <a:srgbClr val="223244"/>
          </a:solidFill>
          <a:ln/>
        </p:spPr>
      </p:sp>
      <p:sp>
        <p:nvSpPr>
          <p:cNvPr id="19" name="Text 16"/>
          <p:cNvSpPr/>
          <p:nvPr/>
        </p:nvSpPr>
        <p:spPr>
          <a:xfrm>
            <a:off x="8359648" y="3584448"/>
            <a:ext cx="3027680" cy="219456"/>
          </a:xfrm>
          <a:prstGeom prst="rect">
            <a:avLst/>
          </a:prstGeom>
          <a:noFill/>
          <a:ln/>
        </p:spPr>
        <p:txBody>
          <a:bodyPr wrap="square" lIns="0" tIns="0" rIns="0" bIns="0" rtlCol="0" anchor="ctr"/>
          <a:lstStyle/>
          <a:p>
            <a:pPr indent="0" marL="0">
              <a:buNone/>
            </a:pPr>
            <a:r>
              <a:rPr lang="en-US" sz="950" b="1" spc="160" kern="0" dirty="0">
                <a:solidFill>
                  <a:srgbClr val="00B4D8"/>
                </a:solidFill>
                <a:latin typeface="Inter" pitchFamily="34" charset="0"/>
                <a:ea typeface="Inter" pitchFamily="34" charset="-122"/>
                <a:cs typeface="Inter" pitchFamily="34" charset="-120"/>
              </a:rPr>
              <a:t>YEAR 3</a:t>
            </a:r>
            <a:endParaRPr lang="en-US" sz="950" dirty="0"/>
          </a:p>
        </p:txBody>
      </p:sp>
      <p:sp>
        <p:nvSpPr>
          <p:cNvPr id="20" name="Text 17"/>
          <p:cNvSpPr/>
          <p:nvPr/>
        </p:nvSpPr>
        <p:spPr>
          <a:xfrm>
            <a:off x="8359648" y="3803904"/>
            <a:ext cx="3027680" cy="530352"/>
          </a:xfrm>
          <a:prstGeom prst="rect">
            <a:avLst/>
          </a:prstGeom>
          <a:noFill/>
          <a:ln/>
        </p:spPr>
        <p:txBody>
          <a:bodyPr wrap="square" lIns="0" tIns="0" rIns="0" bIns="0" rtlCol="0" anchor="t"/>
          <a:lstStyle/>
          <a:p>
            <a:pPr indent="0" marL="0">
              <a:lnSpc>
                <a:spcPct val="108000"/>
              </a:lnSpc>
              <a:buNone/>
            </a:pPr>
            <a:r>
              <a:rPr lang="en-US" sz="1400" b="1" dirty="0">
                <a:solidFill>
                  <a:srgbClr val="FFFFFF"/>
                </a:solidFill>
                <a:latin typeface="Inter" pitchFamily="34" charset="0"/>
                <a:ea typeface="Inter" pitchFamily="34" charset="-122"/>
                <a:cs typeface="Inter" pitchFamily="34" charset="-120"/>
              </a:rPr>
              <a:t>Multi-cluster Gujarat + first Maharashtra orders</a:t>
            </a:r>
            <a:endParaRPr lang="en-US" sz="1400" dirty="0"/>
          </a:p>
        </p:txBody>
      </p:sp>
      <p:sp>
        <p:nvSpPr>
          <p:cNvPr id="21" name="Text 18"/>
          <p:cNvSpPr/>
          <p:nvPr/>
        </p:nvSpPr>
        <p:spPr>
          <a:xfrm>
            <a:off x="8359648" y="4754880"/>
            <a:ext cx="3027680" cy="292608"/>
          </a:xfrm>
          <a:prstGeom prst="rect">
            <a:avLst/>
          </a:prstGeom>
          <a:noFill/>
          <a:ln/>
        </p:spPr>
        <p:txBody>
          <a:bodyPr wrap="square" lIns="0" tIns="0" rIns="0" bIns="0" rtlCol="0" anchor="ctr"/>
          <a:lstStyle/>
          <a:p>
            <a:pPr indent="0" marL="0">
              <a:buNone/>
            </a:pPr>
            <a:r>
              <a:rPr lang="en-US" sz="1550" b="1" dirty="0">
                <a:solidFill>
                  <a:srgbClr val="00B4D8"/>
                </a:solidFill>
                <a:latin typeface="Inter" pitchFamily="34" charset="0"/>
                <a:ea typeface="Inter" pitchFamily="34" charset="-122"/>
                <a:cs typeface="Inter" pitchFamily="34" charset="-120"/>
              </a:rPr>
              <a:t>500 stations</a:t>
            </a:r>
            <a:endParaRPr lang="en-US" sz="1550" dirty="0"/>
          </a:p>
        </p:txBody>
      </p:sp>
      <p:sp>
        <p:nvSpPr>
          <p:cNvPr id="22" name="Text 19"/>
          <p:cNvSpPr/>
          <p:nvPr/>
        </p:nvSpPr>
        <p:spPr>
          <a:xfrm>
            <a:off x="8359648" y="5029200"/>
            <a:ext cx="3027680" cy="256032"/>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₹2.5 crore revenue</a:t>
            </a:r>
            <a:endParaRPr lang="en-US" sz="1150" dirty="0"/>
          </a:p>
        </p:txBody>
      </p:sp>
      <p:sp>
        <p:nvSpPr>
          <p:cNvPr id="23" name="Shape 20"/>
          <p:cNvSpPr/>
          <p:nvPr/>
        </p:nvSpPr>
        <p:spPr>
          <a:xfrm>
            <a:off x="566928" y="5504688"/>
            <a:ext cx="11058144" cy="804672"/>
          </a:xfrm>
          <a:prstGeom prst="roundRect">
            <a:avLst>
              <a:gd name="adj" fmla="val 5682"/>
            </a:avLst>
          </a:prstGeom>
          <a:solidFill>
            <a:srgbClr val="13384A"/>
          </a:solidFill>
          <a:ln/>
        </p:spPr>
      </p:sp>
      <p:sp>
        <p:nvSpPr>
          <p:cNvPr id="24" name="Text 21"/>
          <p:cNvSpPr/>
          <p:nvPr/>
        </p:nvSpPr>
        <p:spPr>
          <a:xfrm>
            <a:off x="804672" y="5650992"/>
            <a:ext cx="10582656" cy="548640"/>
          </a:xfrm>
          <a:prstGeom prst="rect">
            <a:avLst/>
          </a:prstGeom>
          <a:noFill/>
          <a:ln/>
        </p:spPr>
        <p:txBody>
          <a:bodyPr wrap="square" lIns="0" tIns="0" rIns="0" bIns="0" rtlCol="0" anchor="t"/>
          <a:lstStyle/>
          <a:p>
            <a:pPr indent="0" marL="0">
              <a:lnSpc>
                <a:spcPct val="114000"/>
              </a:lnSpc>
              <a:buNone/>
            </a:pPr>
            <a:r>
              <a:rPr lang="en-US" sz="1250" b="1" dirty="0">
                <a:solidFill>
                  <a:srgbClr val="00B4D8"/>
                </a:solidFill>
                <a:latin typeface="Inter" pitchFamily="34" charset="0"/>
                <a:ea typeface="Inter" pitchFamily="34" charset="-122"/>
                <a:cs typeface="Inter" pitchFamily="34" charset="-120"/>
              </a:rPr>
              <a:t>Impact on MSMEs: </a:t>
            </a:r>
            <a:pPr indent="0" marL="0">
              <a:lnSpc>
                <a:spcPct val="114000"/>
              </a:lnSpc>
              <a:buNone/>
            </a:pPr>
            <a:r>
              <a:rPr lang="en-US" sz="1250" dirty="0">
                <a:solidFill>
                  <a:srgbClr val="FFFFFF"/>
                </a:solidFill>
                <a:latin typeface="Inter" pitchFamily="34" charset="0"/>
                <a:ea typeface="Inter" pitchFamily="34" charset="-122"/>
                <a:cs typeface="Inter" pitchFamily="34" charset="-120"/>
              </a:rPr>
              <a:t>defect escape rate from 5–15% down to under 1%. QC workers move from staring at parts to running the line — no jobs lost, productivity gained.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BUSINESS MODEL</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07 / 12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150" b="1" dirty="0">
                <a:solidFill>
                  <a:srgbClr val="FFFFFF"/>
                </a:solidFill>
                <a:latin typeface="Inter" pitchFamily="34" charset="0"/>
                <a:ea typeface="Inter" pitchFamily="34" charset="-122"/>
                <a:cs typeface="Inter" pitchFamily="34" charset="-120"/>
              </a:rPr>
              <a:t>Hardware sale + recurring revenue. Self-sustaining after the grant.</a:t>
            </a:r>
            <a:endParaRPr lang="en-US" sz="2150" dirty="0"/>
          </a:p>
        </p:txBody>
      </p:sp>
      <p:sp>
        <p:nvSpPr>
          <p:cNvPr id="5" name="Text 3"/>
          <p:cNvSpPr/>
          <p:nvPr/>
        </p:nvSpPr>
        <p:spPr>
          <a:xfrm>
            <a:off x="566928" y="1426464"/>
            <a:ext cx="5486400"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WHAT WE EARN</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719072"/>
          <a:ext cx="9144000" cy="914400"/>
        </p:xfrm>
        <a:graphic>
          <a:graphicData uri="http://schemas.openxmlformats.org/drawingml/2006/table">
            <a:tbl>
              <a:tblPr/>
              <a:tblGrid>
                <a:gridCol w="3246120"/>
                <a:gridCol w="2240280"/>
              </a:tblGrid>
              <a:tr h="402336">
                <a:tc>
                  <a:txBody>
                    <a:bodyPr/>
                    <a:lstStyle/>
                    <a:p>
                      <a:pPr algn="l" indent="0" marL="0">
                        <a:buNone/>
                      </a:pPr>
                      <a:r>
                        <a:rPr lang="en-US" sz="950" b="1" spc="140" kern="0" dirty="0">
                          <a:solidFill>
                            <a:srgbClr val="00B4D8"/>
                          </a:solidFill>
                          <a:latin typeface="Inter" pitchFamily="34" charset="0"/>
                          <a:ea typeface="Inter" pitchFamily="34" charset="-122"/>
                          <a:cs typeface="Inter" pitchFamily="34" charset="-120"/>
                        </a:rPr>
                        <a:t>Revenue line</a:t>
                      </a:r>
                      <a:endParaRPr lang="en-US" sz="950" dirty="0">
                        <a:latin typeface="Inter" charset="0"/>
                        <a:ea typeface="Inter" charset="0"/>
                        <a:cs typeface="Inter" charset="0"/>
                      </a:endParaRPr>
                    </a:p>
                  </a:txBody>
                  <a:tcPr marL="254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r" indent="0" marL="0">
                        <a:buNone/>
                      </a:pPr>
                      <a:r>
                        <a:rPr lang="en-US" sz="950" b="1" spc="140" kern="0" dirty="0">
                          <a:solidFill>
                            <a:srgbClr val="00B4D8"/>
                          </a:solidFill>
                          <a:latin typeface="Inter" pitchFamily="34" charset="0"/>
                          <a:ea typeface="Inter" pitchFamily="34" charset="-122"/>
                          <a:cs typeface="Inter" pitchFamily="34" charset="-120"/>
                        </a:rPr>
                        <a:t>Price</a:t>
                      </a:r>
                      <a:endParaRPr lang="en-US" sz="95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r>
              <a:tr h="402336">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Base station (one-time)</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150" b="1" dirty="0">
                          <a:solidFill>
                            <a:srgbClr val="00B4D8"/>
                          </a:solidFill>
                          <a:latin typeface="Inter" pitchFamily="34" charset="0"/>
                          <a:ea typeface="Inter" pitchFamily="34" charset="-122"/>
                          <a:cs typeface="Inter" pitchFamily="34" charset="-120"/>
                        </a:rPr>
                        <a:t>₹49,000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402336">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Conveyor + auto-reject add-on</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150" b="1" dirty="0">
                          <a:solidFill>
                            <a:srgbClr val="00B4D8"/>
                          </a:solidFill>
                          <a:latin typeface="Inter" pitchFamily="34" charset="0"/>
                          <a:ea typeface="Inter" pitchFamily="34" charset="-122"/>
                          <a:cs typeface="Inter" pitchFamily="34" charset="-120"/>
                        </a:rPr>
                        <a:t>₹18,000</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402336">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Annual support + AI model updates</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150" b="1" dirty="0">
                          <a:solidFill>
                            <a:srgbClr val="00B4D8"/>
                          </a:solidFill>
                          <a:latin typeface="Inter" pitchFamily="34" charset="0"/>
                          <a:ea typeface="Inter" pitchFamily="34" charset="-122"/>
                          <a:cs typeface="Inter" pitchFamily="34" charset="-120"/>
                        </a:rPr>
                        <a:t>₹5,000 / year</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402336">
                <a:tc>
                  <a:txBody>
                    <a:bodyPr/>
                    <a:lstStyle/>
                    <a:p>
                      <a:pPr algn="l" indent="0" marL="0">
                        <a:buNone/>
                      </a:pPr>
                      <a:r>
                        <a:rPr lang="en-US" sz="1150" dirty="0">
                          <a:solidFill>
                            <a:srgbClr val="FFFFFF"/>
                          </a:solidFill>
                          <a:latin typeface="Inter" pitchFamily="34" charset="0"/>
                          <a:ea typeface="Inter" pitchFamily="34" charset="-122"/>
                          <a:cs typeface="Inter" pitchFamily="34" charset="-120"/>
                        </a:rPr>
                        <a:t>Custom product category training</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150" b="1" dirty="0">
                          <a:solidFill>
                            <a:srgbClr val="00B4D8"/>
                          </a:solidFill>
                          <a:latin typeface="Inter" pitchFamily="34" charset="0"/>
                          <a:ea typeface="Inter" pitchFamily="34" charset="-122"/>
                          <a:cs typeface="Inter" pitchFamily="34" charset="-120"/>
                        </a:rPr>
                        <a:t>₹10,000 per category</a:t>
                      </a:r>
                      <a:endParaRPr lang="en-US" sz="115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bl>
          </a:graphicData>
        </a:graphic>
      </p:graphicFrame>
      <p:sp>
        <p:nvSpPr>
          <p:cNvPr id="7" name="Text 4"/>
          <p:cNvSpPr/>
          <p:nvPr/>
        </p:nvSpPr>
        <p:spPr>
          <a:xfrm>
            <a:off x="566928" y="4005072"/>
            <a:ext cx="5486400" cy="822960"/>
          </a:xfrm>
          <a:prstGeom prst="rect">
            <a:avLst/>
          </a:prstGeom>
          <a:noFill/>
          <a:ln/>
        </p:spPr>
        <p:txBody>
          <a:bodyPr wrap="square" lIns="0" tIns="0" rIns="0" bIns="0" rtlCol="0" anchor="t"/>
          <a:lstStyle/>
          <a:p>
            <a:pPr indent="0" marL="0">
              <a:lnSpc>
                <a:spcPct val="114000"/>
              </a:lnSpc>
              <a:buNone/>
            </a:pPr>
            <a:r>
              <a:rPr lang="en-US" sz="1150" b="1" dirty="0">
                <a:solidFill>
                  <a:srgbClr val="00B4D8"/>
                </a:solidFill>
                <a:latin typeface="Inter" pitchFamily="34" charset="0"/>
                <a:ea typeface="Inter" pitchFamily="34" charset="-122"/>
                <a:cs typeface="Inter" pitchFamily="34" charset="-120"/>
              </a:rPr>
              <a:t>Route to market: </a:t>
            </a:r>
            <a:pPr indent="0" marL="0">
              <a:lnSpc>
                <a:spcPct val="114000"/>
              </a:lnSpc>
              <a:buNone/>
            </a:pPr>
            <a:r>
              <a:rPr lang="en-US" sz="1150" dirty="0">
                <a:solidFill>
                  <a:srgbClr val="9FB3C4"/>
                </a:solidFill>
                <a:latin typeface="Inter" pitchFamily="34" charset="0"/>
                <a:ea typeface="Inter" pitchFamily="34" charset="-122"/>
                <a:cs typeface="Inter" pitchFamily="34" charset="-120"/>
              </a:rPr>
              <a:t>Direct sales in Morbi and Surat first (we are local). Then through existing machinery dealers who already sell into these clusters. No distributor margin needed in Year 1.</a:t>
            </a:r>
            <a:endParaRPr lang="en-US" sz="1150" dirty="0"/>
          </a:p>
        </p:txBody>
      </p:sp>
      <p:sp>
        <p:nvSpPr>
          <p:cNvPr id="8" name="Text 5"/>
          <p:cNvSpPr/>
          <p:nvPr/>
        </p:nvSpPr>
        <p:spPr>
          <a:xfrm>
            <a:off x="6355080" y="1426464"/>
            <a:ext cx="5266944"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WHY THE MSME OWNER SAYS YES</a:t>
            </a:r>
            <a:endParaRPr lang="en-US" sz="950" dirty="0"/>
          </a:p>
        </p:txBody>
      </p:sp>
      <p:sp>
        <p:nvSpPr>
          <p:cNvPr id="9" name="Shape 6"/>
          <p:cNvSpPr/>
          <p:nvPr/>
        </p:nvSpPr>
        <p:spPr>
          <a:xfrm>
            <a:off x="6355080" y="1719072"/>
            <a:ext cx="5266944" cy="3218688"/>
          </a:xfrm>
          <a:prstGeom prst="roundRect">
            <a:avLst>
              <a:gd name="adj" fmla="val 1420"/>
            </a:avLst>
          </a:prstGeom>
          <a:solidFill>
            <a:srgbClr val="223244"/>
          </a:solidFill>
          <a:ln/>
        </p:spPr>
      </p:sp>
      <p:sp>
        <p:nvSpPr>
          <p:cNvPr id="10" name="Text 7"/>
          <p:cNvSpPr/>
          <p:nvPr/>
        </p:nvSpPr>
        <p:spPr>
          <a:xfrm>
            <a:off x="6611112" y="1865376"/>
            <a:ext cx="4754880" cy="329184"/>
          </a:xfrm>
          <a:prstGeom prst="rect">
            <a:avLst/>
          </a:prstGeom>
          <a:noFill/>
          <a:ln/>
        </p:spPr>
        <p:txBody>
          <a:bodyPr wrap="square" lIns="0" tIns="0" rIns="0" bIns="0" rtlCol="0" anchor="ctr"/>
          <a:lstStyle/>
          <a:p>
            <a:pPr indent="0" marL="0">
              <a:buNone/>
            </a:pPr>
            <a:r>
              <a:rPr lang="en-US" sz="1600" b="1" dirty="0">
                <a:solidFill>
                  <a:srgbClr val="00B4D8"/>
                </a:solidFill>
                <a:latin typeface="Inter" pitchFamily="34" charset="0"/>
                <a:ea typeface="Inter" pitchFamily="34" charset="-122"/>
                <a:cs typeface="Inter" pitchFamily="34" charset="-120"/>
              </a:rPr>
              <a:t>Payback in 2–4 months</a:t>
            </a:r>
            <a:endParaRPr lang="en-US" sz="1600" dirty="0"/>
          </a:p>
        </p:txBody>
      </p:sp>
      <p:sp>
        <p:nvSpPr>
          <p:cNvPr id="11" name="Text 8"/>
          <p:cNvSpPr/>
          <p:nvPr/>
        </p:nvSpPr>
        <p:spPr>
          <a:xfrm>
            <a:off x="6611112" y="2304288"/>
            <a:ext cx="4754880"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STATION COST (ONE-TIME)</a:t>
            </a:r>
            <a:endParaRPr lang="en-US" sz="950" dirty="0"/>
          </a:p>
        </p:txBody>
      </p:sp>
      <p:sp>
        <p:nvSpPr>
          <p:cNvPr id="12" name="Shape 9"/>
          <p:cNvSpPr/>
          <p:nvPr/>
        </p:nvSpPr>
        <p:spPr>
          <a:xfrm>
            <a:off x="6611112" y="2542032"/>
            <a:ext cx="4480560" cy="292608"/>
          </a:xfrm>
          <a:prstGeom prst="rect">
            <a:avLst/>
          </a:prstGeom>
          <a:solidFill>
            <a:srgbClr val="44607A"/>
          </a:solidFill>
          <a:ln/>
        </p:spPr>
      </p:sp>
      <p:sp>
        <p:nvSpPr>
          <p:cNvPr id="13" name="Text 10"/>
          <p:cNvSpPr/>
          <p:nvPr/>
        </p:nvSpPr>
        <p:spPr>
          <a:xfrm>
            <a:off x="6739128" y="2542032"/>
            <a:ext cx="1828800" cy="292608"/>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₹49,000</a:t>
            </a:r>
            <a:endParaRPr lang="en-US" sz="1200" dirty="0"/>
          </a:p>
        </p:txBody>
      </p:sp>
      <p:sp>
        <p:nvSpPr>
          <p:cNvPr id="14" name="Text 11"/>
          <p:cNvSpPr/>
          <p:nvPr/>
        </p:nvSpPr>
        <p:spPr>
          <a:xfrm>
            <a:off x="6611112" y="2944368"/>
            <a:ext cx="4754880"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QC LABOUR COST SAVED, PER MONTH</a:t>
            </a:r>
            <a:endParaRPr lang="en-US" sz="950" dirty="0"/>
          </a:p>
        </p:txBody>
      </p:sp>
      <p:sp>
        <p:nvSpPr>
          <p:cNvPr id="15" name="Shape 12"/>
          <p:cNvSpPr/>
          <p:nvPr/>
        </p:nvSpPr>
        <p:spPr>
          <a:xfrm>
            <a:off x="6611112" y="3182112"/>
            <a:ext cx="2377440" cy="292608"/>
          </a:xfrm>
          <a:prstGeom prst="rect">
            <a:avLst/>
          </a:prstGeom>
          <a:solidFill>
            <a:srgbClr val="00B4D8"/>
          </a:solidFill>
          <a:ln/>
        </p:spPr>
      </p:sp>
      <p:sp>
        <p:nvSpPr>
          <p:cNvPr id="16" name="Text 13"/>
          <p:cNvSpPr/>
          <p:nvPr/>
        </p:nvSpPr>
        <p:spPr>
          <a:xfrm>
            <a:off x="6739128" y="3182112"/>
            <a:ext cx="2194560" cy="292608"/>
          </a:xfrm>
          <a:prstGeom prst="rect">
            <a:avLst/>
          </a:prstGeom>
          <a:noFill/>
          <a:ln/>
        </p:spPr>
        <p:txBody>
          <a:bodyPr wrap="square" lIns="0" tIns="0" rIns="0" bIns="0" rtlCol="0" anchor="ctr"/>
          <a:lstStyle/>
          <a:p>
            <a:pPr indent="0" marL="0">
              <a:buNone/>
            </a:pPr>
            <a:r>
              <a:rPr lang="en-US" sz="1200" b="1" dirty="0">
                <a:solidFill>
                  <a:srgbClr val="0F2231"/>
                </a:solidFill>
                <a:latin typeface="Inter" pitchFamily="34" charset="0"/>
                <a:ea typeface="Inter" pitchFamily="34" charset="-122"/>
                <a:cs typeface="Inter" pitchFamily="34" charset="-120"/>
              </a:rPr>
              <a:t>₹24,000–28,000</a:t>
            </a:r>
            <a:endParaRPr lang="en-US" sz="1200" dirty="0"/>
          </a:p>
        </p:txBody>
      </p:sp>
      <p:sp>
        <p:nvSpPr>
          <p:cNvPr id="17" name="Text 14"/>
          <p:cNvSpPr/>
          <p:nvPr/>
        </p:nvSpPr>
        <p:spPr>
          <a:xfrm>
            <a:off x="6611112" y="3584448"/>
            <a:ext cx="4754880"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BREAK-EVEN</a:t>
            </a:r>
            <a:endParaRPr lang="en-US" sz="950" dirty="0"/>
          </a:p>
        </p:txBody>
      </p:sp>
      <p:sp>
        <p:nvSpPr>
          <p:cNvPr id="18" name="Text 15"/>
          <p:cNvSpPr/>
          <p:nvPr/>
        </p:nvSpPr>
        <p:spPr>
          <a:xfrm>
            <a:off x="6611112" y="3803904"/>
            <a:ext cx="4754880" cy="384048"/>
          </a:xfrm>
          <a:prstGeom prst="rect">
            <a:avLst/>
          </a:prstGeom>
          <a:noFill/>
          <a:ln/>
        </p:spPr>
        <p:txBody>
          <a:bodyPr wrap="square" lIns="0" tIns="0" rIns="0" bIns="0" rtlCol="0" anchor="ctr"/>
          <a:lstStyle/>
          <a:p>
            <a:pPr indent="0" marL="0">
              <a:buNone/>
            </a:pPr>
            <a:r>
              <a:rPr lang="en-US" sz="2200" b="1" dirty="0">
                <a:solidFill>
                  <a:srgbClr val="FFFFFF"/>
                </a:solidFill>
                <a:latin typeface="Inter" pitchFamily="34" charset="0"/>
                <a:ea typeface="Inter" pitchFamily="34" charset="-122"/>
                <a:cs typeface="Inter" pitchFamily="34" charset="-120"/>
              </a:rPr>
              <a:t>Month 2–4</a:t>
            </a:r>
            <a:endParaRPr lang="en-US" sz="2200" dirty="0"/>
          </a:p>
        </p:txBody>
      </p:sp>
      <p:sp>
        <p:nvSpPr>
          <p:cNvPr id="19" name="Text 16"/>
          <p:cNvSpPr/>
          <p:nvPr/>
        </p:nvSpPr>
        <p:spPr>
          <a:xfrm>
            <a:off x="6611112" y="4279392"/>
            <a:ext cx="4754880" cy="502920"/>
          </a:xfrm>
          <a:prstGeom prst="rect">
            <a:avLst/>
          </a:prstGeom>
          <a:noFill/>
          <a:ln/>
        </p:spPr>
        <p:txBody>
          <a:bodyPr wrap="square" lIns="0" tIns="0" rIns="0" bIns="0" rtlCol="0" anchor="t"/>
          <a:lstStyle/>
          <a:p>
            <a:pPr indent="0" marL="0">
              <a:lnSpc>
                <a:spcPct val="112000"/>
              </a:lnSpc>
              <a:buNone/>
            </a:pPr>
            <a:r>
              <a:rPr lang="en-US" sz="1150" dirty="0">
                <a:solidFill>
                  <a:srgbClr val="9FB3C4"/>
                </a:solidFill>
                <a:latin typeface="Inter" pitchFamily="34" charset="0"/>
                <a:ea typeface="Inter" pitchFamily="34" charset="-122"/>
                <a:cs typeface="Inter" pitchFamily="34" charset="-120"/>
              </a:rPr>
              <a:t>Then saves ₹2–3 lakh a year and eliminates rejection losses.</a:t>
            </a:r>
            <a:endParaRPr lang="en-US" sz="1150" dirty="0"/>
          </a:p>
        </p:txBody>
      </p:sp>
      <p:sp>
        <p:nvSpPr>
          <p:cNvPr id="20" name="Text 17"/>
          <p:cNvSpPr/>
          <p:nvPr/>
        </p:nvSpPr>
        <p:spPr>
          <a:xfrm>
            <a:off x="566928" y="5230368"/>
            <a:ext cx="5486400"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UNIT ECONOMICS</a:t>
            </a:r>
            <a:endParaRPr lang="en-US" sz="950" dirty="0"/>
          </a:p>
        </p:txBody>
      </p:sp>
      <p:sp>
        <p:nvSpPr>
          <p:cNvPr id="21" name="Shape 18"/>
          <p:cNvSpPr/>
          <p:nvPr/>
        </p:nvSpPr>
        <p:spPr>
          <a:xfrm>
            <a:off x="566928" y="5486400"/>
            <a:ext cx="3383280" cy="804672"/>
          </a:xfrm>
          <a:prstGeom prst="roundRect">
            <a:avLst>
              <a:gd name="adj" fmla="val 5682"/>
            </a:avLst>
          </a:prstGeom>
          <a:solidFill>
            <a:srgbClr val="1F2C3B"/>
          </a:solidFill>
          <a:ln/>
        </p:spPr>
      </p:sp>
      <p:sp>
        <p:nvSpPr>
          <p:cNvPr id="22" name="Text 19"/>
          <p:cNvSpPr/>
          <p:nvPr/>
        </p:nvSpPr>
        <p:spPr>
          <a:xfrm>
            <a:off x="786384" y="5605272"/>
            <a:ext cx="2944368"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BOM AT 100 UNITS</a:t>
            </a:r>
            <a:endParaRPr lang="en-US" sz="950" dirty="0"/>
          </a:p>
        </p:txBody>
      </p:sp>
      <p:sp>
        <p:nvSpPr>
          <p:cNvPr id="23" name="Text 20"/>
          <p:cNvSpPr/>
          <p:nvPr/>
        </p:nvSpPr>
        <p:spPr>
          <a:xfrm>
            <a:off x="786384" y="5843016"/>
            <a:ext cx="2944368" cy="347472"/>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₹25,000</a:t>
            </a:r>
            <a:endParaRPr lang="en-US" sz="1500" dirty="0"/>
          </a:p>
        </p:txBody>
      </p:sp>
      <p:sp>
        <p:nvSpPr>
          <p:cNvPr id="24" name="Text 21"/>
          <p:cNvSpPr/>
          <p:nvPr/>
        </p:nvSpPr>
        <p:spPr>
          <a:xfrm>
            <a:off x="3950208" y="5486400"/>
            <a:ext cx="411480" cy="804672"/>
          </a:xfrm>
          <a:prstGeom prst="rect">
            <a:avLst/>
          </a:prstGeom>
          <a:noFill/>
          <a:ln/>
        </p:spPr>
        <p:txBody>
          <a:bodyPr wrap="square" lIns="0" tIns="0" rIns="0" bIns="0" rtlCol="0" anchor="ctr"/>
          <a:lstStyle/>
          <a:p>
            <a:pPr algn="ctr" indent="0" marL="0">
              <a:buNone/>
            </a:pPr>
            <a:r>
              <a:rPr lang="en-US" sz="1400" b="1" dirty="0">
                <a:solidFill>
                  <a:srgbClr val="00B4D8"/>
                </a:solidFill>
                <a:latin typeface="Inter" pitchFamily="34" charset="0"/>
                <a:ea typeface="Inter" pitchFamily="34" charset="-122"/>
                <a:cs typeface="Inter" pitchFamily="34" charset="-120"/>
              </a:rPr>
              <a:t>→</a:t>
            </a:r>
            <a:endParaRPr lang="en-US" sz="1400" dirty="0"/>
          </a:p>
        </p:txBody>
      </p:sp>
      <p:sp>
        <p:nvSpPr>
          <p:cNvPr id="25" name="Shape 22"/>
          <p:cNvSpPr/>
          <p:nvPr/>
        </p:nvSpPr>
        <p:spPr>
          <a:xfrm>
            <a:off x="4361688" y="5486400"/>
            <a:ext cx="3383280" cy="804672"/>
          </a:xfrm>
          <a:prstGeom prst="roundRect">
            <a:avLst>
              <a:gd name="adj" fmla="val 5682"/>
            </a:avLst>
          </a:prstGeom>
          <a:solidFill>
            <a:srgbClr val="1F2C3B"/>
          </a:solidFill>
          <a:ln/>
        </p:spPr>
      </p:sp>
      <p:sp>
        <p:nvSpPr>
          <p:cNvPr id="26" name="Text 23"/>
          <p:cNvSpPr/>
          <p:nvPr/>
        </p:nvSpPr>
        <p:spPr>
          <a:xfrm>
            <a:off x="4581144" y="5605272"/>
            <a:ext cx="2944368"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SELLING PRICE</a:t>
            </a:r>
            <a:endParaRPr lang="en-US" sz="950" dirty="0"/>
          </a:p>
        </p:txBody>
      </p:sp>
      <p:sp>
        <p:nvSpPr>
          <p:cNvPr id="27" name="Text 24"/>
          <p:cNvSpPr/>
          <p:nvPr/>
        </p:nvSpPr>
        <p:spPr>
          <a:xfrm>
            <a:off x="4581144" y="5843016"/>
            <a:ext cx="2944368" cy="347472"/>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₹49,000</a:t>
            </a:r>
            <a:endParaRPr lang="en-US" sz="1500" dirty="0"/>
          </a:p>
        </p:txBody>
      </p:sp>
      <p:sp>
        <p:nvSpPr>
          <p:cNvPr id="28" name="Text 25"/>
          <p:cNvSpPr/>
          <p:nvPr/>
        </p:nvSpPr>
        <p:spPr>
          <a:xfrm>
            <a:off x="7744968" y="5486400"/>
            <a:ext cx="411480" cy="804672"/>
          </a:xfrm>
          <a:prstGeom prst="rect">
            <a:avLst/>
          </a:prstGeom>
          <a:noFill/>
          <a:ln/>
        </p:spPr>
        <p:txBody>
          <a:bodyPr wrap="square" lIns="0" tIns="0" rIns="0" bIns="0" rtlCol="0" anchor="ctr"/>
          <a:lstStyle/>
          <a:p>
            <a:pPr algn="ctr" indent="0" marL="0">
              <a:buNone/>
            </a:pPr>
            <a:r>
              <a:rPr lang="en-US" sz="1400" b="1" dirty="0">
                <a:solidFill>
                  <a:srgbClr val="00B4D8"/>
                </a:solidFill>
                <a:latin typeface="Inter" pitchFamily="34" charset="0"/>
                <a:ea typeface="Inter" pitchFamily="34" charset="-122"/>
                <a:cs typeface="Inter" pitchFamily="34" charset="-120"/>
              </a:rPr>
              <a:t>→</a:t>
            </a:r>
            <a:endParaRPr lang="en-US" sz="1400" dirty="0"/>
          </a:p>
        </p:txBody>
      </p:sp>
      <p:sp>
        <p:nvSpPr>
          <p:cNvPr id="29" name="Shape 26"/>
          <p:cNvSpPr/>
          <p:nvPr/>
        </p:nvSpPr>
        <p:spPr>
          <a:xfrm>
            <a:off x="8156448" y="5486400"/>
            <a:ext cx="3383280" cy="804672"/>
          </a:xfrm>
          <a:prstGeom prst="roundRect">
            <a:avLst>
              <a:gd name="adj" fmla="val 5682"/>
            </a:avLst>
          </a:prstGeom>
          <a:solidFill>
            <a:srgbClr val="1F2C3B"/>
          </a:solidFill>
          <a:ln/>
        </p:spPr>
      </p:sp>
      <p:sp>
        <p:nvSpPr>
          <p:cNvPr id="30" name="Text 27"/>
          <p:cNvSpPr/>
          <p:nvPr/>
        </p:nvSpPr>
        <p:spPr>
          <a:xfrm>
            <a:off x="8375904" y="5605272"/>
            <a:ext cx="2944368"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GROSS MARGIN PER UNIT</a:t>
            </a:r>
            <a:endParaRPr lang="en-US" sz="950" dirty="0"/>
          </a:p>
        </p:txBody>
      </p:sp>
      <p:sp>
        <p:nvSpPr>
          <p:cNvPr id="31" name="Text 28"/>
          <p:cNvSpPr/>
          <p:nvPr/>
        </p:nvSpPr>
        <p:spPr>
          <a:xfrm>
            <a:off x="8375904" y="5843016"/>
            <a:ext cx="2944368" cy="347472"/>
          </a:xfrm>
          <a:prstGeom prst="rect">
            <a:avLst/>
          </a:prstGeom>
          <a:noFill/>
          <a:ln/>
        </p:spPr>
        <p:txBody>
          <a:bodyPr wrap="square" lIns="0" tIns="0" rIns="0" bIns="0" rtlCol="0" anchor="ctr"/>
          <a:lstStyle/>
          <a:p>
            <a:pPr indent="0" marL="0">
              <a:buNone/>
            </a:pPr>
            <a:r>
              <a:rPr lang="en-US" sz="1500" b="1" dirty="0">
                <a:solidFill>
                  <a:srgbClr val="00B4D8"/>
                </a:solidFill>
                <a:latin typeface="Inter" pitchFamily="34" charset="0"/>
                <a:ea typeface="Inter" pitchFamily="34" charset="-122"/>
                <a:cs typeface="Inter" pitchFamily="34" charset="-120"/>
              </a:rPr>
              <a:t>₹24,000 (49%)</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WHERE WE ARE TODAY</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08 / 12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Current stage: validated concept, build starting</a:t>
            </a:r>
            <a:endParaRPr lang="en-US" sz="2600" dirty="0"/>
          </a:p>
        </p:txBody>
      </p:sp>
      <p:sp>
        <p:nvSpPr>
          <p:cNvPr id="5" name="Text 3"/>
          <p:cNvSpPr/>
          <p:nvPr/>
        </p:nvSpPr>
        <p:spPr>
          <a:xfrm>
            <a:off x="566928" y="1463040"/>
            <a:ext cx="11058144" cy="2194560"/>
          </a:xfrm>
          <a:prstGeom prst="rect">
            <a:avLst/>
          </a:prstGeom>
          <a:noFill/>
          <a:ln/>
        </p:spPr>
        <p:txBody>
          <a:bodyPr wrap="square" lIns="0" tIns="0" rIns="0" bIns="0" rtlCol="0" anchor="t"/>
          <a:lstStyle/>
          <a:p>
            <a:pPr marL="177800" indent="-177800">
              <a:lnSpc>
                <a:spcPct val="112000"/>
              </a:lnSpc>
              <a:spcAft>
                <a:spcPts val="1300"/>
              </a:spcAft>
              <a:buSzPct val="100000"/>
              <a:buChar char="•"/>
            </a:pPr>
            <a:r>
              <a:rPr lang="en-US" sz="1400" dirty="0">
                <a:solidFill>
                  <a:srgbClr val="FFFFFF"/>
                </a:solidFill>
                <a:latin typeface="Inter" pitchFamily="34" charset="0"/>
                <a:ea typeface="Inter" pitchFamily="34" charset="-122"/>
                <a:cs typeface="Inter" pitchFamily="34" charset="-120"/>
              </a:rPr>
              <a:t>Full system architecture and BOM complete, suppliers identified</a:t>
            </a:r>
            <a:endParaRPr lang="en-US" sz="1400" dirty="0"/>
          </a:p>
          <a:p>
            <a:pPr marL="177800" indent="-177800">
              <a:lnSpc>
                <a:spcPct val="112000"/>
              </a:lnSpc>
              <a:spcAft>
                <a:spcPts val="1300"/>
              </a:spcAft>
              <a:buSzPct val="100000"/>
              <a:buChar char="•"/>
            </a:pPr>
            <a:r>
              <a:rPr lang="en-US" sz="1400" dirty="0">
                <a:solidFill>
                  <a:srgbClr val="FFFFFF"/>
                </a:solidFill>
                <a:latin typeface="Inter" pitchFamily="34" charset="0"/>
                <a:ea typeface="Inter" pitchFamily="34" charset="-122"/>
                <a:cs typeface="Inter" pitchFamily="34" charset="-120"/>
              </a:rPr>
              <a:t>AI pipeline tested on a public defect image dataset — [x]% accuracy on [x] classes</a:t>
            </a:r>
            <a:endParaRPr lang="en-US" sz="1400" dirty="0"/>
          </a:p>
          <a:p>
            <a:pPr marL="177800" indent="-177800">
              <a:lnSpc>
                <a:spcPct val="112000"/>
              </a:lnSpc>
              <a:spcAft>
                <a:spcPts val="1300"/>
              </a:spcAft>
              <a:buSzPct val="100000"/>
              <a:buChar char="•"/>
            </a:pPr>
            <a:r>
              <a:rPr lang="en-US" sz="1400" dirty="0">
                <a:solidFill>
                  <a:srgbClr val="FFFFFF"/>
                </a:solidFill>
                <a:latin typeface="Inter" pitchFamily="34" charset="0"/>
                <a:ea typeface="Inter" pitchFamily="34" charset="-122"/>
                <a:cs typeface="Inter" pitchFamily="34" charset="-120"/>
              </a:rPr>
              <a:t>[x] MSME owners interviewed in [Morbi / Surat]; all confirmed manual inspection is their weak point</a:t>
            </a:r>
            <a:endParaRPr lang="en-US" sz="1400" dirty="0"/>
          </a:p>
          <a:p>
            <a:pPr marL="177800" indent="-177800">
              <a:lnSpc>
                <a:spcPct val="112000"/>
              </a:lnSpc>
              <a:spcAft>
                <a:spcPts val="1300"/>
              </a:spcAft>
              <a:buSzPct val="100000"/>
              <a:buChar char="•"/>
            </a:pPr>
            <a:r>
              <a:rPr lang="en-US" sz="1400" dirty="0">
                <a:solidFill>
                  <a:srgbClr val="FFFFFF"/>
                </a:solidFill>
                <a:latin typeface="Inter" pitchFamily="34" charset="0"/>
                <a:ea typeface="Inter" pitchFamily="34" charset="-122"/>
                <a:cs typeface="Inter" pitchFamily="34" charset="-120"/>
              </a:rPr>
              <a:t>Team has already built and shipped hardware products — see team slide</a:t>
            </a:r>
            <a:endParaRPr lang="en-US" sz="1400" dirty="0"/>
          </a:p>
          <a:p>
            <a:pPr marL="177800" indent="-177800">
              <a:lnSpc>
                <a:spcPct val="112000"/>
              </a:lnSpc>
              <a:spcAft>
                <a:spcPts val="1300"/>
              </a:spcAft>
              <a:buSzPct val="100000"/>
              <a:buChar char="•"/>
            </a:pPr>
            <a:r>
              <a:rPr lang="en-US" sz="1400" b="1" dirty="0">
                <a:solidFill>
                  <a:srgbClr val="00B4D8"/>
                </a:solidFill>
                <a:latin typeface="Inter" pitchFamily="34" charset="0"/>
                <a:ea typeface="Inter" pitchFamily="34" charset="-122"/>
                <a:cs typeface="Inter" pitchFamily="34" charset="-120"/>
              </a:rPr>
              <a:t>Grant funds go straight into the first physical prototype</a:t>
            </a:r>
            <a:endParaRPr lang="en-US" sz="1400" dirty="0"/>
          </a:p>
        </p:txBody>
      </p:sp>
      <p:sp>
        <p:nvSpPr>
          <p:cNvPr id="6" name="Shape 4"/>
          <p:cNvSpPr/>
          <p:nvPr/>
        </p:nvSpPr>
        <p:spPr>
          <a:xfrm>
            <a:off x="566928" y="3840480"/>
            <a:ext cx="5423916" cy="2423160"/>
          </a:xfrm>
          <a:prstGeom prst="roundRect">
            <a:avLst>
              <a:gd name="adj" fmla="val 1887"/>
            </a:avLst>
          </a:prstGeom>
          <a:solidFill>
            <a:srgbClr val="1A2634"/>
          </a:solidFill>
          <a:ln w="15875">
            <a:solidFill>
              <a:srgbClr val="3E5A72"/>
            </a:solidFill>
            <a:prstDash val="dash"/>
          </a:ln>
        </p:spPr>
      </p:sp>
      <p:sp>
        <p:nvSpPr>
          <p:cNvPr id="7" name="Text 5"/>
          <p:cNvSpPr/>
          <p:nvPr/>
        </p:nvSpPr>
        <p:spPr>
          <a:xfrm>
            <a:off x="704088" y="4823460"/>
            <a:ext cx="5149596" cy="457200"/>
          </a:xfrm>
          <a:prstGeom prst="rect">
            <a:avLst/>
          </a:prstGeom>
          <a:noFill/>
          <a:ln/>
        </p:spPr>
        <p:txBody>
          <a:bodyPr wrap="square" lIns="0" tIns="0" rIns="0" bIns="0" rtlCol="0" anchor="ctr"/>
          <a:lstStyle/>
          <a:p>
            <a:pPr algn="ctr" indent="0" marL="0">
              <a:buNone/>
            </a:pPr>
            <a:r>
              <a:rPr lang="en-US" sz="1250" b="1" spc="180" kern="0" dirty="0">
                <a:solidFill>
                  <a:srgbClr val="728EA3"/>
                </a:solidFill>
                <a:latin typeface="Inter" pitchFamily="34" charset="0"/>
                <a:ea typeface="Inter" pitchFamily="34" charset="-122"/>
                <a:cs typeface="Inter" pitchFamily="34" charset="-120"/>
              </a:rPr>
              <a:t>PHOTO — BENCH SETUP / IMAGING CHAMBER</a:t>
            </a:r>
            <a:endParaRPr lang="en-US" sz="1250" dirty="0"/>
          </a:p>
        </p:txBody>
      </p:sp>
      <p:sp>
        <p:nvSpPr>
          <p:cNvPr id="8" name="Shape 6"/>
          <p:cNvSpPr/>
          <p:nvPr/>
        </p:nvSpPr>
        <p:spPr>
          <a:xfrm>
            <a:off x="6201156" y="3840480"/>
            <a:ext cx="5423916" cy="2423160"/>
          </a:xfrm>
          <a:prstGeom prst="roundRect">
            <a:avLst>
              <a:gd name="adj" fmla="val 1887"/>
            </a:avLst>
          </a:prstGeom>
          <a:solidFill>
            <a:srgbClr val="1A2634"/>
          </a:solidFill>
          <a:ln w="15875">
            <a:solidFill>
              <a:srgbClr val="3E5A72"/>
            </a:solidFill>
            <a:prstDash val="dash"/>
          </a:ln>
        </p:spPr>
      </p:sp>
      <p:sp>
        <p:nvSpPr>
          <p:cNvPr id="9" name="Text 7"/>
          <p:cNvSpPr/>
          <p:nvPr/>
        </p:nvSpPr>
        <p:spPr>
          <a:xfrm>
            <a:off x="6338316" y="4823460"/>
            <a:ext cx="5149596" cy="457200"/>
          </a:xfrm>
          <a:prstGeom prst="rect">
            <a:avLst/>
          </a:prstGeom>
          <a:noFill/>
          <a:ln/>
        </p:spPr>
        <p:txBody>
          <a:bodyPr wrap="square" lIns="0" tIns="0" rIns="0" bIns="0" rtlCol="0" anchor="ctr"/>
          <a:lstStyle/>
          <a:p>
            <a:pPr algn="ctr" indent="0" marL="0">
              <a:buNone/>
            </a:pPr>
            <a:r>
              <a:rPr lang="en-US" sz="1250" b="1" spc="180" kern="0" dirty="0">
                <a:solidFill>
                  <a:srgbClr val="728EA3"/>
                </a:solidFill>
                <a:latin typeface="Inter" pitchFamily="34" charset="0"/>
                <a:ea typeface="Inter" pitchFamily="34" charset="-122"/>
                <a:cs typeface="Inter" pitchFamily="34" charset="-120"/>
              </a:rPr>
              <a:t>SCREENSHOT — MODEL OUTPUT (PASS / FAIL)</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MILESTONES</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09 / 12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12-month milestone plan</a:t>
            </a:r>
            <a:endParaRPr lang="en-US" sz="2600" dirty="0"/>
          </a:p>
        </p:txBody>
      </p:sp>
      <p:sp>
        <p:nvSpPr>
          <p:cNvPr id="5" name="Shape 3"/>
          <p:cNvSpPr/>
          <p:nvPr/>
        </p:nvSpPr>
        <p:spPr>
          <a:xfrm>
            <a:off x="1853184" y="1938528"/>
            <a:ext cx="8485632" cy="0"/>
          </a:xfrm>
          <a:prstGeom prst="line">
            <a:avLst/>
          </a:prstGeom>
          <a:noFill/>
          <a:ln w="15875">
            <a:solidFill>
              <a:srgbClr val="2E4356"/>
            </a:solidFill>
            <a:prstDash val="solid"/>
          </a:ln>
        </p:spPr>
      </p:sp>
      <p:sp>
        <p:nvSpPr>
          <p:cNvPr id="6" name="Shape 4"/>
          <p:cNvSpPr/>
          <p:nvPr/>
        </p:nvSpPr>
        <p:spPr>
          <a:xfrm>
            <a:off x="1770888" y="1856232"/>
            <a:ext cx="164592" cy="164592"/>
          </a:xfrm>
          <a:prstGeom prst="ellipse">
            <a:avLst/>
          </a:prstGeom>
          <a:solidFill>
            <a:srgbClr val="00B4D8"/>
          </a:solidFill>
          <a:ln/>
        </p:spPr>
      </p:sp>
      <p:sp>
        <p:nvSpPr>
          <p:cNvPr id="7" name="Shape 5"/>
          <p:cNvSpPr/>
          <p:nvPr/>
        </p:nvSpPr>
        <p:spPr>
          <a:xfrm>
            <a:off x="566928" y="2240280"/>
            <a:ext cx="2572512" cy="3246120"/>
          </a:xfrm>
          <a:prstGeom prst="roundRect">
            <a:avLst>
              <a:gd name="adj" fmla="val 1777"/>
            </a:avLst>
          </a:prstGeom>
          <a:solidFill>
            <a:srgbClr val="223244"/>
          </a:solidFill>
          <a:ln/>
        </p:spPr>
      </p:sp>
      <p:sp>
        <p:nvSpPr>
          <p:cNvPr id="8" name="Shape 6"/>
          <p:cNvSpPr/>
          <p:nvPr/>
        </p:nvSpPr>
        <p:spPr>
          <a:xfrm>
            <a:off x="566928" y="3931920"/>
            <a:ext cx="2572512" cy="1554480"/>
          </a:xfrm>
          <a:prstGeom prst="rect">
            <a:avLst/>
          </a:prstGeom>
          <a:solidFill>
            <a:srgbClr val="1A2634"/>
          </a:solidFill>
          <a:ln/>
        </p:spPr>
      </p:sp>
      <p:sp>
        <p:nvSpPr>
          <p:cNvPr id="9" name="Text 7"/>
          <p:cNvSpPr/>
          <p:nvPr/>
        </p:nvSpPr>
        <p:spPr>
          <a:xfrm>
            <a:off x="786384" y="2404872"/>
            <a:ext cx="2133600" cy="219456"/>
          </a:xfrm>
          <a:prstGeom prst="rect">
            <a:avLst/>
          </a:prstGeom>
          <a:noFill/>
          <a:ln/>
        </p:spPr>
        <p:txBody>
          <a:bodyPr wrap="square" lIns="0" tIns="0" rIns="0" bIns="0" rtlCol="0" anchor="ctr"/>
          <a:lstStyle/>
          <a:p>
            <a:pPr indent="0" marL="0">
              <a:buNone/>
            </a:pPr>
            <a:r>
              <a:rPr lang="en-US" sz="950" b="1" spc="160" kern="0" dirty="0">
                <a:solidFill>
                  <a:srgbClr val="00B4D8"/>
                </a:solidFill>
                <a:latin typeface="Inter" pitchFamily="34" charset="0"/>
                <a:ea typeface="Inter" pitchFamily="34" charset="-122"/>
                <a:cs typeface="Inter" pitchFamily="34" charset="-120"/>
              </a:rPr>
              <a:t>MONTHS 1–3</a:t>
            </a:r>
            <a:endParaRPr lang="en-US" sz="950" dirty="0"/>
          </a:p>
        </p:txBody>
      </p:sp>
      <p:sp>
        <p:nvSpPr>
          <p:cNvPr id="10" name="Text 8"/>
          <p:cNvSpPr/>
          <p:nvPr/>
        </p:nvSpPr>
        <p:spPr>
          <a:xfrm>
            <a:off x="786384" y="2670048"/>
            <a:ext cx="2133600" cy="11887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Inter" pitchFamily="34" charset="0"/>
                <a:ea typeface="Inter" pitchFamily="34" charset="-122"/>
                <a:cs typeface="Inter" pitchFamily="34" charset="-120"/>
              </a:rPr>
              <a:t>Alpha station built; dataset and training pipeline</a:t>
            </a:r>
            <a:endParaRPr lang="en-US" sz="1350" dirty="0"/>
          </a:p>
        </p:txBody>
      </p:sp>
      <p:sp>
        <p:nvSpPr>
          <p:cNvPr id="11" name="Text 9"/>
          <p:cNvSpPr/>
          <p:nvPr/>
        </p:nvSpPr>
        <p:spPr>
          <a:xfrm>
            <a:off x="786384" y="4069080"/>
            <a:ext cx="2133600"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PROOF AT THE END</a:t>
            </a:r>
            <a:endParaRPr lang="en-US" sz="950" dirty="0"/>
          </a:p>
        </p:txBody>
      </p:sp>
      <p:sp>
        <p:nvSpPr>
          <p:cNvPr id="12" name="Text 10"/>
          <p:cNvSpPr/>
          <p:nvPr/>
        </p:nvSpPr>
        <p:spPr>
          <a:xfrm>
            <a:off x="786384" y="4325112"/>
            <a:ext cx="2133600" cy="1051560"/>
          </a:xfrm>
          <a:prstGeom prst="rect">
            <a:avLst/>
          </a:prstGeom>
          <a:noFill/>
          <a:ln/>
        </p:spPr>
        <p:txBody>
          <a:bodyPr wrap="square" lIns="0" tIns="0" rIns="0" bIns="0" rtlCol="0" anchor="t"/>
          <a:lstStyle/>
          <a:p>
            <a:pPr indent="0" marL="0">
              <a:lnSpc>
                <a:spcPct val="112000"/>
              </a:lnSpc>
              <a:buNone/>
            </a:pPr>
            <a:r>
              <a:rPr lang="en-US" sz="1200" dirty="0">
                <a:solidFill>
                  <a:srgbClr val="00B4D8"/>
                </a:solidFill>
                <a:latin typeface="Inter" pitchFamily="34" charset="0"/>
                <a:ea typeface="Inter" pitchFamily="34" charset="-122"/>
                <a:cs typeface="Inter" pitchFamily="34" charset="-120"/>
              </a:rPr>
              <a:t>1 working unit, ≥90% accuracy on lab samples</a:t>
            </a:r>
            <a:endParaRPr lang="en-US" sz="1200" dirty="0"/>
          </a:p>
        </p:txBody>
      </p:sp>
      <p:sp>
        <p:nvSpPr>
          <p:cNvPr id="13" name="Shape 11"/>
          <p:cNvSpPr/>
          <p:nvPr/>
        </p:nvSpPr>
        <p:spPr>
          <a:xfrm>
            <a:off x="4599432" y="1856232"/>
            <a:ext cx="164592" cy="164592"/>
          </a:xfrm>
          <a:prstGeom prst="ellipse">
            <a:avLst/>
          </a:prstGeom>
          <a:solidFill>
            <a:srgbClr val="00B4D8"/>
          </a:solidFill>
          <a:ln/>
        </p:spPr>
      </p:sp>
      <p:sp>
        <p:nvSpPr>
          <p:cNvPr id="14" name="Shape 12"/>
          <p:cNvSpPr/>
          <p:nvPr/>
        </p:nvSpPr>
        <p:spPr>
          <a:xfrm>
            <a:off x="3395472" y="2240280"/>
            <a:ext cx="2572512" cy="3246120"/>
          </a:xfrm>
          <a:prstGeom prst="roundRect">
            <a:avLst>
              <a:gd name="adj" fmla="val 1777"/>
            </a:avLst>
          </a:prstGeom>
          <a:solidFill>
            <a:srgbClr val="223244"/>
          </a:solidFill>
          <a:ln/>
        </p:spPr>
      </p:sp>
      <p:sp>
        <p:nvSpPr>
          <p:cNvPr id="15" name="Shape 13"/>
          <p:cNvSpPr/>
          <p:nvPr/>
        </p:nvSpPr>
        <p:spPr>
          <a:xfrm>
            <a:off x="3395472" y="3931920"/>
            <a:ext cx="2572512" cy="1554480"/>
          </a:xfrm>
          <a:prstGeom prst="rect">
            <a:avLst/>
          </a:prstGeom>
          <a:solidFill>
            <a:srgbClr val="1A2634"/>
          </a:solidFill>
          <a:ln/>
        </p:spPr>
      </p:sp>
      <p:sp>
        <p:nvSpPr>
          <p:cNvPr id="16" name="Text 14"/>
          <p:cNvSpPr/>
          <p:nvPr/>
        </p:nvSpPr>
        <p:spPr>
          <a:xfrm>
            <a:off x="3614928" y="2404872"/>
            <a:ext cx="2133600" cy="219456"/>
          </a:xfrm>
          <a:prstGeom prst="rect">
            <a:avLst/>
          </a:prstGeom>
          <a:noFill/>
          <a:ln/>
        </p:spPr>
        <p:txBody>
          <a:bodyPr wrap="square" lIns="0" tIns="0" rIns="0" bIns="0" rtlCol="0" anchor="ctr"/>
          <a:lstStyle/>
          <a:p>
            <a:pPr indent="0" marL="0">
              <a:buNone/>
            </a:pPr>
            <a:r>
              <a:rPr lang="en-US" sz="950" b="1" spc="160" kern="0" dirty="0">
                <a:solidFill>
                  <a:srgbClr val="00B4D8"/>
                </a:solidFill>
                <a:latin typeface="Inter" pitchFamily="34" charset="0"/>
                <a:ea typeface="Inter" pitchFamily="34" charset="-122"/>
                <a:cs typeface="Inter" pitchFamily="34" charset="-120"/>
              </a:rPr>
              <a:t>MONTHS 4–6</a:t>
            </a:r>
            <a:endParaRPr lang="en-US" sz="950" dirty="0"/>
          </a:p>
        </p:txBody>
      </p:sp>
      <p:sp>
        <p:nvSpPr>
          <p:cNvPr id="17" name="Text 15"/>
          <p:cNvSpPr/>
          <p:nvPr/>
        </p:nvSpPr>
        <p:spPr>
          <a:xfrm>
            <a:off x="3614928" y="2670048"/>
            <a:ext cx="2133600" cy="11887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Inter" pitchFamily="34" charset="0"/>
                <a:ea typeface="Inter" pitchFamily="34" charset="-122"/>
                <a:cs typeface="Inter" pitchFamily="34" charset="-120"/>
              </a:rPr>
              <a:t>Beta v1 ×3 units; no-code training screen; phone dashboard</a:t>
            </a:r>
            <a:endParaRPr lang="en-US" sz="1350" dirty="0"/>
          </a:p>
        </p:txBody>
      </p:sp>
      <p:sp>
        <p:nvSpPr>
          <p:cNvPr id="18" name="Text 16"/>
          <p:cNvSpPr/>
          <p:nvPr/>
        </p:nvSpPr>
        <p:spPr>
          <a:xfrm>
            <a:off x="3614928" y="4069080"/>
            <a:ext cx="2133600"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PROOF AT THE END</a:t>
            </a:r>
            <a:endParaRPr lang="en-US" sz="950" dirty="0"/>
          </a:p>
        </p:txBody>
      </p:sp>
      <p:sp>
        <p:nvSpPr>
          <p:cNvPr id="19" name="Text 17"/>
          <p:cNvSpPr/>
          <p:nvPr/>
        </p:nvSpPr>
        <p:spPr>
          <a:xfrm>
            <a:off x="3614928" y="4325112"/>
            <a:ext cx="2133600" cy="1051560"/>
          </a:xfrm>
          <a:prstGeom prst="rect">
            <a:avLst/>
          </a:prstGeom>
          <a:noFill/>
          <a:ln/>
        </p:spPr>
        <p:txBody>
          <a:bodyPr wrap="square" lIns="0" tIns="0" rIns="0" bIns="0" rtlCol="0" anchor="t"/>
          <a:lstStyle/>
          <a:p>
            <a:pPr indent="0" marL="0">
              <a:lnSpc>
                <a:spcPct val="112000"/>
              </a:lnSpc>
              <a:buNone/>
            </a:pPr>
            <a:r>
              <a:rPr lang="en-US" sz="1200" dirty="0">
                <a:solidFill>
                  <a:srgbClr val="00B4D8"/>
                </a:solidFill>
                <a:latin typeface="Inter" pitchFamily="34" charset="0"/>
                <a:ea typeface="Inter" pitchFamily="34" charset="-122"/>
                <a:cs typeface="Inter" pitchFamily="34" charset="-120"/>
              </a:rPr>
              <a:t>3 units installed in 3 factories</a:t>
            </a:r>
            <a:endParaRPr lang="en-US" sz="1200" dirty="0"/>
          </a:p>
        </p:txBody>
      </p:sp>
      <p:sp>
        <p:nvSpPr>
          <p:cNvPr id="20" name="Shape 18"/>
          <p:cNvSpPr/>
          <p:nvPr/>
        </p:nvSpPr>
        <p:spPr>
          <a:xfrm>
            <a:off x="7427976" y="1856232"/>
            <a:ext cx="164592" cy="164592"/>
          </a:xfrm>
          <a:prstGeom prst="ellipse">
            <a:avLst/>
          </a:prstGeom>
          <a:solidFill>
            <a:srgbClr val="00B4D8"/>
          </a:solidFill>
          <a:ln/>
        </p:spPr>
      </p:sp>
      <p:sp>
        <p:nvSpPr>
          <p:cNvPr id="21" name="Shape 19"/>
          <p:cNvSpPr/>
          <p:nvPr/>
        </p:nvSpPr>
        <p:spPr>
          <a:xfrm>
            <a:off x="6224016" y="2240280"/>
            <a:ext cx="2572512" cy="3246120"/>
          </a:xfrm>
          <a:prstGeom prst="roundRect">
            <a:avLst>
              <a:gd name="adj" fmla="val 1777"/>
            </a:avLst>
          </a:prstGeom>
          <a:solidFill>
            <a:srgbClr val="223244"/>
          </a:solidFill>
          <a:ln/>
        </p:spPr>
      </p:sp>
      <p:sp>
        <p:nvSpPr>
          <p:cNvPr id="22" name="Shape 20"/>
          <p:cNvSpPr/>
          <p:nvPr/>
        </p:nvSpPr>
        <p:spPr>
          <a:xfrm>
            <a:off x="6224016" y="3931920"/>
            <a:ext cx="2572512" cy="1554480"/>
          </a:xfrm>
          <a:prstGeom prst="rect">
            <a:avLst/>
          </a:prstGeom>
          <a:solidFill>
            <a:srgbClr val="1A2634"/>
          </a:solidFill>
          <a:ln/>
        </p:spPr>
      </p:sp>
      <p:sp>
        <p:nvSpPr>
          <p:cNvPr id="23" name="Text 21"/>
          <p:cNvSpPr/>
          <p:nvPr/>
        </p:nvSpPr>
        <p:spPr>
          <a:xfrm>
            <a:off x="6443472" y="2404872"/>
            <a:ext cx="2133600" cy="219456"/>
          </a:xfrm>
          <a:prstGeom prst="rect">
            <a:avLst/>
          </a:prstGeom>
          <a:noFill/>
          <a:ln/>
        </p:spPr>
        <p:txBody>
          <a:bodyPr wrap="square" lIns="0" tIns="0" rIns="0" bIns="0" rtlCol="0" anchor="ctr"/>
          <a:lstStyle/>
          <a:p>
            <a:pPr indent="0" marL="0">
              <a:buNone/>
            </a:pPr>
            <a:r>
              <a:rPr lang="en-US" sz="950" b="1" spc="160" kern="0" dirty="0">
                <a:solidFill>
                  <a:srgbClr val="00B4D8"/>
                </a:solidFill>
                <a:latin typeface="Inter" pitchFamily="34" charset="0"/>
                <a:ea typeface="Inter" pitchFamily="34" charset="-122"/>
                <a:cs typeface="Inter" pitchFamily="34" charset="-120"/>
              </a:rPr>
              <a:t>MONTHS 7–9</a:t>
            </a:r>
            <a:endParaRPr lang="en-US" sz="950" dirty="0"/>
          </a:p>
        </p:txBody>
      </p:sp>
      <p:sp>
        <p:nvSpPr>
          <p:cNvPr id="24" name="Text 22"/>
          <p:cNvSpPr/>
          <p:nvPr/>
        </p:nvSpPr>
        <p:spPr>
          <a:xfrm>
            <a:off x="6443472" y="2670048"/>
            <a:ext cx="2133600" cy="11887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Inter" pitchFamily="34" charset="0"/>
                <a:ea typeface="Inter" pitchFamily="34" charset="-122"/>
                <a:cs typeface="Inter" pitchFamily="34" charset="-120"/>
              </a:rPr>
              <a:t>Field hardening; lighting loop; conveyor + reject add-on; electrical safety pre-check</a:t>
            </a:r>
            <a:endParaRPr lang="en-US" sz="1350" dirty="0"/>
          </a:p>
        </p:txBody>
      </p:sp>
      <p:sp>
        <p:nvSpPr>
          <p:cNvPr id="25" name="Text 23"/>
          <p:cNvSpPr/>
          <p:nvPr/>
        </p:nvSpPr>
        <p:spPr>
          <a:xfrm>
            <a:off x="6443472" y="4069080"/>
            <a:ext cx="2133600"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PROOF AT THE END</a:t>
            </a:r>
            <a:endParaRPr lang="en-US" sz="950" dirty="0"/>
          </a:p>
        </p:txBody>
      </p:sp>
      <p:sp>
        <p:nvSpPr>
          <p:cNvPr id="26" name="Text 24"/>
          <p:cNvSpPr/>
          <p:nvPr/>
        </p:nvSpPr>
        <p:spPr>
          <a:xfrm>
            <a:off x="6443472" y="4325112"/>
            <a:ext cx="2133600" cy="1051560"/>
          </a:xfrm>
          <a:prstGeom prst="rect">
            <a:avLst/>
          </a:prstGeom>
          <a:noFill/>
          <a:ln/>
        </p:spPr>
        <p:txBody>
          <a:bodyPr wrap="square" lIns="0" tIns="0" rIns="0" bIns="0" rtlCol="0" anchor="t"/>
          <a:lstStyle/>
          <a:p>
            <a:pPr indent="0" marL="0">
              <a:lnSpc>
                <a:spcPct val="112000"/>
              </a:lnSpc>
              <a:buNone/>
            </a:pPr>
            <a:r>
              <a:rPr lang="en-US" sz="1200" dirty="0">
                <a:solidFill>
                  <a:srgbClr val="00B4D8"/>
                </a:solidFill>
                <a:latin typeface="Inter" pitchFamily="34" charset="0"/>
                <a:ea typeface="Inter" pitchFamily="34" charset="-122"/>
                <a:cs typeface="Inter" pitchFamily="34" charset="-120"/>
              </a:rPr>
              <a:t>≥95% accuracy on 2 real product families, 30–60 parts/min</a:t>
            </a:r>
            <a:endParaRPr lang="en-US" sz="1200" dirty="0"/>
          </a:p>
        </p:txBody>
      </p:sp>
      <p:sp>
        <p:nvSpPr>
          <p:cNvPr id="27" name="Shape 25"/>
          <p:cNvSpPr/>
          <p:nvPr/>
        </p:nvSpPr>
        <p:spPr>
          <a:xfrm>
            <a:off x="10256520" y="1856232"/>
            <a:ext cx="164592" cy="164592"/>
          </a:xfrm>
          <a:prstGeom prst="ellipse">
            <a:avLst/>
          </a:prstGeom>
          <a:solidFill>
            <a:srgbClr val="00B4D8"/>
          </a:solidFill>
          <a:ln/>
        </p:spPr>
      </p:sp>
      <p:sp>
        <p:nvSpPr>
          <p:cNvPr id="28" name="Shape 26"/>
          <p:cNvSpPr/>
          <p:nvPr/>
        </p:nvSpPr>
        <p:spPr>
          <a:xfrm>
            <a:off x="9052560" y="2240280"/>
            <a:ext cx="2572512" cy="3246120"/>
          </a:xfrm>
          <a:prstGeom prst="roundRect">
            <a:avLst>
              <a:gd name="adj" fmla="val 1777"/>
            </a:avLst>
          </a:prstGeom>
          <a:solidFill>
            <a:srgbClr val="223244"/>
          </a:solidFill>
          <a:ln/>
        </p:spPr>
      </p:sp>
      <p:sp>
        <p:nvSpPr>
          <p:cNvPr id="29" name="Shape 27"/>
          <p:cNvSpPr/>
          <p:nvPr/>
        </p:nvSpPr>
        <p:spPr>
          <a:xfrm>
            <a:off x="9052560" y="3931920"/>
            <a:ext cx="2572512" cy="1554480"/>
          </a:xfrm>
          <a:prstGeom prst="rect">
            <a:avLst/>
          </a:prstGeom>
          <a:solidFill>
            <a:srgbClr val="1A2634"/>
          </a:solidFill>
          <a:ln/>
        </p:spPr>
      </p:sp>
      <p:sp>
        <p:nvSpPr>
          <p:cNvPr id="30" name="Text 28"/>
          <p:cNvSpPr/>
          <p:nvPr/>
        </p:nvSpPr>
        <p:spPr>
          <a:xfrm>
            <a:off x="9272016" y="2404872"/>
            <a:ext cx="2133600" cy="219456"/>
          </a:xfrm>
          <a:prstGeom prst="rect">
            <a:avLst/>
          </a:prstGeom>
          <a:noFill/>
          <a:ln/>
        </p:spPr>
        <p:txBody>
          <a:bodyPr wrap="square" lIns="0" tIns="0" rIns="0" bIns="0" rtlCol="0" anchor="ctr"/>
          <a:lstStyle/>
          <a:p>
            <a:pPr indent="0" marL="0">
              <a:buNone/>
            </a:pPr>
            <a:r>
              <a:rPr lang="en-US" sz="950" b="1" spc="160" kern="0" dirty="0">
                <a:solidFill>
                  <a:srgbClr val="00B4D8"/>
                </a:solidFill>
                <a:latin typeface="Inter" pitchFamily="34" charset="0"/>
                <a:ea typeface="Inter" pitchFamily="34" charset="-122"/>
                <a:cs typeface="Inter" pitchFamily="34" charset="-120"/>
              </a:rPr>
              <a:t>MONTHS 10–12</a:t>
            </a:r>
            <a:endParaRPr lang="en-US" sz="950" dirty="0"/>
          </a:p>
        </p:txBody>
      </p:sp>
      <p:sp>
        <p:nvSpPr>
          <p:cNvPr id="31" name="Text 29"/>
          <p:cNvSpPr/>
          <p:nvPr/>
        </p:nvSpPr>
        <p:spPr>
          <a:xfrm>
            <a:off x="9272016" y="2670048"/>
            <a:ext cx="2133600" cy="11887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Inter" pitchFamily="34" charset="0"/>
                <a:ea typeface="Inter" pitchFamily="34" charset="-122"/>
                <a:cs typeface="Inter" pitchFamily="34" charset="-120"/>
              </a:rPr>
              <a:t>10 units built; design registration and patent filing; manufacturing BOM frozen</a:t>
            </a:r>
            <a:endParaRPr lang="en-US" sz="1350" dirty="0"/>
          </a:p>
        </p:txBody>
      </p:sp>
      <p:sp>
        <p:nvSpPr>
          <p:cNvPr id="32" name="Text 30"/>
          <p:cNvSpPr/>
          <p:nvPr/>
        </p:nvSpPr>
        <p:spPr>
          <a:xfrm>
            <a:off x="9272016" y="4069080"/>
            <a:ext cx="2133600"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PROOF AT THE END</a:t>
            </a:r>
            <a:endParaRPr lang="en-US" sz="950" dirty="0"/>
          </a:p>
        </p:txBody>
      </p:sp>
      <p:sp>
        <p:nvSpPr>
          <p:cNvPr id="33" name="Text 31"/>
          <p:cNvSpPr/>
          <p:nvPr/>
        </p:nvSpPr>
        <p:spPr>
          <a:xfrm>
            <a:off x="9272016" y="4325112"/>
            <a:ext cx="2133600" cy="1051560"/>
          </a:xfrm>
          <a:prstGeom prst="rect">
            <a:avLst/>
          </a:prstGeom>
          <a:noFill/>
          <a:ln/>
        </p:spPr>
        <p:txBody>
          <a:bodyPr wrap="square" lIns="0" tIns="0" rIns="0" bIns="0" rtlCol="0" anchor="t"/>
          <a:lstStyle/>
          <a:p>
            <a:pPr indent="0" marL="0">
              <a:lnSpc>
                <a:spcPct val="112000"/>
              </a:lnSpc>
              <a:buNone/>
            </a:pPr>
            <a:r>
              <a:rPr lang="en-US" sz="1200" dirty="0">
                <a:solidFill>
                  <a:srgbClr val="00B4D8"/>
                </a:solidFill>
                <a:latin typeface="Inter" pitchFamily="34" charset="0"/>
                <a:ea typeface="Inter" pitchFamily="34" charset="-122"/>
                <a:cs typeface="Inter" pitchFamily="34" charset="-120"/>
              </a:rPr>
              <a:t>10 pilot or paying customers, BOM under ₹27,000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FUND UTILIZATION PLAN</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10 / 12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Requested: ₹15,00,000</a:t>
            </a:r>
            <a:endParaRPr lang="en-US" sz="2600" dirty="0"/>
          </a:p>
        </p:txBody>
      </p:sp>
      <p:sp>
        <p:nvSpPr>
          <p:cNvPr id="5" name="Text 3"/>
          <p:cNvSpPr/>
          <p:nvPr/>
        </p:nvSpPr>
        <p:spPr>
          <a:xfrm>
            <a:off x="566928" y="1207008"/>
            <a:ext cx="11058144" cy="274320"/>
          </a:xfrm>
          <a:prstGeom prst="rect">
            <a:avLst/>
          </a:prstGeom>
          <a:noFill/>
          <a:ln/>
        </p:spPr>
        <p:txBody>
          <a:bodyPr wrap="square" lIns="0" tIns="0" rIns="0" bIns="0" rtlCol="0" anchor="ctr"/>
          <a:lstStyle/>
          <a:p>
            <a:pPr indent="0" marL="0">
              <a:buNone/>
            </a:pPr>
            <a:r>
              <a:rPr lang="en-US" sz="1250" dirty="0">
                <a:solidFill>
                  <a:srgbClr val="9FB3C4"/>
                </a:solidFill>
                <a:latin typeface="Inter" pitchFamily="34" charset="0"/>
                <a:ea typeface="Inter" pitchFamily="34" charset="-122"/>
                <a:cs typeface="Inter" pitchFamily="34" charset="-120"/>
              </a:rPr>
              <a:t>MSME Innovative Scheme — released against milestones through AIC-GISC</a:t>
            </a:r>
            <a:endParaRPr lang="en-US" sz="1250" dirty="0"/>
          </a:p>
        </p:txBody>
      </p:sp>
      <p:graphicFrame>
        <p:nvGraphicFramePr>
          <p:cNvPr id="6" name="Chart 0" descr=""/>
          <p:cNvGraphicFramePr/>
          <p:nvPr/>
        </p:nvGraphicFramePr>
        <p:xfrm>
          <a:off x="457200" y="1572768"/>
          <a:ext cx="411480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1508760" y="3172968"/>
            <a:ext cx="2011680" cy="640080"/>
          </a:xfrm>
          <a:prstGeom prst="rect">
            <a:avLst/>
          </a:prstGeom>
          <a:noFill/>
          <a:ln/>
        </p:spPr>
        <p:txBody>
          <a:bodyPr wrap="square" lIns="0" tIns="0" rIns="0" bIns="0" rtlCol="0" anchor="ctr"/>
          <a:lstStyle/>
          <a:p>
            <a:pPr algn="ctr" indent="0" marL="0">
              <a:buNone/>
            </a:pPr>
            <a:r>
              <a:rPr lang="en-US" sz="1700" b="1" dirty="0">
                <a:solidFill>
                  <a:srgbClr val="00B4D8"/>
                </a:solidFill>
                <a:latin typeface="Inter" pitchFamily="34" charset="0"/>
                <a:ea typeface="Inter" pitchFamily="34" charset="-122"/>
                <a:cs typeface="Inter" pitchFamily="34" charset="-120"/>
              </a:rPr>
              <a:t>₹15,00,000</a:t>
            </a:r>
            <a:endParaRPr lang="en-US" sz="1700" dirty="0"/>
          </a:p>
          <a:p>
            <a:pPr algn="ctr" indent="0" marL="0">
              <a:buNone/>
            </a:pPr>
            <a:r>
              <a:rPr lang="en-US" sz="950" b="1" spc="160" kern="0" dirty="0">
                <a:solidFill>
                  <a:srgbClr val="7D93A6"/>
                </a:solidFill>
                <a:latin typeface="Inter" pitchFamily="34" charset="0"/>
                <a:ea typeface="Inter" pitchFamily="34" charset="-122"/>
                <a:cs typeface="Inter" pitchFamily="34" charset="-120"/>
              </a:rPr>
              <a:t>TOTAL</a:t>
            </a:r>
            <a:endParaRPr lang="en-US" sz="1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846320" y="1600200"/>
          <a:ext cx="9144000" cy="914400"/>
        </p:xfrm>
        <a:graphic>
          <a:graphicData uri="http://schemas.openxmlformats.org/drawingml/2006/table">
            <a:tbl>
              <a:tblPr/>
              <a:tblGrid>
                <a:gridCol w="128016"/>
                <a:gridCol w="4224528"/>
                <a:gridCol w="1298448"/>
                <a:gridCol w="777240"/>
              </a:tblGrid>
              <a:tr h="310896">
                <a:tc>
                  <a:txBody>
                    <a:bodyPr/>
                    <a:lstStyle/>
                    <a:p>
                      <a:pPr algn="l" indent="0" marL="0">
                        <a:buNone/>
                      </a:pPr>
                      <a:endParaRPr lang="en-US" sz="900" dirty="0">
                        <a:latin typeface="Inter" charset="0"/>
                        <a:ea typeface="Inter" charset="0"/>
                        <a:cs typeface="Inter" charset="0"/>
                      </a:endParaRPr>
                    </a:p>
                  </a:txBody>
                  <a:tcPr marL="254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l" indent="0" marL="0">
                        <a:buNone/>
                      </a:pPr>
                      <a:r>
                        <a:rPr lang="en-US" sz="900" b="1" spc="140" kern="0" dirty="0">
                          <a:solidFill>
                            <a:srgbClr val="00B4D8"/>
                          </a:solidFill>
                          <a:latin typeface="Inter" pitchFamily="34" charset="0"/>
                          <a:ea typeface="Inter" pitchFamily="34" charset="-122"/>
                          <a:cs typeface="Inter" pitchFamily="34" charset="-120"/>
                        </a:rPr>
                        <a:t>Head</a:t>
                      </a:r>
                      <a:endParaRPr lang="en-US" sz="90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r" indent="0" marL="0">
                        <a:buNone/>
                      </a:pPr>
                      <a:r>
                        <a:rPr lang="en-US" sz="900" b="1" spc="140" kern="0" dirty="0">
                          <a:solidFill>
                            <a:srgbClr val="00B4D8"/>
                          </a:solidFill>
                          <a:latin typeface="Inter" pitchFamily="34" charset="0"/>
                          <a:ea typeface="Inter" pitchFamily="34" charset="-122"/>
                          <a:cs typeface="Inter" pitchFamily="34" charset="-120"/>
                        </a:rPr>
                        <a:t>Amount</a:t>
                      </a:r>
                      <a:endParaRPr lang="en-US" sz="90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r" indent="0" marL="0">
                        <a:buNone/>
                      </a:pPr>
                      <a:r>
                        <a:rPr lang="en-US" sz="900" b="1" spc="140" kern="0" dirty="0">
                          <a:solidFill>
                            <a:srgbClr val="00B4D8"/>
                          </a:solidFill>
                          <a:latin typeface="Inter" pitchFamily="34" charset="0"/>
                          <a:ea typeface="Inter" pitchFamily="34" charset="-122"/>
                          <a:cs typeface="Inter" pitchFamily="34" charset="-120"/>
                        </a:rPr>
                        <a:t>%</a:t>
                      </a:r>
                      <a:endParaRPr lang="en-US" sz="90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r>
              <a:tr h="310896">
                <a:tc>
                  <a:txBody>
                    <a:bodyPr/>
                    <a:lstStyle/>
                    <a:p>
                      <a:pPr algn="l" indent="0" marL="0">
                        <a:buNone/>
                      </a:pP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0B4D8"/>
                    </a:solidFill>
                  </a:tcPr>
                </a:tc>
                <a:tc>
                  <a:txBody>
                    <a:bodyPr/>
                    <a:lstStyle/>
                    <a:p>
                      <a:pPr algn="l" indent="0" marL="0">
                        <a:buNone/>
                      </a:pPr>
                      <a:r>
                        <a:rPr lang="en-US" sz="1000" dirty="0">
                          <a:solidFill>
                            <a:srgbClr val="FFFFFF"/>
                          </a:solidFill>
                          <a:latin typeface="Inter" pitchFamily="34" charset="0"/>
                          <a:ea typeface="Inter" pitchFamily="34" charset="-122"/>
                          <a:cs typeface="Inter" pitchFamily="34" charset="-120"/>
                        </a:rPr>
                        <a:t>Prototype hardware — 10 stations across builds</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000" b="1" dirty="0">
                          <a:solidFill>
                            <a:srgbClr val="FFFFFF"/>
                          </a:solidFill>
                          <a:latin typeface="Inter" pitchFamily="34" charset="0"/>
                          <a:ea typeface="Inter" pitchFamily="34" charset="-122"/>
                          <a:cs typeface="Inter" pitchFamily="34" charset="-120"/>
                        </a:rPr>
                        <a:t>₹4,50,000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000" b="1" dirty="0">
                          <a:solidFill>
                            <a:srgbClr val="00B4D8"/>
                          </a:solidFill>
                          <a:latin typeface="Inter" pitchFamily="34" charset="0"/>
                          <a:ea typeface="Inter" pitchFamily="34" charset="-122"/>
                          <a:cs typeface="Inter" pitchFamily="34" charset="-120"/>
                        </a:rPr>
                        <a:t>30%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310896">
                <a:tc>
                  <a:txBody>
                    <a:bodyPr/>
                    <a:lstStyle/>
                    <a:p>
                      <a:pPr algn="l" indent="0" marL="0">
                        <a:buNone/>
                      </a:pP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48CAE4"/>
                    </a:solidFill>
                  </a:tcPr>
                </a:tc>
                <a:tc>
                  <a:txBody>
                    <a:bodyPr/>
                    <a:lstStyle/>
                    <a:p>
                      <a:pPr algn="l" indent="0" marL="0">
                        <a:buNone/>
                      </a:pPr>
                      <a:r>
                        <a:rPr lang="en-US" sz="1000" dirty="0">
                          <a:solidFill>
                            <a:srgbClr val="FFFFFF"/>
                          </a:solidFill>
                          <a:latin typeface="Inter" pitchFamily="34" charset="0"/>
                          <a:ea typeface="Inter" pitchFamily="34" charset="-122"/>
                          <a:cs typeface="Inter" pitchFamily="34" charset="-120"/>
                        </a:rPr>
                        <a:t>Cameras, lenses, lighting, sensors, spares</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000" b="1" dirty="0">
                          <a:solidFill>
                            <a:srgbClr val="FFFFFF"/>
                          </a:solidFill>
                          <a:latin typeface="Inter" pitchFamily="34" charset="0"/>
                          <a:ea typeface="Inter" pitchFamily="34" charset="-122"/>
                          <a:cs typeface="Inter" pitchFamily="34" charset="-120"/>
                        </a:rPr>
                        <a:t>₹2,00,000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000" b="1" dirty="0">
                          <a:solidFill>
                            <a:srgbClr val="00B4D8"/>
                          </a:solidFill>
                          <a:latin typeface="Inter" pitchFamily="34" charset="0"/>
                          <a:ea typeface="Inter" pitchFamily="34" charset="-122"/>
                          <a:cs typeface="Inter" pitchFamily="34" charset="-120"/>
                        </a:rPr>
                        <a:t>13%</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310896">
                <a:tc>
                  <a:txBody>
                    <a:bodyPr/>
                    <a:lstStyle/>
                    <a:p>
                      <a:pPr algn="l" indent="0" marL="0">
                        <a:buNone/>
                      </a:pP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077B6"/>
                    </a:solidFill>
                  </a:tcPr>
                </a:tc>
                <a:tc>
                  <a:txBody>
                    <a:bodyPr/>
                    <a:lstStyle/>
                    <a:p>
                      <a:pPr algn="l" indent="0" marL="0">
                        <a:buNone/>
                      </a:pPr>
                      <a:r>
                        <a:rPr lang="en-US" sz="1000" dirty="0">
                          <a:solidFill>
                            <a:srgbClr val="FFFFFF"/>
                          </a:solidFill>
                          <a:latin typeface="Inter" pitchFamily="34" charset="0"/>
                          <a:ea typeface="Inter" pitchFamily="34" charset="-122"/>
                          <a:cs typeface="Inter" pitchFamily="34" charset="-120"/>
                        </a:rPr>
                        <a:t>AI development — dataset capture, annotation, edge optimisation, compute</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000" b="1" dirty="0">
                          <a:solidFill>
                            <a:srgbClr val="FFFFFF"/>
                          </a:solidFill>
                          <a:latin typeface="Inter" pitchFamily="34" charset="0"/>
                          <a:ea typeface="Inter" pitchFamily="34" charset="-122"/>
                          <a:cs typeface="Inter" pitchFamily="34" charset="-120"/>
                        </a:rPr>
                        <a:t>₹2,50,000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000" b="1" dirty="0">
                          <a:solidFill>
                            <a:srgbClr val="00B4D8"/>
                          </a:solidFill>
                          <a:latin typeface="Inter" pitchFamily="34" charset="0"/>
                          <a:ea typeface="Inter" pitchFamily="34" charset="-122"/>
                          <a:cs typeface="Inter" pitchFamily="34" charset="-120"/>
                        </a:rPr>
                        <a:t>17%</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310896">
                <a:tc>
                  <a:txBody>
                    <a:bodyPr/>
                    <a:lstStyle/>
                    <a:p>
                      <a:pPr algn="l" indent="0" marL="0">
                        <a:buNone/>
                      </a:pP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23E8A"/>
                    </a:solidFill>
                  </a:tcPr>
                </a:tc>
                <a:tc>
                  <a:txBody>
                    <a:bodyPr/>
                    <a:lstStyle/>
                    <a:p>
                      <a:pPr algn="l" indent="0" marL="0">
                        <a:buNone/>
                      </a:pPr>
                      <a:r>
                        <a:rPr lang="en-US" sz="1000" dirty="0">
                          <a:solidFill>
                            <a:srgbClr val="FFFFFF"/>
                          </a:solidFill>
                          <a:latin typeface="Inter" pitchFamily="34" charset="0"/>
                          <a:ea typeface="Inter" pitchFamily="34" charset="-122"/>
                          <a:cs typeface="Inter" pitchFamily="34" charset="-120"/>
                        </a:rPr>
                        <a:t>Enclosure design, tooling and fabrication</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000" b="1" dirty="0">
                          <a:solidFill>
                            <a:srgbClr val="FFFFFF"/>
                          </a:solidFill>
                          <a:latin typeface="Inter" pitchFamily="34" charset="0"/>
                          <a:ea typeface="Inter" pitchFamily="34" charset="-122"/>
                          <a:cs typeface="Inter" pitchFamily="34" charset="-120"/>
                        </a:rPr>
                        <a:t>₹1,80,000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000" b="1" dirty="0">
                          <a:solidFill>
                            <a:srgbClr val="00B4D8"/>
                          </a:solidFill>
                          <a:latin typeface="Inter" pitchFamily="34" charset="0"/>
                          <a:ea typeface="Inter" pitchFamily="34" charset="-122"/>
                          <a:cs typeface="Inter" pitchFamily="34" charset="-120"/>
                        </a:rPr>
                        <a:t>12%</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310896">
                <a:tc>
                  <a:txBody>
                    <a:bodyPr/>
                    <a:lstStyle/>
                    <a:p>
                      <a:pPr algn="l" indent="0" marL="0">
                        <a:buNone/>
                      </a:pP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90E0EF"/>
                    </a:solidFill>
                  </a:tcPr>
                </a:tc>
                <a:tc>
                  <a:txBody>
                    <a:bodyPr/>
                    <a:lstStyle/>
                    <a:p>
                      <a:pPr algn="l" indent="0" marL="0">
                        <a:buNone/>
                      </a:pPr>
                      <a:r>
                        <a:rPr lang="en-US" sz="1000" dirty="0">
                          <a:solidFill>
                            <a:srgbClr val="FFFFFF"/>
                          </a:solidFill>
                          <a:latin typeface="Inter" pitchFamily="34" charset="0"/>
                          <a:ea typeface="Inter" pitchFamily="34" charset="-122"/>
                          <a:cs typeface="Inter" pitchFamily="34" charset="-120"/>
                        </a:rPr>
                        <a:t>Field pilots — installation, travel, on-site data collection</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000" b="1" dirty="0">
                          <a:solidFill>
                            <a:srgbClr val="FFFFFF"/>
                          </a:solidFill>
                          <a:latin typeface="Inter" pitchFamily="34" charset="0"/>
                          <a:ea typeface="Inter" pitchFamily="34" charset="-122"/>
                          <a:cs typeface="Inter" pitchFamily="34" charset="-120"/>
                        </a:rPr>
                        <a:t>₹1,20,000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000" b="1" dirty="0">
                          <a:solidFill>
                            <a:srgbClr val="00B4D8"/>
                          </a:solidFill>
                          <a:latin typeface="Inter" pitchFamily="34" charset="0"/>
                          <a:ea typeface="Inter" pitchFamily="34" charset="-122"/>
                          <a:cs typeface="Inter" pitchFamily="34" charset="-120"/>
                        </a:rPr>
                        <a:t>8%</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310896">
                <a:tc>
                  <a:txBody>
                    <a:bodyPr/>
                    <a:lstStyle/>
                    <a:p>
                      <a:pPr algn="l" indent="0" marL="0">
                        <a:buNone/>
                      </a:pP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096C7"/>
                    </a:solidFill>
                  </a:tcPr>
                </a:tc>
                <a:tc>
                  <a:txBody>
                    <a:bodyPr/>
                    <a:lstStyle/>
                    <a:p>
                      <a:pPr algn="l" indent="0" marL="0">
                        <a:buNone/>
                      </a:pPr>
                      <a:r>
                        <a:rPr lang="en-US" sz="1000" dirty="0">
                          <a:solidFill>
                            <a:srgbClr val="FFFFFF"/>
                          </a:solidFill>
                          <a:latin typeface="Inter" pitchFamily="34" charset="0"/>
                          <a:ea typeface="Inter" pitchFamily="34" charset="-122"/>
                          <a:cs typeface="Inter" pitchFamily="34" charset="-120"/>
                        </a:rPr>
                        <a:t>Testing — electrical safety and EMI/EMC pre-compliance</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000" b="1" dirty="0">
                          <a:solidFill>
                            <a:srgbClr val="FFFFFF"/>
                          </a:solidFill>
                          <a:latin typeface="Inter" pitchFamily="34" charset="0"/>
                          <a:ea typeface="Inter" pitchFamily="34" charset="-122"/>
                          <a:cs typeface="Inter" pitchFamily="34" charset="-120"/>
                        </a:rPr>
                        <a:t>₹1,00,000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000" b="1" dirty="0">
                          <a:solidFill>
                            <a:srgbClr val="00B4D8"/>
                          </a:solidFill>
                          <a:latin typeface="Inter" pitchFamily="34" charset="0"/>
                          <a:ea typeface="Inter" pitchFamily="34" charset="-122"/>
                          <a:cs typeface="Inter" pitchFamily="34" charset="-120"/>
                        </a:rPr>
                        <a:t>7%</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310896">
                <a:tc>
                  <a:txBody>
                    <a:bodyPr/>
                    <a:lstStyle/>
                    <a:p>
                      <a:pPr algn="l" indent="0" marL="0">
                        <a:buNone/>
                      </a:pP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5C8AA6"/>
                    </a:solidFill>
                  </a:tcPr>
                </a:tc>
                <a:tc>
                  <a:txBody>
                    <a:bodyPr/>
                    <a:lstStyle/>
                    <a:p>
                      <a:pPr algn="l" indent="0" marL="0">
                        <a:buNone/>
                      </a:pPr>
                      <a:r>
                        <a:rPr lang="en-US" sz="1000" dirty="0">
                          <a:solidFill>
                            <a:srgbClr val="FFFFFF"/>
                          </a:solidFill>
                          <a:latin typeface="Inter" pitchFamily="34" charset="0"/>
                          <a:ea typeface="Inter" pitchFamily="34" charset="-122"/>
                          <a:cs typeface="Inter" pitchFamily="34" charset="-120"/>
                        </a:rPr>
                        <a:t>IP — design registration and patent drafting/filing</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000" b="1" dirty="0">
                          <a:solidFill>
                            <a:srgbClr val="FFFFFF"/>
                          </a:solidFill>
                          <a:latin typeface="Inter" pitchFamily="34" charset="0"/>
                          <a:ea typeface="Inter" pitchFamily="34" charset="-122"/>
                          <a:cs typeface="Inter" pitchFamily="34" charset="-120"/>
                        </a:rPr>
                        <a:t>₹1,00,000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000" b="1" dirty="0">
                          <a:solidFill>
                            <a:srgbClr val="00B4D8"/>
                          </a:solidFill>
                          <a:latin typeface="Inter" pitchFamily="34" charset="0"/>
                          <a:ea typeface="Inter" pitchFamily="34" charset="-122"/>
                          <a:cs typeface="Inter" pitchFamily="34" charset="-120"/>
                        </a:rPr>
                        <a:t>7%</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310896">
                <a:tc>
                  <a:txBody>
                    <a:bodyPr/>
                    <a:lstStyle/>
                    <a:p>
                      <a:pPr algn="l" indent="0" marL="0">
                        <a:buNone/>
                      </a:pP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34687E"/>
                    </a:solidFill>
                  </a:tcPr>
                </a:tc>
                <a:tc>
                  <a:txBody>
                    <a:bodyPr/>
                    <a:lstStyle/>
                    <a:p>
                      <a:pPr algn="l" indent="0" marL="0">
                        <a:buNone/>
                      </a:pPr>
                      <a:r>
                        <a:rPr lang="en-US" sz="1000" dirty="0">
                          <a:solidFill>
                            <a:srgbClr val="FFFFFF"/>
                          </a:solidFill>
                          <a:latin typeface="Inter" pitchFamily="34" charset="0"/>
                          <a:ea typeface="Inter" pitchFamily="34" charset="-122"/>
                          <a:cs typeface="Inter" pitchFamily="34" charset="-120"/>
                        </a:rPr>
                        <a:t>Dashboard app and cloud for 12 months</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000" b="1" dirty="0">
                          <a:solidFill>
                            <a:srgbClr val="FFFFFF"/>
                          </a:solidFill>
                          <a:latin typeface="Inter" pitchFamily="34" charset="0"/>
                          <a:ea typeface="Inter" pitchFamily="34" charset="-122"/>
                          <a:cs typeface="Inter" pitchFamily="34" charset="-120"/>
                        </a:rPr>
                        <a:t>₹70,000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r" indent="0" marL="0">
                        <a:buNone/>
                      </a:pPr>
                      <a:r>
                        <a:rPr lang="en-US" sz="1000" b="1" dirty="0">
                          <a:solidFill>
                            <a:srgbClr val="00B4D8"/>
                          </a:solidFill>
                          <a:latin typeface="Inter" pitchFamily="34" charset="0"/>
                          <a:ea typeface="Inter" pitchFamily="34" charset="-122"/>
                          <a:cs typeface="Inter" pitchFamily="34" charset="-120"/>
                        </a:rPr>
                        <a:t>5%</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310896">
                <a:tc>
                  <a:txBody>
                    <a:bodyPr/>
                    <a:lstStyle/>
                    <a:p>
                      <a:pPr algn="l" indent="0" marL="0">
                        <a:buNone/>
                      </a:pP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7FB3C8"/>
                    </a:solidFill>
                  </a:tcPr>
                </a:tc>
                <a:tc>
                  <a:txBody>
                    <a:bodyPr/>
                    <a:lstStyle/>
                    <a:p>
                      <a:pPr algn="l" indent="0" marL="0">
                        <a:buNone/>
                      </a:pPr>
                      <a:r>
                        <a:rPr lang="en-US" sz="1000" dirty="0">
                          <a:solidFill>
                            <a:srgbClr val="FFFFFF"/>
                          </a:solidFill>
                          <a:latin typeface="Inter" pitchFamily="34" charset="0"/>
                          <a:ea typeface="Inter" pitchFamily="34" charset="-122"/>
                          <a:cs typeface="Inter" pitchFamily="34" charset="-120"/>
                        </a:rPr>
                        <a:t>Contingency</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000" b="1" dirty="0">
                          <a:solidFill>
                            <a:srgbClr val="FFFFFF"/>
                          </a:solidFill>
                          <a:latin typeface="Inter" pitchFamily="34" charset="0"/>
                          <a:ea typeface="Inter" pitchFamily="34" charset="-122"/>
                          <a:cs typeface="Inter" pitchFamily="34" charset="-120"/>
                        </a:rPr>
                        <a:t>₹30,000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r" indent="0" marL="0">
                        <a:buNone/>
                      </a:pPr>
                      <a:r>
                        <a:rPr lang="en-US" sz="1000" b="1" dirty="0">
                          <a:solidFill>
                            <a:srgbClr val="00B4D8"/>
                          </a:solidFill>
                          <a:latin typeface="Inter" pitchFamily="34" charset="0"/>
                          <a:ea typeface="Inter" pitchFamily="34" charset="-122"/>
                          <a:cs typeface="Inter" pitchFamily="34" charset="-120"/>
                        </a:rPr>
                        <a:t>2%</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310896">
                <a:tc>
                  <a:txBody>
                    <a:bodyPr/>
                    <a:lstStyle/>
                    <a:p>
                      <a:pPr algn="l" indent="0" marL="0">
                        <a:buNone/>
                      </a:pP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A5570"/>
                    </a:solidFill>
                  </a:tcPr>
                </a:tc>
                <a:tc>
                  <a:txBody>
                    <a:bodyPr/>
                    <a:lstStyle/>
                    <a:p>
                      <a:pPr algn="l" indent="0" marL="0">
                        <a:buNone/>
                      </a:pPr>
                      <a:r>
                        <a:rPr lang="en-US" sz="1000" b="1" dirty="0">
                          <a:solidFill>
                            <a:srgbClr val="FFFFFF"/>
                          </a:solidFill>
                          <a:latin typeface="Inter" pitchFamily="34" charset="0"/>
                          <a:ea typeface="Inter" pitchFamily="34" charset="-122"/>
                          <a:cs typeface="Inter" pitchFamily="34" charset="-120"/>
                        </a:rPr>
                        <a:t>Total</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A5570"/>
                    </a:solidFill>
                  </a:tcPr>
                </a:tc>
                <a:tc>
                  <a:txBody>
                    <a:bodyPr/>
                    <a:lstStyle/>
                    <a:p>
                      <a:pPr algn="r" indent="0" marL="0">
                        <a:buNone/>
                      </a:pPr>
                      <a:r>
                        <a:rPr lang="en-US" sz="1000" b="1" dirty="0">
                          <a:solidFill>
                            <a:srgbClr val="FFFFFF"/>
                          </a:solidFill>
                          <a:latin typeface="Inter" pitchFamily="34" charset="0"/>
                          <a:ea typeface="Inter" pitchFamily="34" charset="-122"/>
                          <a:cs typeface="Inter" pitchFamily="34" charset="-120"/>
                        </a:rPr>
                        <a:t>₹15,00,000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A5570"/>
                    </a:solidFill>
                  </a:tcPr>
                </a:tc>
                <a:tc>
                  <a:txBody>
                    <a:bodyPr/>
                    <a:lstStyle/>
                    <a:p>
                      <a:pPr algn="r" indent="0" marL="0">
                        <a:buNone/>
                      </a:pPr>
                      <a:r>
                        <a:rPr lang="en-US" sz="1000" b="1" dirty="0">
                          <a:solidFill>
                            <a:srgbClr val="FFFFFF"/>
                          </a:solidFill>
                          <a:latin typeface="Inter" pitchFamily="34" charset="0"/>
                          <a:ea typeface="Inter" pitchFamily="34" charset="-122"/>
                          <a:cs typeface="Inter" pitchFamily="34" charset="-120"/>
                        </a:rPr>
                        <a:t>100%</a:t>
                      </a:r>
                      <a:endParaRPr lang="en-US" sz="10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A5570"/>
                    </a:solidFill>
                  </a:tcPr>
                </a:tc>
              </a:tr>
            </a:tbl>
          </a:graphicData>
        </a:graphic>
      </p:graphicFrame>
      <p:sp>
        <p:nvSpPr>
          <p:cNvPr id="9" name="Shape 5"/>
          <p:cNvSpPr/>
          <p:nvPr/>
        </p:nvSpPr>
        <p:spPr>
          <a:xfrm>
            <a:off x="566928" y="5559552"/>
            <a:ext cx="11058144" cy="777240"/>
          </a:xfrm>
          <a:prstGeom prst="roundRect">
            <a:avLst>
              <a:gd name="adj" fmla="val 5882"/>
            </a:avLst>
          </a:prstGeom>
          <a:solidFill>
            <a:srgbClr val="13384A"/>
          </a:solidFill>
          <a:ln/>
        </p:spPr>
      </p:sp>
      <p:sp>
        <p:nvSpPr>
          <p:cNvPr id="10" name="Text 6"/>
          <p:cNvSpPr/>
          <p:nvPr/>
        </p:nvSpPr>
        <p:spPr>
          <a:xfrm>
            <a:off x="804672" y="5614416"/>
            <a:ext cx="10582656" cy="658368"/>
          </a:xfrm>
          <a:prstGeom prst="rect">
            <a:avLst/>
          </a:prstGeom>
          <a:noFill/>
          <a:ln/>
        </p:spPr>
        <p:txBody>
          <a:bodyPr wrap="square" lIns="0" tIns="0" rIns="0" bIns="0" rtlCol="0" anchor="ctr"/>
          <a:lstStyle/>
          <a:p>
            <a:pPr indent="0" marL="0">
              <a:lnSpc>
                <a:spcPct val="115000"/>
              </a:lnSpc>
              <a:buNone/>
            </a:pPr>
            <a:r>
              <a:rPr lang="en-US" sz="1300" b="1" dirty="0">
                <a:solidFill>
                  <a:srgbClr val="00B4D8"/>
                </a:solidFill>
                <a:latin typeface="Inter" pitchFamily="34" charset="0"/>
                <a:ea typeface="Inter" pitchFamily="34" charset="-122"/>
                <a:cs typeface="Inter" pitchFamily="34" charset="-120"/>
              </a:rPr>
              <a:t>No salaries, rent or land claimed. Every rupee goes into the prototype and its validation.</a:t>
            </a:r>
            <a:endParaRPr lang="en-US" sz="1300" dirty="0"/>
          </a:p>
          <a:p>
            <a:pPr indent="0" marL="0">
              <a:lnSpc>
                <a:spcPct val="115000"/>
              </a:lnSpc>
              <a:buNone/>
            </a:pPr>
            <a:r>
              <a:rPr lang="en-US" sz="1100" dirty="0">
                <a:solidFill>
                  <a:srgbClr val="FFFFFF"/>
                </a:solidFill>
                <a:latin typeface="Inter" pitchFamily="34" charset="0"/>
                <a:ea typeface="Inter" pitchFamily="34" charset="-122"/>
                <a:cs typeface="Inter" pitchFamily="34" charset="-120"/>
              </a:rPr>
              <a:t>After the grant: with 10 stations built and pilots running, the business sustains itself from unit sales — no second round of grant needed.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THE PEOPLE BUILDING IT</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11 / 12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Team</a:t>
            </a:r>
            <a:endParaRPr lang="en-US" sz="2600" dirty="0"/>
          </a:p>
        </p:txBody>
      </p:sp>
      <p:sp>
        <p:nvSpPr>
          <p:cNvPr id="5" name="Shape 3"/>
          <p:cNvSpPr/>
          <p:nvPr/>
        </p:nvSpPr>
        <p:spPr>
          <a:xfrm>
            <a:off x="566928" y="1371600"/>
            <a:ext cx="5387340" cy="3200400"/>
          </a:xfrm>
          <a:prstGeom prst="roundRect">
            <a:avLst>
              <a:gd name="adj" fmla="val 1429"/>
            </a:avLst>
          </a:prstGeom>
          <a:solidFill>
            <a:srgbClr val="223244"/>
          </a:solidFill>
          <a:ln/>
        </p:spPr>
      </p:sp>
      <p:sp>
        <p:nvSpPr>
          <p:cNvPr id="6" name="Shape 4"/>
          <p:cNvSpPr/>
          <p:nvPr/>
        </p:nvSpPr>
        <p:spPr>
          <a:xfrm>
            <a:off x="950976" y="1664208"/>
            <a:ext cx="1143000" cy="1143000"/>
          </a:xfrm>
          <a:prstGeom prst="ellipse">
            <a:avLst/>
          </a:prstGeom>
          <a:solidFill>
            <a:srgbClr val="1A2634"/>
          </a:solidFill>
          <a:ln w="15875">
            <a:solidFill>
              <a:srgbClr val="3E5A72"/>
            </a:solidFill>
            <a:prstDash val="dash"/>
          </a:ln>
        </p:spPr>
      </p:sp>
      <p:sp>
        <p:nvSpPr>
          <p:cNvPr id="7" name="Text 5"/>
          <p:cNvSpPr/>
          <p:nvPr/>
        </p:nvSpPr>
        <p:spPr>
          <a:xfrm>
            <a:off x="950976" y="1664208"/>
            <a:ext cx="1143000" cy="1143000"/>
          </a:xfrm>
          <a:prstGeom prst="rect">
            <a:avLst/>
          </a:prstGeom>
          <a:noFill/>
          <a:ln/>
        </p:spPr>
        <p:txBody>
          <a:bodyPr wrap="square" lIns="0" tIns="0" rIns="0" bIns="0" rtlCol="0" anchor="ctr"/>
          <a:lstStyle/>
          <a:p>
            <a:pPr algn="ctr" indent="0" marL="0">
              <a:buNone/>
            </a:pPr>
            <a:r>
              <a:rPr lang="en-US" sz="900" b="1" spc="120" kern="0" dirty="0">
                <a:solidFill>
                  <a:srgbClr val="728EA3"/>
                </a:solidFill>
                <a:latin typeface="Inter" pitchFamily="34" charset="0"/>
                <a:ea typeface="Inter" pitchFamily="34" charset="-122"/>
                <a:cs typeface="Inter" pitchFamily="34" charset="-120"/>
              </a:rPr>
              <a:t>PHOTO</a:t>
            </a:r>
            <a:endParaRPr lang="en-US" sz="900" dirty="0"/>
          </a:p>
        </p:txBody>
      </p:sp>
      <p:sp>
        <p:nvSpPr>
          <p:cNvPr id="8" name="Text 6"/>
          <p:cNvSpPr/>
          <p:nvPr/>
        </p:nvSpPr>
        <p:spPr>
          <a:xfrm>
            <a:off x="2286000" y="1755648"/>
            <a:ext cx="3284220" cy="411480"/>
          </a:xfrm>
          <a:prstGeom prst="rect">
            <a:avLst/>
          </a:prstGeom>
          <a:noFill/>
          <a:ln/>
        </p:spPr>
        <p:txBody>
          <a:bodyPr wrap="square" lIns="0" tIns="0" rIns="0" bIns="0" rtlCol="0" anchor="ctr"/>
          <a:lstStyle/>
          <a:p>
            <a:pPr indent="0" marL="0">
              <a:buNone/>
            </a:pPr>
            <a:r>
              <a:rPr lang="en-US" sz="2000" b="1" dirty="0">
                <a:solidFill>
                  <a:srgbClr val="FFFFFF"/>
                </a:solidFill>
                <a:latin typeface="Inter" pitchFamily="34" charset="0"/>
                <a:ea typeface="Inter" pitchFamily="34" charset="-122"/>
                <a:cs typeface="Inter" pitchFamily="34" charset="-120"/>
              </a:rPr>
              <a:t>Jenil Patel</a:t>
            </a:r>
            <a:endParaRPr lang="en-US" sz="2000" dirty="0"/>
          </a:p>
        </p:txBody>
      </p:sp>
      <p:sp>
        <p:nvSpPr>
          <p:cNvPr id="9" name="Text 7"/>
          <p:cNvSpPr/>
          <p:nvPr/>
        </p:nvSpPr>
        <p:spPr>
          <a:xfrm>
            <a:off x="2286000" y="2194560"/>
            <a:ext cx="3284220" cy="292608"/>
          </a:xfrm>
          <a:prstGeom prst="rect">
            <a:avLst/>
          </a:prstGeom>
          <a:noFill/>
          <a:ln/>
        </p:spPr>
        <p:txBody>
          <a:bodyPr wrap="square" lIns="0" tIns="0" rIns="0" bIns="0" rtlCol="0" anchor="ctr"/>
          <a:lstStyle/>
          <a:p>
            <a:pPr indent="0" marL="0">
              <a:buNone/>
            </a:pPr>
            <a:r>
              <a:rPr lang="en-US" sz="1200" dirty="0">
                <a:solidFill>
                  <a:srgbClr val="00B4D8"/>
                </a:solidFill>
                <a:latin typeface="Inter" pitchFamily="34" charset="0"/>
                <a:ea typeface="Inter" pitchFamily="34" charset="-122"/>
                <a:cs typeface="Inter" pitchFamily="34" charset="-120"/>
              </a:rPr>
              <a:t>Applicant, Technical Lead</a:t>
            </a:r>
            <a:endParaRPr lang="en-US" sz="1200" dirty="0"/>
          </a:p>
        </p:txBody>
      </p:sp>
      <p:sp>
        <p:nvSpPr>
          <p:cNvPr id="10" name="Text 8"/>
          <p:cNvSpPr/>
          <p:nvPr/>
        </p:nvSpPr>
        <p:spPr>
          <a:xfrm>
            <a:off x="950976" y="3035808"/>
            <a:ext cx="4619244" cy="1325880"/>
          </a:xfrm>
          <a:prstGeom prst="rect">
            <a:avLst/>
          </a:prstGeom>
          <a:noFill/>
          <a:ln/>
        </p:spPr>
        <p:txBody>
          <a:bodyPr wrap="square" lIns="0" tIns="0" rIns="0" bIns="0" rtlCol="0" anchor="t"/>
          <a:lstStyle/>
          <a:p>
            <a:pPr indent="0" marL="0">
              <a:lnSpc>
                <a:spcPct val="118000"/>
              </a:lnSpc>
              <a:buNone/>
            </a:pPr>
            <a:r>
              <a:rPr lang="en-US" sz="1200" dirty="0">
                <a:solidFill>
                  <a:srgbClr val="9FB3C4"/>
                </a:solidFill>
                <a:latin typeface="Inter" pitchFamily="34" charset="0"/>
                <a:ea typeface="Inter" pitchFamily="34" charset="-122"/>
                <a:cs typeface="Inter" pitchFamily="34" charset="-120"/>
              </a:rPr>
              <a:t>Co-founder and CTO, Liquidus (metal 3D printing). [Degree, college]. Builds embedded systems and machine control. [One line on the most relevant thing he has built.]</a:t>
            </a:r>
            <a:endParaRPr lang="en-US" sz="1200" dirty="0"/>
          </a:p>
        </p:txBody>
      </p:sp>
      <p:sp>
        <p:nvSpPr>
          <p:cNvPr id="11" name="Shape 9"/>
          <p:cNvSpPr/>
          <p:nvPr/>
        </p:nvSpPr>
        <p:spPr>
          <a:xfrm>
            <a:off x="6237732" y="1371600"/>
            <a:ext cx="5387340" cy="3200400"/>
          </a:xfrm>
          <a:prstGeom prst="roundRect">
            <a:avLst>
              <a:gd name="adj" fmla="val 1429"/>
            </a:avLst>
          </a:prstGeom>
          <a:solidFill>
            <a:srgbClr val="223244"/>
          </a:solidFill>
          <a:ln/>
        </p:spPr>
      </p:sp>
      <p:sp>
        <p:nvSpPr>
          <p:cNvPr id="12" name="Shape 10"/>
          <p:cNvSpPr/>
          <p:nvPr/>
        </p:nvSpPr>
        <p:spPr>
          <a:xfrm>
            <a:off x="6621780" y="1664208"/>
            <a:ext cx="1143000" cy="1143000"/>
          </a:xfrm>
          <a:prstGeom prst="ellipse">
            <a:avLst/>
          </a:prstGeom>
          <a:solidFill>
            <a:srgbClr val="1A2634"/>
          </a:solidFill>
          <a:ln w="15875">
            <a:solidFill>
              <a:srgbClr val="3E5A72"/>
            </a:solidFill>
            <a:prstDash val="dash"/>
          </a:ln>
        </p:spPr>
      </p:sp>
      <p:sp>
        <p:nvSpPr>
          <p:cNvPr id="13" name="Text 11"/>
          <p:cNvSpPr/>
          <p:nvPr/>
        </p:nvSpPr>
        <p:spPr>
          <a:xfrm>
            <a:off x="6621780" y="1664208"/>
            <a:ext cx="1143000" cy="1143000"/>
          </a:xfrm>
          <a:prstGeom prst="rect">
            <a:avLst/>
          </a:prstGeom>
          <a:noFill/>
          <a:ln/>
        </p:spPr>
        <p:txBody>
          <a:bodyPr wrap="square" lIns="0" tIns="0" rIns="0" bIns="0" rtlCol="0" anchor="ctr"/>
          <a:lstStyle/>
          <a:p>
            <a:pPr algn="ctr" indent="0" marL="0">
              <a:buNone/>
            </a:pPr>
            <a:r>
              <a:rPr lang="en-US" sz="900" b="1" spc="120" kern="0" dirty="0">
                <a:solidFill>
                  <a:srgbClr val="728EA3"/>
                </a:solidFill>
                <a:latin typeface="Inter" pitchFamily="34" charset="0"/>
                <a:ea typeface="Inter" pitchFamily="34" charset="-122"/>
                <a:cs typeface="Inter" pitchFamily="34" charset="-120"/>
              </a:rPr>
              <a:t>PHOTO</a:t>
            </a:r>
            <a:endParaRPr lang="en-US" sz="900" dirty="0"/>
          </a:p>
        </p:txBody>
      </p:sp>
      <p:sp>
        <p:nvSpPr>
          <p:cNvPr id="14" name="Text 12"/>
          <p:cNvSpPr/>
          <p:nvPr/>
        </p:nvSpPr>
        <p:spPr>
          <a:xfrm>
            <a:off x="7956804" y="1755648"/>
            <a:ext cx="3284220" cy="411480"/>
          </a:xfrm>
          <a:prstGeom prst="rect">
            <a:avLst/>
          </a:prstGeom>
          <a:noFill/>
          <a:ln/>
        </p:spPr>
        <p:txBody>
          <a:bodyPr wrap="square" lIns="0" tIns="0" rIns="0" bIns="0" rtlCol="0" anchor="ctr"/>
          <a:lstStyle/>
          <a:p>
            <a:pPr indent="0" marL="0">
              <a:buNone/>
            </a:pPr>
            <a:r>
              <a:rPr lang="en-US" sz="2000" b="1" dirty="0">
                <a:solidFill>
                  <a:srgbClr val="FFFFFF"/>
                </a:solidFill>
                <a:latin typeface="Inter" pitchFamily="34" charset="0"/>
                <a:ea typeface="Inter" pitchFamily="34" charset="-122"/>
                <a:cs typeface="Inter" pitchFamily="34" charset="-120"/>
              </a:rPr>
              <a:t>Preyansh Patel</a:t>
            </a:r>
            <a:endParaRPr lang="en-US" sz="2000" dirty="0"/>
          </a:p>
        </p:txBody>
      </p:sp>
      <p:sp>
        <p:nvSpPr>
          <p:cNvPr id="15" name="Text 13"/>
          <p:cNvSpPr/>
          <p:nvPr/>
        </p:nvSpPr>
        <p:spPr>
          <a:xfrm>
            <a:off x="7956804" y="2194560"/>
            <a:ext cx="3284220" cy="292608"/>
          </a:xfrm>
          <a:prstGeom prst="rect">
            <a:avLst/>
          </a:prstGeom>
          <a:noFill/>
          <a:ln/>
        </p:spPr>
        <p:txBody>
          <a:bodyPr wrap="square" lIns="0" tIns="0" rIns="0" bIns="0" rtlCol="0" anchor="ctr"/>
          <a:lstStyle/>
          <a:p>
            <a:pPr indent="0" marL="0">
              <a:buNone/>
            </a:pPr>
            <a:r>
              <a:rPr lang="en-US" sz="1200" dirty="0">
                <a:solidFill>
                  <a:srgbClr val="00B4D8"/>
                </a:solidFill>
                <a:latin typeface="Inter" pitchFamily="34" charset="0"/>
                <a:ea typeface="Inter" pitchFamily="34" charset="-122"/>
                <a:cs typeface="Inter" pitchFamily="34" charset="-120"/>
              </a:rPr>
              <a:t>Product and Engineering</a:t>
            </a:r>
            <a:endParaRPr lang="en-US" sz="1200" dirty="0"/>
          </a:p>
        </p:txBody>
      </p:sp>
      <p:sp>
        <p:nvSpPr>
          <p:cNvPr id="16" name="Text 14"/>
          <p:cNvSpPr/>
          <p:nvPr/>
        </p:nvSpPr>
        <p:spPr>
          <a:xfrm>
            <a:off x="6621780" y="3035808"/>
            <a:ext cx="4619244" cy="1325880"/>
          </a:xfrm>
          <a:prstGeom prst="rect">
            <a:avLst/>
          </a:prstGeom>
          <a:noFill/>
          <a:ln/>
        </p:spPr>
        <p:txBody>
          <a:bodyPr wrap="square" lIns="0" tIns="0" rIns="0" bIns="0" rtlCol="0" anchor="t"/>
          <a:lstStyle/>
          <a:p>
            <a:pPr indent="0" marL="0">
              <a:lnSpc>
                <a:spcPct val="118000"/>
              </a:lnSpc>
              <a:buNone/>
            </a:pPr>
            <a:r>
              <a:rPr lang="en-US" sz="1200" dirty="0">
                <a:solidFill>
                  <a:srgbClr val="9FB3C4"/>
                </a:solidFill>
                <a:latin typeface="Inter" pitchFamily="34" charset="0"/>
                <a:ea typeface="Inter" pitchFamily="34" charset="-122"/>
                <a:cs typeface="Inter" pitchFamily="34" charset="-120"/>
              </a:rPr>
              <a:t>MSc Advanced Engineering Design, Brunel University London. Ex Mercedes-Benz R&amp;D, Switch Mobility, Lime London. Founder of Liquidus and of a hardware &amp; AI prototyping studio in Ahmedabad.</a:t>
            </a:r>
            <a:endParaRPr lang="en-US" sz="1200" dirty="0"/>
          </a:p>
        </p:txBody>
      </p:sp>
      <p:sp>
        <p:nvSpPr>
          <p:cNvPr id="17" name="Shape 15"/>
          <p:cNvSpPr/>
          <p:nvPr/>
        </p:nvSpPr>
        <p:spPr>
          <a:xfrm>
            <a:off x="566928" y="4809744"/>
            <a:ext cx="11058144" cy="731520"/>
          </a:xfrm>
          <a:prstGeom prst="roundRect">
            <a:avLst>
              <a:gd name="adj" fmla="val 6250"/>
            </a:avLst>
          </a:prstGeom>
          <a:solidFill>
            <a:srgbClr val="13384A"/>
          </a:solidFill>
          <a:ln/>
        </p:spPr>
      </p:sp>
      <p:sp>
        <p:nvSpPr>
          <p:cNvPr id="18" name="Text 16"/>
          <p:cNvSpPr/>
          <p:nvPr/>
        </p:nvSpPr>
        <p:spPr>
          <a:xfrm>
            <a:off x="804672" y="4956048"/>
            <a:ext cx="10582656" cy="457200"/>
          </a:xfrm>
          <a:prstGeom prst="rect">
            <a:avLst/>
          </a:prstGeom>
          <a:noFill/>
          <a:ln/>
        </p:spPr>
        <p:txBody>
          <a:bodyPr wrap="square" lIns="0" tIns="0" rIns="0" bIns="0" rtlCol="0" anchor="t"/>
          <a:lstStyle/>
          <a:p>
            <a:pPr indent="0" marL="0">
              <a:lnSpc>
                <a:spcPct val="114000"/>
              </a:lnSpc>
              <a:buNone/>
            </a:pPr>
            <a:r>
              <a:rPr lang="en-US" sz="1250" b="1" dirty="0">
                <a:solidFill>
                  <a:srgbClr val="00B4D8"/>
                </a:solidFill>
                <a:latin typeface="Inter" pitchFamily="34" charset="0"/>
                <a:ea typeface="Inter" pitchFamily="34" charset="-122"/>
                <a:cs typeface="Inter" pitchFamily="34" charset="-120"/>
              </a:rPr>
              <a:t>Together: </a:t>
            </a:r>
            <a:pPr indent="0" marL="0">
              <a:lnSpc>
                <a:spcPct val="114000"/>
              </a:lnSpc>
              <a:buNone/>
            </a:pPr>
            <a:r>
              <a:rPr lang="en-US" sz="1250" dirty="0">
                <a:solidFill>
                  <a:srgbClr val="FFFFFF"/>
                </a:solidFill>
                <a:latin typeface="Inter" pitchFamily="34" charset="0"/>
                <a:ea typeface="Inter" pitchFamily="34" charset="-122"/>
                <a:cs typeface="Inter" pitchFamily="34" charset="-120"/>
              </a:rPr>
              <a:t>we have designed, built and debugged real machines — not slideware. Hardware, electronics, AI and CAD are all in-house.</a:t>
            </a:r>
            <a:endParaRPr lang="en-US" sz="1250" dirty="0"/>
          </a:p>
        </p:txBody>
      </p:sp>
      <p:sp>
        <p:nvSpPr>
          <p:cNvPr id="19" name="Text 17"/>
          <p:cNvSpPr/>
          <p:nvPr/>
        </p:nvSpPr>
        <p:spPr>
          <a:xfrm>
            <a:off x="804672" y="5806440"/>
            <a:ext cx="10582656" cy="457200"/>
          </a:xfrm>
          <a:prstGeom prst="rect">
            <a:avLst/>
          </a:prstGeom>
          <a:noFill/>
          <a:ln/>
        </p:spPr>
        <p:txBody>
          <a:bodyPr wrap="square" lIns="0" tIns="0" rIns="0" bIns="0" rtlCol="0" anchor="t"/>
          <a:lstStyle/>
          <a:p>
            <a:pPr indent="0" marL="0">
              <a:lnSpc>
                <a:spcPct val="114000"/>
              </a:lnSpc>
              <a:buNone/>
            </a:pPr>
            <a:r>
              <a:rPr lang="en-US" sz="1200" b="1" dirty="0">
                <a:solidFill>
                  <a:srgbClr val="00B4D8"/>
                </a:solidFill>
                <a:latin typeface="Inter" pitchFamily="34" charset="0"/>
                <a:ea typeface="Inter" pitchFamily="34" charset="-122"/>
                <a:cs typeface="Inter" pitchFamily="34" charset="-120"/>
              </a:rPr>
              <a:t>Mentor / Host support: </a:t>
            </a:r>
            <a:pPr indent="0" marL="0">
              <a:lnSpc>
                <a:spcPct val="114000"/>
              </a:lnSpc>
              <a:buNone/>
            </a:pPr>
            <a:r>
              <a:rPr lang="en-US" sz="1200" dirty="0">
                <a:solidFill>
                  <a:srgbClr val="9FB3C4"/>
                </a:solidFill>
                <a:latin typeface="Inter" pitchFamily="34" charset="0"/>
                <a:ea typeface="Inter" pitchFamily="34" charset="-122"/>
                <a:cs typeface="Inter" pitchFamily="34" charset="-120"/>
              </a:rPr>
              <a:t>AIC-GISC Foundation, GTU — lab access, testing and mentoring.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BACKUP</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B1</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Competitor comparison</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3017520"/>
                <a:gridCol w="2286000"/>
                <a:gridCol w="5754319"/>
              </a:tblGrid>
              <a:tr h="384048">
                <a:tc>
                  <a:txBody>
                    <a:bodyPr/>
                    <a:lstStyle/>
                    <a:p>
                      <a:pPr algn="l" indent="0" marL="0">
                        <a:buNone/>
                      </a:pPr>
                      <a:r>
                        <a:rPr lang="en-US" sz="950" b="1" spc="140" kern="0" dirty="0">
                          <a:solidFill>
                            <a:srgbClr val="00B4D8"/>
                          </a:solidFill>
                          <a:latin typeface="Inter" pitchFamily="34" charset="0"/>
                          <a:ea typeface="Inter" pitchFamily="34" charset="-122"/>
                          <a:cs typeface="Inter" pitchFamily="34" charset="-120"/>
                        </a:rPr>
                        <a:t>Option</a:t>
                      </a:r>
                      <a:endParaRPr lang="en-US" sz="950" dirty="0">
                        <a:latin typeface="Inter" charset="0"/>
                        <a:ea typeface="Inter" charset="0"/>
                        <a:cs typeface="Inter" charset="0"/>
                      </a:endParaRPr>
                    </a:p>
                  </a:txBody>
                  <a:tcPr marL="254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l" indent="0" marL="0">
                        <a:buNone/>
                      </a:pPr>
                      <a:r>
                        <a:rPr lang="en-US" sz="950" b="1" spc="140" kern="0" dirty="0">
                          <a:solidFill>
                            <a:srgbClr val="00B4D8"/>
                          </a:solidFill>
                          <a:latin typeface="Inter" pitchFamily="34" charset="0"/>
                          <a:ea typeface="Inter" pitchFamily="34" charset="-122"/>
                          <a:cs typeface="Inter" pitchFamily="34" charset="-120"/>
                        </a:rPr>
                        <a:t>Price</a:t>
                      </a:r>
                      <a:endParaRPr lang="en-US" sz="95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l" indent="0" marL="0">
                        <a:buNone/>
                      </a:pPr>
                      <a:r>
                        <a:rPr lang="en-US" sz="950" b="1" spc="140" kern="0" dirty="0">
                          <a:solidFill>
                            <a:srgbClr val="00B4D8"/>
                          </a:solidFill>
                          <a:latin typeface="Inter" pitchFamily="34" charset="0"/>
                          <a:ea typeface="Inter" pitchFamily="34" charset="-122"/>
                          <a:cs typeface="Inter" pitchFamily="34" charset="-120"/>
                        </a:rPr>
                        <a:t>What it means for an MSME</a:t>
                      </a:r>
                      <a:endParaRPr lang="en-US" sz="95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r>
              <a:tr h="777240">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Cognex / Keyence</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₹5–20 lakh</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Vision engineer needed.</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777240">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Chinese smart cameras</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₹1.5–3 lakh</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No local support; fixed rules, not learning.</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777240">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Cloud AI vision services</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Monthly fee</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Needs internet, and factory data leaves the site.</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777240">
                <a:tc>
                  <a:txBody>
                    <a:bodyPr/>
                    <a:lstStyle/>
                    <a:p>
                      <a:pPr algn="l" indent="0" marL="0">
                        <a:buNone/>
                      </a:pPr>
                      <a:r>
                        <a:rPr lang="en-US" sz="1200" b="1" dirty="0">
                          <a:solidFill>
                            <a:srgbClr val="FFFFFF"/>
                          </a:solidFill>
                          <a:latin typeface="Inter" pitchFamily="34" charset="0"/>
                          <a:ea typeface="Inter" pitchFamily="34" charset="-122"/>
                          <a:cs typeface="Inter" pitchFamily="34" charset="-120"/>
                        </a:rPr>
                        <a:t>Dhrishti</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A5570"/>
                    </a:solidFill>
                  </a:tcPr>
                </a:tc>
                <a:tc>
                  <a:txBody>
                    <a:bodyPr/>
                    <a:lstStyle/>
                    <a:p>
                      <a:pPr algn="l" indent="0" marL="0">
                        <a:buNone/>
                      </a:pPr>
                      <a:r>
                        <a:rPr lang="en-US" sz="1200" b="1" dirty="0">
                          <a:solidFill>
                            <a:srgbClr val="FFFFFF"/>
                          </a:solidFill>
                          <a:latin typeface="Inter" pitchFamily="34" charset="0"/>
                          <a:ea typeface="Inter" pitchFamily="34" charset="-122"/>
                          <a:cs typeface="Inter" pitchFamily="34" charset="-120"/>
                        </a:rPr>
                        <a:t>₹49,000</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A5570"/>
                    </a:solidFill>
                  </a:tcPr>
                </a:tc>
                <a:tc>
                  <a:txBody>
                    <a:bodyPr/>
                    <a:lstStyle/>
                    <a:p>
                      <a:pPr algn="l" indent="0" marL="0">
                        <a:buNone/>
                      </a:pPr>
                      <a:r>
                        <a:rPr lang="en-US" sz="1200" b="1" dirty="0">
                          <a:solidFill>
                            <a:srgbClr val="FFFFFF"/>
                          </a:solidFill>
                          <a:latin typeface="Inter" pitchFamily="34" charset="0"/>
                          <a:ea typeface="Inter" pitchFamily="34" charset="-122"/>
                          <a:cs typeface="Inter" pitchFamily="34" charset="-120"/>
                        </a:rPr>
                        <a:t>Offline, and trained by the operator himself.</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A5570"/>
                    </a:solidFill>
                  </a:tcPr>
                </a:tc>
              </a:tr>
            </a:tbl>
          </a:graphicData>
        </a:graphic>
      </p:graphicFrame>
      <p:sp>
        <p:nvSpPr>
          <p:cNvPr id="6" name="Shape 3"/>
          <p:cNvSpPr/>
          <p:nvPr/>
        </p:nvSpPr>
        <p:spPr>
          <a:xfrm>
            <a:off x="566928" y="5349240"/>
            <a:ext cx="11058144" cy="777240"/>
          </a:xfrm>
          <a:prstGeom prst="roundRect">
            <a:avLst>
              <a:gd name="adj" fmla="val 5882"/>
            </a:avLst>
          </a:prstGeom>
          <a:solidFill>
            <a:srgbClr val="13384A"/>
          </a:solidFill>
          <a:ln/>
        </p:spPr>
      </p:sp>
      <p:sp>
        <p:nvSpPr>
          <p:cNvPr id="7" name="Text 4"/>
          <p:cNvSpPr/>
          <p:nvPr/>
        </p:nvSpPr>
        <p:spPr>
          <a:xfrm>
            <a:off x="804672" y="5349240"/>
            <a:ext cx="10582656" cy="777240"/>
          </a:xfrm>
          <a:prstGeom prst="rect">
            <a:avLst/>
          </a:prstGeom>
          <a:noFill/>
          <a:ln/>
        </p:spPr>
        <p:txBody>
          <a:bodyPr wrap="square" lIns="0" tIns="0" rIns="0" bIns="0" rtlCol="0" anchor="ctr"/>
          <a:lstStyle/>
          <a:p>
            <a:pPr indent="0" marL="0">
              <a:buNone/>
            </a:pPr>
            <a:r>
              <a:rPr lang="en-US" sz="1400" b="1" dirty="0">
                <a:solidFill>
                  <a:srgbClr val="00B4D8"/>
                </a:solidFill>
                <a:latin typeface="Inter" pitchFamily="34" charset="0"/>
                <a:ea typeface="Inter" pitchFamily="34" charset="-122"/>
                <a:cs typeface="Inter" pitchFamily="34" charset="-120"/>
              </a:rPr>
              <a:t>No product under ₹1 lakh with AI and no-code training exists in India.</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BACKUP</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B2</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Accuracy: how we will prove it</a:t>
            </a:r>
            <a:endParaRPr lang="en-US" sz="2600" dirty="0"/>
          </a:p>
        </p:txBody>
      </p:sp>
      <p:sp>
        <p:nvSpPr>
          <p:cNvPr id="5" name="Text 3"/>
          <p:cNvSpPr/>
          <p:nvPr/>
        </p:nvSpPr>
        <p:spPr>
          <a:xfrm>
            <a:off x="566928" y="1600200"/>
            <a:ext cx="6903720" cy="3108960"/>
          </a:xfrm>
          <a:prstGeom prst="rect">
            <a:avLst/>
          </a:prstGeom>
          <a:noFill/>
          <a:ln/>
        </p:spPr>
        <p:txBody>
          <a:bodyPr wrap="square" lIns="0" tIns="0" rIns="0" bIns="0" rtlCol="0" anchor="t"/>
          <a:lstStyle/>
          <a:p>
            <a:pPr marL="177800" indent="-177800">
              <a:lnSpc>
                <a:spcPct val="112000"/>
              </a:lnSpc>
              <a:spcAft>
                <a:spcPts val="1800"/>
              </a:spcAft>
              <a:buSzPct val="100000"/>
              <a:buChar char="•"/>
            </a:pPr>
            <a:r>
              <a:rPr lang="en-US" sz="1400" dirty="0">
                <a:solidFill>
                  <a:srgbClr val="FFFFFF"/>
                </a:solidFill>
                <a:latin typeface="Inter" pitchFamily="34" charset="0"/>
                <a:ea typeface="Inter" pitchFamily="34" charset="-122"/>
                <a:cs typeface="Inter" pitchFamily="34" charset="-120"/>
              </a:rPr>
              <a:t>Held-out test set, never used in training</a:t>
            </a:r>
            <a:endParaRPr lang="en-US" sz="1400" dirty="0"/>
          </a:p>
          <a:p>
            <a:pPr marL="177800" indent="-177800">
              <a:lnSpc>
                <a:spcPct val="112000"/>
              </a:lnSpc>
              <a:spcAft>
                <a:spcPts val="1800"/>
              </a:spcAft>
              <a:buSzPct val="100000"/>
              <a:buChar char="•"/>
            </a:pPr>
            <a:r>
              <a:rPr lang="en-US" sz="1400" dirty="0">
                <a:solidFill>
                  <a:srgbClr val="FFFFFF"/>
                </a:solidFill>
                <a:latin typeface="Inter" pitchFamily="34" charset="0"/>
                <a:ea typeface="Inter" pitchFamily="34" charset="-122"/>
                <a:cs typeface="Inter" pitchFamily="34" charset="-120"/>
              </a:rPr>
              <a:t>Reported as two numbers, not one: how many bad pieces we catch (recall) and how many good pieces we wrongly reject (false positive rate)</a:t>
            </a:r>
            <a:endParaRPr lang="en-US" sz="1400" dirty="0"/>
          </a:p>
          <a:p>
            <a:pPr marL="177800" indent="-177800">
              <a:lnSpc>
                <a:spcPct val="112000"/>
              </a:lnSpc>
              <a:spcAft>
                <a:spcPts val="1800"/>
              </a:spcAft>
              <a:buSzPct val="100000"/>
              <a:buChar char="•"/>
            </a:pPr>
            <a:r>
              <a:rPr lang="en-US" sz="1400" dirty="0">
                <a:solidFill>
                  <a:srgbClr val="FFFFFF"/>
                </a:solidFill>
                <a:latin typeface="Inter" pitchFamily="34" charset="0"/>
                <a:ea typeface="Inter" pitchFamily="34" charset="-122"/>
                <a:cs typeface="Inter" pitchFamily="34" charset="-120"/>
              </a:rPr>
              <a:t>Adjustable threshold — a customer can choose “catch everything” mode and accept more false rejects</a:t>
            </a:r>
            <a:endParaRPr lang="en-US" sz="1400" dirty="0"/>
          </a:p>
        </p:txBody>
      </p:sp>
      <p:sp>
        <p:nvSpPr>
          <p:cNvPr id="6" name="Shape 4"/>
          <p:cNvSpPr/>
          <p:nvPr/>
        </p:nvSpPr>
        <p:spPr>
          <a:xfrm>
            <a:off x="7882128" y="1600200"/>
            <a:ext cx="3758184" cy="1371600"/>
          </a:xfrm>
          <a:prstGeom prst="roundRect">
            <a:avLst>
              <a:gd name="adj" fmla="val 3333"/>
            </a:avLst>
          </a:prstGeom>
          <a:solidFill>
            <a:srgbClr val="223244"/>
          </a:solidFill>
          <a:ln/>
        </p:spPr>
      </p:sp>
      <p:sp>
        <p:nvSpPr>
          <p:cNvPr id="7" name="Text 5"/>
          <p:cNvSpPr/>
          <p:nvPr/>
        </p:nvSpPr>
        <p:spPr>
          <a:xfrm>
            <a:off x="8138160" y="1819656"/>
            <a:ext cx="3246120" cy="566928"/>
          </a:xfrm>
          <a:prstGeom prst="rect">
            <a:avLst/>
          </a:prstGeom>
          <a:noFill/>
          <a:ln/>
        </p:spPr>
        <p:txBody>
          <a:bodyPr wrap="square" lIns="0" tIns="0" rIns="0" bIns="0" rtlCol="0" anchor="ctr"/>
          <a:lstStyle/>
          <a:p>
            <a:pPr indent="0" marL="0">
              <a:buNone/>
            </a:pPr>
            <a:r>
              <a:rPr lang="en-US" sz="3400" b="1" dirty="0">
                <a:solidFill>
                  <a:srgbClr val="00B4D8"/>
                </a:solidFill>
                <a:latin typeface="Inter" pitchFamily="34" charset="0"/>
                <a:ea typeface="Inter" pitchFamily="34" charset="-122"/>
                <a:cs typeface="Inter" pitchFamily="34" charset="-120"/>
              </a:rPr>
              <a:t>95%+</a:t>
            </a:r>
            <a:endParaRPr lang="en-US" sz="3400" dirty="0"/>
          </a:p>
        </p:txBody>
      </p:sp>
      <p:sp>
        <p:nvSpPr>
          <p:cNvPr id="8" name="Text 6"/>
          <p:cNvSpPr/>
          <p:nvPr/>
        </p:nvSpPr>
        <p:spPr>
          <a:xfrm>
            <a:off x="8138160" y="2423160"/>
            <a:ext cx="3246120" cy="365760"/>
          </a:xfrm>
          <a:prstGeom prst="rect">
            <a:avLst/>
          </a:prstGeom>
          <a:noFill/>
          <a:ln/>
        </p:spPr>
        <p:txBody>
          <a:bodyPr wrap="square" lIns="0" tIns="0" rIns="0" bIns="0" rtlCol="0" anchor="t"/>
          <a:lstStyle/>
          <a:p>
            <a:pPr indent="0" marL="0">
              <a:buNone/>
            </a:pPr>
            <a:r>
              <a:rPr lang="en-US" sz="1150" dirty="0">
                <a:solidFill>
                  <a:srgbClr val="9FB3C4"/>
                </a:solidFill>
                <a:latin typeface="Inter" pitchFamily="34" charset="0"/>
                <a:ea typeface="Inter" pitchFamily="34" charset="-122"/>
                <a:cs typeface="Inter" pitchFamily="34" charset="-120"/>
              </a:rPr>
              <a:t>Catch rate (recall)</a:t>
            </a:r>
            <a:endParaRPr lang="en-US" sz="1150" dirty="0"/>
          </a:p>
        </p:txBody>
      </p:sp>
      <p:sp>
        <p:nvSpPr>
          <p:cNvPr id="9" name="Shape 7"/>
          <p:cNvSpPr/>
          <p:nvPr/>
        </p:nvSpPr>
        <p:spPr>
          <a:xfrm>
            <a:off x="7882128" y="3154680"/>
            <a:ext cx="3758184" cy="1371600"/>
          </a:xfrm>
          <a:prstGeom prst="roundRect">
            <a:avLst>
              <a:gd name="adj" fmla="val 3333"/>
            </a:avLst>
          </a:prstGeom>
          <a:solidFill>
            <a:srgbClr val="223244"/>
          </a:solidFill>
          <a:ln/>
        </p:spPr>
      </p:sp>
      <p:sp>
        <p:nvSpPr>
          <p:cNvPr id="10" name="Text 8"/>
          <p:cNvSpPr/>
          <p:nvPr/>
        </p:nvSpPr>
        <p:spPr>
          <a:xfrm>
            <a:off x="8138160" y="3374136"/>
            <a:ext cx="3246120" cy="566928"/>
          </a:xfrm>
          <a:prstGeom prst="rect">
            <a:avLst/>
          </a:prstGeom>
          <a:noFill/>
          <a:ln/>
        </p:spPr>
        <p:txBody>
          <a:bodyPr wrap="square" lIns="0" tIns="0" rIns="0" bIns="0" rtlCol="0" anchor="ctr"/>
          <a:lstStyle/>
          <a:p>
            <a:pPr indent="0" marL="0">
              <a:buNone/>
            </a:pPr>
            <a:r>
              <a:rPr lang="en-US" sz="3400" b="1" dirty="0">
                <a:solidFill>
                  <a:srgbClr val="FFFFFF"/>
                </a:solidFill>
                <a:latin typeface="Inter" pitchFamily="34" charset="0"/>
                <a:ea typeface="Inter" pitchFamily="34" charset="-122"/>
                <a:cs typeface="Inter" pitchFamily="34" charset="-120"/>
              </a:rPr>
              <a:t>Under 5%</a:t>
            </a:r>
            <a:endParaRPr lang="en-US" sz="3400" dirty="0"/>
          </a:p>
        </p:txBody>
      </p:sp>
      <p:sp>
        <p:nvSpPr>
          <p:cNvPr id="11" name="Text 9"/>
          <p:cNvSpPr/>
          <p:nvPr/>
        </p:nvSpPr>
        <p:spPr>
          <a:xfrm>
            <a:off x="8138160" y="3977640"/>
            <a:ext cx="3246120" cy="365760"/>
          </a:xfrm>
          <a:prstGeom prst="rect">
            <a:avLst/>
          </a:prstGeom>
          <a:noFill/>
          <a:ln/>
        </p:spPr>
        <p:txBody>
          <a:bodyPr wrap="square" lIns="0" tIns="0" rIns="0" bIns="0" rtlCol="0" anchor="t"/>
          <a:lstStyle/>
          <a:p>
            <a:pPr indent="0" marL="0">
              <a:buNone/>
            </a:pPr>
            <a:r>
              <a:rPr lang="en-US" sz="1150" dirty="0">
                <a:solidFill>
                  <a:srgbClr val="9FB3C4"/>
                </a:solidFill>
                <a:latin typeface="Inter" pitchFamily="34" charset="0"/>
                <a:ea typeface="Inter" pitchFamily="34" charset="-122"/>
                <a:cs typeface="Inter" pitchFamily="34" charset="-120"/>
              </a:rPr>
              <a:t>False rejects</a:t>
            </a:r>
            <a:endParaRPr lang="en-US" sz="1150" dirty="0"/>
          </a:p>
        </p:txBody>
      </p:sp>
      <p:sp>
        <p:nvSpPr>
          <p:cNvPr id="12" name="Text 10"/>
          <p:cNvSpPr/>
          <p:nvPr/>
        </p:nvSpPr>
        <p:spPr>
          <a:xfrm>
            <a:off x="7882128" y="4709160"/>
            <a:ext cx="3758184" cy="640080"/>
          </a:xfrm>
          <a:prstGeom prst="rect">
            <a:avLst/>
          </a:prstGeom>
          <a:noFill/>
          <a:ln/>
        </p:spPr>
        <p:txBody>
          <a:bodyPr wrap="square" lIns="0" tIns="0" rIns="0" bIns="0" rtlCol="0" anchor="t"/>
          <a:lstStyle/>
          <a:p>
            <a:pPr indent="0" marL="0">
              <a:lnSpc>
                <a:spcPct val="115000"/>
              </a:lnSpc>
              <a:buNone/>
            </a:pPr>
            <a:r>
              <a:rPr lang="en-US" sz="1100" dirty="0">
                <a:solidFill>
                  <a:srgbClr val="9FB3C4"/>
                </a:solidFill>
                <a:latin typeface="Inter" pitchFamily="34" charset="0"/>
                <a:ea typeface="Inter" pitchFamily="34" charset="-122"/>
                <a:cs typeface="Inter" pitchFamily="34" charset="-120"/>
              </a:rPr>
              <a:t>Target, measured on two real product families after field hardening.</a:t>
            </a:r>
            <a:endParaRPr lang="en-US" sz="1100" dirty="0"/>
          </a:p>
        </p:txBody>
      </p:sp>
      <p:sp>
        <p:nvSpPr>
          <p:cNvPr id="13" name="Shape 11"/>
          <p:cNvSpPr/>
          <p:nvPr/>
        </p:nvSpPr>
        <p:spPr>
          <a:xfrm>
            <a:off x="566928" y="3794760"/>
            <a:ext cx="6903720" cy="1234440"/>
          </a:xfrm>
          <a:prstGeom prst="roundRect">
            <a:avLst>
              <a:gd name="adj" fmla="val 3704"/>
            </a:avLst>
          </a:prstGeom>
          <a:solidFill>
            <a:srgbClr val="1F2C3B"/>
          </a:solidFill>
          <a:ln/>
        </p:spPr>
      </p:sp>
      <p:sp>
        <p:nvSpPr>
          <p:cNvPr id="14" name="Text 12"/>
          <p:cNvSpPr/>
          <p:nvPr/>
        </p:nvSpPr>
        <p:spPr>
          <a:xfrm>
            <a:off x="804672" y="3794760"/>
            <a:ext cx="6428232" cy="1234440"/>
          </a:xfrm>
          <a:prstGeom prst="rect">
            <a:avLst/>
          </a:prstGeom>
          <a:noFill/>
          <a:ln/>
        </p:spPr>
        <p:txBody>
          <a:bodyPr wrap="square" lIns="0" tIns="0" rIns="0" bIns="0" rtlCol="0" anchor="ctr"/>
          <a:lstStyle/>
          <a:p>
            <a:pPr indent="0" marL="0">
              <a:lnSpc>
                <a:spcPct val="118000"/>
              </a:lnSpc>
              <a:buNone/>
            </a:pPr>
            <a:r>
              <a:rPr lang="en-US" sz="1200" dirty="0">
                <a:solidFill>
                  <a:srgbClr val="FFFFFF"/>
                </a:solidFill>
                <a:latin typeface="Inter" pitchFamily="34" charset="0"/>
                <a:ea typeface="Inter" pitchFamily="34" charset="-122"/>
                <a:cs typeface="Inter" pitchFamily="34" charset="-120"/>
              </a:rPr>
              <a:t>The operator feedback loop exists because we expect the first weeks in a new factory to need correction. Every disagreement is logged and retrains the model.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BACKUP</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B3</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Risks and how we handle them</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9144000" cy="914400"/>
        </p:xfrm>
        <a:graphic>
          <a:graphicData uri="http://schemas.openxmlformats.org/drawingml/2006/table">
            <a:tbl>
              <a:tblPr/>
              <a:tblGrid>
                <a:gridCol w="4206240"/>
                <a:gridCol w="6851599"/>
              </a:tblGrid>
              <a:tr h="384048">
                <a:tc>
                  <a:txBody>
                    <a:bodyPr/>
                    <a:lstStyle/>
                    <a:p>
                      <a:pPr algn="l" indent="0" marL="0">
                        <a:buNone/>
                      </a:pPr>
                      <a:r>
                        <a:rPr lang="en-US" sz="950" b="1" spc="140" kern="0" dirty="0">
                          <a:solidFill>
                            <a:srgbClr val="00B4D8"/>
                          </a:solidFill>
                          <a:latin typeface="Inter" pitchFamily="34" charset="0"/>
                          <a:ea typeface="Inter" pitchFamily="34" charset="-122"/>
                          <a:cs typeface="Inter" pitchFamily="34" charset="-120"/>
                        </a:rPr>
                        <a:t>Risk</a:t>
                      </a:r>
                      <a:endParaRPr lang="en-US" sz="950" dirty="0">
                        <a:latin typeface="Inter" charset="0"/>
                        <a:ea typeface="Inter" charset="0"/>
                        <a:cs typeface="Inter" charset="0"/>
                      </a:endParaRPr>
                    </a:p>
                  </a:txBody>
                  <a:tcPr marL="254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c>
                  <a:txBody>
                    <a:bodyPr/>
                    <a:lstStyle/>
                    <a:p>
                      <a:pPr algn="l" indent="0" marL="0">
                        <a:buNone/>
                      </a:pPr>
                      <a:r>
                        <a:rPr lang="en-US" sz="950" b="1" spc="140" kern="0" dirty="0">
                          <a:solidFill>
                            <a:srgbClr val="00B4D8"/>
                          </a:solidFill>
                          <a:latin typeface="Inter" pitchFamily="34" charset="0"/>
                          <a:ea typeface="Inter" pitchFamily="34" charset="-122"/>
                          <a:cs typeface="Inter" pitchFamily="34" charset="-120"/>
                        </a:rPr>
                        <a:t>Handling</a:t>
                      </a:r>
                      <a:endParaRPr lang="en-US" sz="950" dirty="0">
                        <a:latin typeface="Inter" charset="0"/>
                        <a:ea typeface="Inter" charset="0"/>
                        <a:cs typeface="Inter" charset="0"/>
                      </a:endParaRPr>
                    </a:p>
                  </a:txBody>
                  <a:tcPr marL="101600" marR="101600" marT="25400" marB="76200" anchor="b">
                    <a:lnL w="0" cap="flat" cmpd="sng" algn="ctr">
                      <a:noFill/>
                    </a:lnL>
                    <a:lnR w="0" cap="flat" cmpd="sng" algn="ctr">
                      <a:noFill/>
                    </a:lnR>
                    <a:lnT w="0" cap="flat" cmpd="sng" algn="ctr">
                      <a:noFill/>
                    </a:lnT>
                    <a:lnB w="9525" cap="flat" cmpd="sng" algn="ctr">
                      <a:solidFill>
                        <a:srgbClr val="2E4356"/>
                      </a:solidFill>
                      <a:prstDash val="solid"/>
                      <a:round/>
                      <a:headEnd type="none" w="med" len="med"/>
                      <a:tailEnd type="none" w="med" len="med"/>
                    </a:lnB>
                    <a:solidFill>
                      <a:srgbClr val="1B2838"/>
                    </a:solidFill>
                  </a:tcPr>
                </a:tc>
              </a:tr>
              <a:tr h="804672">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Ambient light changes through the day</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Closed chamber + automatic LED brightness correction</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804672">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Too few defect samples to train</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Image augmentation, plus an anomaly-detection fallback that learns from good pieces only</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804672">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Dust and heat in ceramic and textile plants</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Sealed enclosure, fanless design, filtered air path</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r h="804672">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Missed defects damaging trust</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Recall-priority mode; every disagreement is logged and retrains the model</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26374A"/>
                    </a:solidFill>
                  </a:tcPr>
                </a:tc>
              </a:tr>
              <a:tr h="804672">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Cheap copies</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c>
                  <a:txBody>
                    <a:bodyPr/>
                    <a:lstStyle/>
                    <a:p>
                      <a:pPr algn="l" indent="0" marL="0">
                        <a:buNone/>
                      </a:pPr>
                      <a:r>
                        <a:rPr lang="en-US" sz="1200" dirty="0">
                          <a:solidFill>
                            <a:srgbClr val="FFFFFF"/>
                          </a:solidFill>
                          <a:latin typeface="Inter" pitchFamily="34" charset="0"/>
                          <a:ea typeface="Inter" pitchFamily="34" charset="-122"/>
                          <a:cs typeface="Inter" pitchFamily="34" charset="-120"/>
                        </a:rPr>
                        <a:t>Advantage is local service, the training workflow and cluster relationships — not the parts</a:t>
                      </a:r>
                      <a:endParaRPr lang="en-US" sz="1200" dirty="0">
                        <a:latin typeface="Inter" charset="0"/>
                        <a:ea typeface="Inter" charset="0"/>
                        <a:cs typeface="Inter"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F2C3B"/>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BACKUP</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B4</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Where this does not apply — knowing our limits</a:t>
            </a:r>
            <a:endParaRPr lang="en-US" sz="2600" dirty="0"/>
          </a:p>
        </p:txBody>
      </p:sp>
      <p:sp>
        <p:nvSpPr>
          <p:cNvPr id="5" name="Shape 3"/>
          <p:cNvSpPr/>
          <p:nvPr/>
        </p:nvSpPr>
        <p:spPr>
          <a:xfrm>
            <a:off x="566928" y="2395728"/>
            <a:ext cx="5387340" cy="2926080"/>
          </a:xfrm>
          <a:prstGeom prst="roundRect">
            <a:avLst>
              <a:gd name="adj" fmla="val 1563"/>
            </a:avLst>
          </a:prstGeom>
          <a:solidFill>
            <a:srgbClr val="1F2C3B"/>
          </a:solidFill>
          <a:ln/>
        </p:spPr>
      </p:sp>
      <p:sp>
        <p:nvSpPr>
          <p:cNvPr id="6" name="Text 4"/>
          <p:cNvSpPr/>
          <p:nvPr/>
        </p:nvSpPr>
        <p:spPr>
          <a:xfrm>
            <a:off x="859536" y="2670048"/>
            <a:ext cx="4802124" cy="219456"/>
          </a:xfrm>
          <a:prstGeom prst="rect">
            <a:avLst/>
          </a:prstGeom>
          <a:noFill/>
          <a:ln/>
        </p:spPr>
        <p:txBody>
          <a:bodyPr wrap="square" lIns="0" tIns="0" rIns="0" bIns="0" rtlCol="0" anchor="ctr"/>
          <a:lstStyle/>
          <a:p>
            <a:pPr indent="0" marL="0">
              <a:buNone/>
            </a:pPr>
            <a:r>
              <a:rPr lang="en-US" sz="950" b="1" spc="160" kern="0" dirty="0">
                <a:solidFill>
                  <a:srgbClr val="7D93A6"/>
                </a:solidFill>
                <a:latin typeface="Inter" pitchFamily="34" charset="0"/>
                <a:ea typeface="Inter" pitchFamily="34" charset="-122"/>
                <a:cs typeface="Inter" pitchFamily="34" charset="-120"/>
              </a:rPr>
              <a:t>NOT FOR</a:t>
            </a:r>
            <a:endParaRPr lang="en-US" sz="950" dirty="0"/>
          </a:p>
        </p:txBody>
      </p:sp>
      <p:sp>
        <p:nvSpPr>
          <p:cNvPr id="7" name="Text 5"/>
          <p:cNvSpPr/>
          <p:nvPr/>
        </p:nvSpPr>
        <p:spPr>
          <a:xfrm>
            <a:off x="859536" y="3035808"/>
            <a:ext cx="4802124" cy="1371600"/>
          </a:xfrm>
          <a:prstGeom prst="rect">
            <a:avLst/>
          </a:prstGeom>
          <a:noFill/>
          <a:ln/>
        </p:spPr>
        <p:txBody>
          <a:bodyPr wrap="square" lIns="0" tIns="0" rIns="0" bIns="0" rtlCol="0" anchor="t"/>
          <a:lstStyle/>
          <a:p>
            <a:pPr marL="177800" indent="-177800">
              <a:lnSpc>
                <a:spcPct val="112000"/>
              </a:lnSpc>
              <a:spcAft>
                <a:spcPts val="1400"/>
              </a:spcAft>
              <a:buSzPct val="100000"/>
              <a:buChar char="•"/>
            </a:pPr>
            <a:r>
              <a:rPr lang="en-US" sz="1400" dirty="0">
                <a:solidFill>
                  <a:srgbClr val="FFFFFF"/>
                </a:solidFill>
                <a:latin typeface="Inter" pitchFamily="34" charset="0"/>
                <a:ea typeface="Inter" pitchFamily="34" charset="-122"/>
                <a:cs typeface="Inter" pitchFamily="34" charset="-120"/>
              </a:rPr>
              <a:t>Micron-level metrology</a:t>
            </a:r>
            <a:endParaRPr lang="en-US" sz="1400" dirty="0"/>
          </a:p>
          <a:p>
            <a:pPr marL="177800" indent="-177800">
              <a:lnSpc>
                <a:spcPct val="112000"/>
              </a:lnSpc>
              <a:spcAft>
                <a:spcPts val="1400"/>
              </a:spcAft>
              <a:buSzPct val="100000"/>
              <a:buChar char="•"/>
            </a:pPr>
            <a:r>
              <a:rPr lang="en-US" sz="1400" dirty="0">
                <a:solidFill>
                  <a:srgbClr val="FFFFFF"/>
                </a:solidFill>
                <a:latin typeface="Inter" pitchFamily="34" charset="0"/>
                <a:ea typeface="Inter" pitchFamily="34" charset="-122"/>
                <a:cs typeface="Inter" pitchFamily="34" charset="-120"/>
              </a:rPr>
              <a:t>Very high-speed web inspection</a:t>
            </a:r>
            <a:endParaRPr lang="en-US" sz="1400" dirty="0"/>
          </a:p>
          <a:p>
            <a:pPr marL="177800" indent="-177800">
              <a:lnSpc>
                <a:spcPct val="112000"/>
              </a:lnSpc>
              <a:spcAft>
                <a:spcPts val="1400"/>
              </a:spcAft>
              <a:buSzPct val="100000"/>
              <a:buChar char="•"/>
            </a:pPr>
            <a:r>
              <a:rPr lang="en-US" sz="1400" dirty="0">
                <a:solidFill>
                  <a:srgbClr val="FFFFFF"/>
                </a:solidFill>
                <a:latin typeface="Inter" pitchFamily="34" charset="0"/>
                <a:ea typeface="Inter" pitchFamily="34" charset="-122"/>
                <a:cs typeface="Inter" pitchFamily="34" charset="-120"/>
              </a:rPr>
              <a:t>Internal or subsurface defects</a:t>
            </a:r>
            <a:endParaRPr lang="en-US" sz="1400" dirty="0"/>
          </a:p>
        </p:txBody>
      </p:sp>
      <p:sp>
        <p:nvSpPr>
          <p:cNvPr id="8" name="Text 6"/>
          <p:cNvSpPr/>
          <p:nvPr/>
        </p:nvSpPr>
        <p:spPr>
          <a:xfrm>
            <a:off x="859536" y="4498848"/>
            <a:ext cx="4802124" cy="365760"/>
          </a:xfrm>
          <a:prstGeom prst="rect">
            <a:avLst/>
          </a:prstGeom>
          <a:noFill/>
          <a:ln/>
        </p:spPr>
        <p:txBody>
          <a:bodyPr wrap="square" lIns="0" tIns="0" rIns="0" bIns="0" rtlCol="0" anchor="t"/>
          <a:lstStyle/>
          <a:p>
            <a:pPr indent="0" marL="0">
              <a:buNone/>
            </a:pPr>
            <a:r>
              <a:rPr lang="en-US" sz="1200" dirty="0">
                <a:solidFill>
                  <a:srgbClr val="9FB3C4"/>
                </a:solidFill>
                <a:latin typeface="Inter" pitchFamily="34" charset="0"/>
                <a:ea typeface="Inter" pitchFamily="34" charset="-122"/>
                <a:cs typeface="Inter" pitchFamily="34" charset="-120"/>
              </a:rPr>
              <a:t>Those need laser or X-ray systems.</a:t>
            </a:r>
            <a:endParaRPr lang="en-US" sz="1200" dirty="0"/>
          </a:p>
        </p:txBody>
      </p:sp>
      <p:sp>
        <p:nvSpPr>
          <p:cNvPr id="9" name="Shape 7"/>
          <p:cNvSpPr/>
          <p:nvPr/>
        </p:nvSpPr>
        <p:spPr>
          <a:xfrm>
            <a:off x="6237732" y="2395728"/>
            <a:ext cx="5387340" cy="2926080"/>
          </a:xfrm>
          <a:prstGeom prst="roundRect">
            <a:avLst>
              <a:gd name="adj" fmla="val 1563"/>
            </a:avLst>
          </a:prstGeom>
          <a:solidFill>
            <a:srgbClr val="13384A"/>
          </a:solidFill>
          <a:ln/>
        </p:spPr>
      </p:sp>
      <p:sp>
        <p:nvSpPr>
          <p:cNvPr id="10" name="Text 8"/>
          <p:cNvSpPr/>
          <p:nvPr/>
        </p:nvSpPr>
        <p:spPr>
          <a:xfrm>
            <a:off x="6530340" y="2670048"/>
            <a:ext cx="4802124" cy="219456"/>
          </a:xfrm>
          <a:prstGeom prst="rect">
            <a:avLst/>
          </a:prstGeom>
          <a:noFill/>
          <a:ln/>
        </p:spPr>
        <p:txBody>
          <a:bodyPr wrap="square" lIns="0" tIns="0" rIns="0" bIns="0" rtlCol="0" anchor="ctr"/>
          <a:lstStyle/>
          <a:p>
            <a:pPr indent="0" marL="0">
              <a:buNone/>
            </a:pPr>
            <a:r>
              <a:rPr lang="en-US" sz="950" b="1" spc="160" kern="0" dirty="0">
                <a:solidFill>
                  <a:srgbClr val="00B4D8"/>
                </a:solidFill>
                <a:latin typeface="Inter" pitchFamily="34" charset="0"/>
                <a:ea typeface="Inter" pitchFamily="34" charset="-122"/>
                <a:cs typeface="Inter" pitchFamily="34" charset="-120"/>
              </a:rPr>
              <a:t>WE HANDLE</a:t>
            </a:r>
            <a:endParaRPr lang="en-US" sz="950" dirty="0"/>
          </a:p>
        </p:txBody>
      </p:sp>
      <p:sp>
        <p:nvSpPr>
          <p:cNvPr id="11" name="Text 9"/>
          <p:cNvSpPr/>
          <p:nvPr/>
        </p:nvSpPr>
        <p:spPr>
          <a:xfrm>
            <a:off x="6530340" y="2990088"/>
            <a:ext cx="4802124" cy="320040"/>
          </a:xfrm>
          <a:prstGeom prst="rect">
            <a:avLst/>
          </a:prstGeom>
          <a:noFill/>
          <a:ln/>
        </p:spPr>
        <p:txBody>
          <a:bodyPr wrap="square" lIns="0" tIns="0" rIns="0" bIns="0" rtlCol="0" anchor="ctr"/>
          <a:lstStyle/>
          <a:p>
            <a:pPr indent="0" marL="0">
              <a:buNone/>
            </a:pPr>
            <a:r>
              <a:rPr lang="en-US" sz="1500" b="1" dirty="0">
                <a:solidFill>
                  <a:srgbClr val="00B4D8"/>
                </a:solidFill>
                <a:latin typeface="Inter" pitchFamily="34" charset="0"/>
                <a:ea typeface="Inter" pitchFamily="34" charset="-122"/>
                <a:cs typeface="Inter" pitchFamily="34" charset="-120"/>
              </a:rPr>
              <a:t>Visible surface and packaging defects</a:t>
            </a:r>
            <a:endParaRPr lang="en-US" sz="1500" dirty="0"/>
          </a:p>
        </p:txBody>
      </p:sp>
      <p:sp>
        <p:nvSpPr>
          <p:cNvPr id="12" name="Text 10"/>
          <p:cNvSpPr/>
          <p:nvPr/>
        </p:nvSpPr>
        <p:spPr>
          <a:xfrm>
            <a:off x="6530340" y="3447288"/>
            <a:ext cx="4802124" cy="1783080"/>
          </a:xfrm>
          <a:prstGeom prst="rect">
            <a:avLst/>
          </a:prstGeom>
          <a:noFill/>
          <a:ln/>
        </p:spPr>
        <p:txBody>
          <a:bodyPr wrap="square" lIns="0" tIns="0" rIns="0" bIns="0" rtlCol="0" anchor="t"/>
          <a:lstStyle/>
          <a:p>
            <a:pPr marL="177800" indent="-177800">
              <a:lnSpc>
                <a:spcPct val="112000"/>
              </a:lnSpc>
              <a:spcAft>
                <a:spcPts val="1400"/>
              </a:spcAft>
              <a:buSzPct val="100000"/>
              <a:buChar char="•"/>
            </a:pPr>
            <a:r>
              <a:rPr lang="en-US" sz="1400" dirty="0">
                <a:solidFill>
                  <a:srgbClr val="FFFFFF"/>
                </a:solidFill>
                <a:latin typeface="Inter" pitchFamily="34" charset="0"/>
                <a:ea typeface="Inter" pitchFamily="34" charset="-122"/>
                <a:cs typeface="Inter" pitchFamily="34" charset="-120"/>
              </a:rPr>
              <a:t>Cracks and chips</a:t>
            </a:r>
            <a:endParaRPr lang="en-US" sz="1400" dirty="0"/>
          </a:p>
          <a:p>
            <a:pPr marL="177800" indent="-177800">
              <a:lnSpc>
                <a:spcPct val="112000"/>
              </a:lnSpc>
              <a:spcAft>
                <a:spcPts val="1400"/>
              </a:spcAft>
              <a:buSzPct val="100000"/>
              <a:buChar char="•"/>
            </a:pPr>
            <a:r>
              <a:rPr lang="en-US" sz="1400" dirty="0">
                <a:solidFill>
                  <a:srgbClr val="FFFFFF"/>
                </a:solidFill>
                <a:latin typeface="Inter" pitchFamily="34" charset="0"/>
                <a:ea typeface="Inter" pitchFamily="34" charset="-122"/>
                <a:cs typeface="Inter" pitchFamily="34" charset="-120"/>
              </a:rPr>
              <a:t>Stains and colour shift</a:t>
            </a:r>
            <a:endParaRPr lang="en-US" sz="1400" dirty="0"/>
          </a:p>
          <a:p>
            <a:pPr marL="177800" indent="-177800">
              <a:lnSpc>
                <a:spcPct val="112000"/>
              </a:lnSpc>
              <a:spcAft>
                <a:spcPts val="1400"/>
              </a:spcAft>
              <a:buSzPct val="100000"/>
              <a:buChar char="•"/>
            </a:pPr>
            <a:r>
              <a:rPr lang="en-US" sz="1400" dirty="0">
                <a:solidFill>
                  <a:srgbClr val="FFFFFF"/>
                </a:solidFill>
                <a:latin typeface="Inter" pitchFamily="34" charset="0"/>
                <a:ea typeface="Inter" pitchFamily="34" charset="-122"/>
                <a:cs typeface="Inter" pitchFamily="34" charset="-120"/>
              </a:rPr>
              <a:t>Print and seal errors</a:t>
            </a:r>
            <a:endParaRPr lang="en-US" sz="1400" dirty="0"/>
          </a:p>
          <a:p>
            <a:pPr marL="177800" indent="-177800">
              <a:lnSpc>
                <a:spcPct val="112000"/>
              </a:lnSpc>
              <a:spcAft>
                <a:spcPts val="1400"/>
              </a:spcAft>
              <a:buSzPct val="100000"/>
              <a:buChar char="•"/>
            </a:pPr>
            <a:r>
              <a:rPr lang="en-US" sz="1400" dirty="0">
                <a:solidFill>
                  <a:srgbClr val="FFFFFF"/>
                </a:solidFill>
                <a:latin typeface="Inter" pitchFamily="34" charset="0"/>
                <a:ea typeface="Inter" pitchFamily="34" charset="-122"/>
                <a:cs typeface="Inter" pitchFamily="34" charset="-120"/>
              </a:rPr>
              <a:t>Missing components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566928" y="347472"/>
            <a:ext cx="8778240" cy="237744"/>
          </a:xfrm>
          <a:prstGeom prst="rect">
            <a:avLst/>
          </a:prstGeom>
          <a:noFill/>
          <a:ln/>
        </p:spPr>
        <p:txBody>
          <a:bodyPr wrap="square" lIns="0" tIns="0" rIns="0" bIns="0" rtlCol="0" anchor="ctr"/>
          <a:lstStyle/>
          <a:p>
            <a:pPr indent="0" marL="0">
              <a:buNone/>
            </a:pPr>
            <a:r>
              <a:rPr lang="en-US" sz="1000" b="1" spc="220" kern="0" dirty="0">
                <a:solidFill>
                  <a:srgbClr val="00B4D8"/>
                </a:solidFill>
                <a:latin typeface="Inter" pitchFamily="34" charset="0"/>
                <a:ea typeface="Inter" pitchFamily="34" charset="-122"/>
                <a:cs typeface="Inter" pitchFamily="34" charset="-120"/>
              </a:rPr>
              <a:t>BACKUP</a:t>
            </a:r>
            <a:endParaRPr lang="en-US" sz="1000" dirty="0"/>
          </a:p>
        </p:txBody>
      </p:sp>
      <p:sp>
        <p:nvSpPr>
          <p:cNvPr id="3" name="Text 1"/>
          <p:cNvSpPr/>
          <p:nvPr/>
        </p:nvSpPr>
        <p:spPr>
          <a:xfrm>
            <a:off x="10058400" y="347472"/>
            <a:ext cx="1566367" cy="237744"/>
          </a:xfrm>
          <a:prstGeom prst="rect">
            <a:avLst/>
          </a:prstGeom>
          <a:noFill/>
          <a:ln/>
        </p:spPr>
        <p:txBody>
          <a:bodyPr wrap="square" lIns="0" tIns="0" rIns="0" bIns="0" rtlCol="0" anchor="ctr"/>
          <a:lstStyle/>
          <a:p>
            <a:pPr algn="r" indent="0" marL="0">
              <a:buNone/>
            </a:pPr>
            <a:r>
              <a:rPr lang="en-US" sz="1000" b="1" spc="120" kern="0" dirty="0">
                <a:solidFill>
                  <a:srgbClr val="7D93A6"/>
                </a:solidFill>
                <a:latin typeface="Inter" pitchFamily="34" charset="0"/>
                <a:ea typeface="Inter" pitchFamily="34" charset="-122"/>
                <a:cs typeface="Inter" pitchFamily="34" charset="-120"/>
              </a:rPr>
              <a:t>B5</a:t>
            </a:r>
            <a:endParaRPr lang="en-US" sz="1000" dirty="0"/>
          </a:p>
        </p:txBody>
      </p:sp>
      <p:sp>
        <p:nvSpPr>
          <p:cNvPr id="4" name="Text 2"/>
          <p:cNvSpPr/>
          <p:nvPr/>
        </p:nvSpPr>
        <p:spPr>
          <a:xfrm>
            <a:off x="566928" y="640080"/>
            <a:ext cx="11058144" cy="621792"/>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Cost evidence — live supplier listings</a:t>
            </a:r>
            <a:endParaRPr lang="en-US" sz="2600" dirty="0"/>
          </a:p>
        </p:txBody>
      </p:sp>
      <p:sp>
        <p:nvSpPr>
          <p:cNvPr id="5" name="Text 3"/>
          <p:cNvSpPr/>
          <p:nvPr/>
        </p:nvSpPr>
        <p:spPr>
          <a:xfrm>
            <a:off x="566928" y="1225296"/>
            <a:ext cx="11058144" cy="274320"/>
          </a:xfrm>
          <a:prstGeom prst="rect">
            <a:avLst/>
          </a:prstGeom>
          <a:noFill/>
          <a:ln/>
        </p:spPr>
        <p:txBody>
          <a:bodyPr wrap="square" lIns="0" tIns="0" rIns="0" bIns="0" rtlCol="0" anchor="ctr"/>
          <a:lstStyle/>
          <a:p>
            <a:pPr indent="0" marL="0">
              <a:buNone/>
            </a:pPr>
            <a:r>
              <a:rPr lang="en-US" sz="1250" dirty="0">
                <a:solidFill>
                  <a:srgbClr val="9FB3C4"/>
                </a:solidFill>
                <a:latin typeface="Inter" pitchFamily="34" charset="0"/>
                <a:ea typeface="Inter" pitchFamily="34" charset="-122"/>
                <a:cs typeface="Inter" pitchFamily="34" charset="-120"/>
              </a:rPr>
              <a:t>Screenshots taken from Indian suppliers with the date visible.</a:t>
            </a:r>
            <a:endParaRPr lang="en-US" sz="1250" dirty="0"/>
          </a:p>
        </p:txBody>
      </p:sp>
      <p:sp>
        <p:nvSpPr>
          <p:cNvPr id="6" name="Shape 4"/>
          <p:cNvSpPr/>
          <p:nvPr/>
        </p:nvSpPr>
        <p:spPr>
          <a:xfrm>
            <a:off x="566928" y="1691640"/>
            <a:ext cx="3503168" cy="3291840"/>
          </a:xfrm>
          <a:prstGeom prst="roundRect">
            <a:avLst>
              <a:gd name="adj" fmla="val 1389"/>
            </a:avLst>
          </a:prstGeom>
          <a:solidFill>
            <a:srgbClr val="1A2634"/>
          </a:solidFill>
          <a:ln w="15875">
            <a:solidFill>
              <a:srgbClr val="3E5A72"/>
            </a:solidFill>
            <a:prstDash val="dash"/>
          </a:ln>
        </p:spPr>
      </p:sp>
      <p:sp>
        <p:nvSpPr>
          <p:cNvPr id="7" name="Text 5"/>
          <p:cNvSpPr/>
          <p:nvPr/>
        </p:nvSpPr>
        <p:spPr>
          <a:xfrm>
            <a:off x="704088" y="3108960"/>
            <a:ext cx="3228848" cy="457200"/>
          </a:xfrm>
          <a:prstGeom prst="rect">
            <a:avLst/>
          </a:prstGeom>
          <a:noFill/>
          <a:ln/>
        </p:spPr>
        <p:txBody>
          <a:bodyPr wrap="square" lIns="0" tIns="0" rIns="0" bIns="0" rtlCol="0" anchor="ctr"/>
          <a:lstStyle/>
          <a:p>
            <a:pPr algn="ctr" indent="0" marL="0">
              <a:buNone/>
            </a:pPr>
            <a:r>
              <a:rPr lang="en-US" sz="1250" b="1" spc="180" kern="0" dirty="0">
                <a:solidFill>
                  <a:srgbClr val="728EA3"/>
                </a:solidFill>
                <a:latin typeface="Inter" pitchFamily="34" charset="0"/>
                <a:ea typeface="Inter" pitchFamily="34" charset="-122"/>
                <a:cs typeface="Inter" pitchFamily="34" charset="-120"/>
              </a:rPr>
              <a:t>SCREENSHOT — RASPBERRY PI 5</a:t>
            </a:r>
            <a:endParaRPr lang="en-US" sz="1250" dirty="0"/>
          </a:p>
        </p:txBody>
      </p:sp>
      <p:sp>
        <p:nvSpPr>
          <p:cNvPr id="8" name="Shape 6"/>
          <p:cNvSpPr/>
          <p:nvPr/>
        </p:nvSpPr>
        <p:spPr>
          <a:xfrm>
            <a:off x="4344416" y="1691640"/>
            <a:ext cx="3503168" cy="3291840"/>
          </a:xfrm>
          <a:prstGeom prst="roundRect">
            <a:avLst>
              <a:gd name="adj" fmla="val 1389"/>
            </a:avLst>
          </a:prstGeom>
          <a:solidFill>
            <a:srgbClr val="1A2634"/>
          </a:solidFill>
          <a:ln w="15875">
            <a:solidFill>
              <a:srgbClr val="3E5A72"/>
            </a:solidFill>
            <a:prstDash val="dash"/>
          </a:ln>
        </p:spPr>
      </p:sp>
      <p:sp>
        <p:nvSpPr>
          <p:cNvPr id="9" name="Text 7"/>
          <p:cNvSpPr/>
          <p:nvPr/>
        </p:nvSpPr>
        <p:spPr>
          <a:xfrm>
            <a:off x="4481576" y="3108960"/>
            <a:ext cx="3228848" cy="457200"/>
          </a:xfrm>
          <a:prstGeom prst="rect">
            <a:avLst/>
          </a:prstGeom>
          <a:noFill/>
          <a:ln/>
        </p:spPr>
        <p:txBody>
          <a:bodyPr wrap="square" lIns="0" tIns="0" rIns="0" bIns="0" rtlCol="0" anchor="ctr"/>
          <a:lstStyle/>
          <a:p>
            <a:pPr algn="ctr" indent="0" marL="0">
              <a:buNone/>
            </a:pPr>
            <a:r>
              <a:rPr lang="en-US" sz="1250" b="1" spc="180" kern="0" dirty="0">
                <a:solidFill>
                  <a:srgbClr val="728EA3"/>
                </a:solidFill>
                <a:latin typeface="Inter" pitchFamily="34" charset="0"/>
                <a:ea typeface="Inter" pitchFamily="34" charset="-122"/>
                <a:cs typeface="Inter" pitchFamily="34" charset="-120"/>
              </a:rPr>
              <a:t>SCREENSHOT — USB CAMERA MODULE</a:t>
            </a:r>
            <a:endParaRPr lang="en-US" sz="1250" dirty="0"/>
          </a:p>
        </p:txBody>
      </p:sp>
      <p:sp>
        <p:nvSpPr>
          <p:cNvPr id="10" name="Shape 8"/>
          <p:cNvSpPr/>
          <p:nvPr/>
        </p:nvSpPr>
        <p:spPr>
          <a:xfrm>
            <a:off x="8121904" y="1691640"/>
            <a:ext cx="3503168" cy="3291840"/>
          </a:xfrm>
          <a:prstGeom prst="roundRect">
            <a:avLst>
              <a:gd name="adj" fmla="val 1389"/>
            </a:avLst>
          </a:prstGeom>
          <a:solidFill>
            <a:srgbClr val="1A2634"/>
          </a:solidFill>
          <a:ln w="15875">
            <a:solidFill>
              <a:srgbClr val="3E5A72"/>
            </a:solidFill>
            <a:prstDash val="dash"/>
          </a:ln>
        </p:spPr>
      </p:sp>
      <p:sp>
        <p:nvSpPr>
          <p:cNvPr id="11" name="Text 9"/>
          <p:cNvSpPr/>
          <p:nvPr/>
        </p:nvSpPr>
        <p:spPr>
          <a:xfrm>
            <a:off x="8259064" y="3108960"/>
            <a:ext cx="3228848" cy="457200"/>
          </a:xfrm>
          <a:prstGeom prst="rect">
            <a:avLst/>
          </a:prstGeom>
          <a:noFill/>
          <a:ln/>
        </p:spPr>
        <p:txBody>
          <a:bodyPr wrap="square" lIns="0" tIns="0" rIns="0" bIns="0" rtlCol="0" anchor="ctr"/>
          <a:lstStyle/>
          <a:p>
            <a:pPr algn="ctr" indent="0" marL="0">
              <a:buNone/>
            </a:pPr>
            <a:r>
              <a:rPr lang="en-US" sz="1250" b="1" spc="180" kern="0" dirty="0">
                <a:solidFill>
                  <a:srgbClr val="728EA3"/>
                </a:solidFill>
                <a:latin typeface="Inter" pitchFamily="34" charset="0"/>
                <a:ea typeface="Inter" pitchFamily="34" charset="-122"/>
                <a:cs typeface="Inter" pitchFamily="34" charset="-120"/>
              </a:rPr>
              <a:t>SCREENSHOT — 7" TOUCHSCREEN</a:t>
            </a:r>
            <a:endParaRPr lang="en-US" sz="1250" dirty="0"/>
          </a:p>
        </p:txBody>
      </p:sp>
      <p:sp>
        <p:nvSpPr>
          <p:cNvPr id="12" name="Shape 10"/>
          <p:cNvSpPr/>
          <p:nvPr/>
        </p:nvSpPr>
        <p:spPr>
          <a:xfrm>
            <a:off x="566928" y="5285232"/>
            <a:ext cx="11058144" cy="822960"/>
          </a:xfrm>
          <a:prstGeom prst="roundRect">
            <a:avLst>
              <a:gd name="adj" fmla="val 5556"/>
            </a:avLst>
          </a:prstGeom>
          <a:solidFill>
            <a:srgbClr val="13384A"/>
          </a:solidFill>
          <a:ln/>
        </p:spPr>
      </p:sp>
      <p:sp>
        <p:nvSpPr>
          <p:cNvPr id="13" name="Text 11"/>
          <p:cNvSpPr/>
          <p:nvPr/>
        </p:nvSpPr>
        <p:spPr>
          <a:xfrm>
            <a:off x="804672" y="5285232"/>
            <a:ext cx="10582656" cy="822960"/>
          </a:xfrm>
          <a:prstGeom prst="rect">
            <a:avLst/>
          </a:prstGeom>
          <a:noFill/>
          <a:ln/>
        </p:spPr>
        <p:txBody>
          <a:bodyPr wrap="square" lIns="0" tIns="0" rIns="0" bIns="0" rtlCol="0" anchor="ctr"/>
          <a:lstStyle/>
          <a:p>
            <a:pPr indent="0" marL="0">
              <a:buNone/>
            </a:pPr>
            <a:r>
              <a:rPr lang="en-US" sz="1400" b="1" dirty="0">
                <a:solidFill>
                  <a:srgbClr val="00B4D8"/>
                </a:solidFill>
                <a:latin typeface="Inter" pitchFamily="34" charset="0"/>
                <a:ea typeface="Inter" pitchFamily="34" charset="-122"/>
                <a:cs typeface="Inter" pitchFamily="34" charset="-120"/>
              </a:rPr>
              <a:t>Prototype BOM ≈ ₹28,000–35,000  ·  at 100 units ≈ ₹24,000–27,000  ·  selling price ₹49,000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Dhrishti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Dhrishti — Low-Cost AI Visual Defect Detection Station</dc:title>
  <dc:subject>PptxGenJS Presentation</dc:subject>
  <dc:creator>Jenil Patel</dc:creator>
  <cp:lastModifiedBy>Jenil Patel</cp:lastModifiedBy>
  <cp:revision>1</cp:revision>
  <dcterms:created xsi:type="dcterms:W3CDTF">2026-08-08T17:49:58Z</dcterms:created>
  <dcterms:modified xsi:type="dcterms:W3CDTF">2026-08-08T17:49:58Z</dcterms:modified>
</cp:coreProperties>
</file>