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e9048d5-0891-ef2a-d685-57e80cdbd432}">
          <p14:sldIdLst>
            <p14:sldId id="256"/>
            <p14:sldId id="257"/>
            <p14:sldId id="258"/>
          </p14:sldIdLst>
        </p14:section>
        <p14:section name="Tactile CMM" id="{d41dd711-6f10-f20f-ce42-1bab83ee36b4}">
          <p14:sldIdLst>
            <p14:sldId id="259"/>
            <p14:sldId id="260"/>
            <p14:sldId id="261"/>
          </p14:sldIdLst>
        </p14:section>
        <p14:section name="Non-contact" id="{fbae15d9-5e5c-2b02-9f50-27f591c036d2}">
          <p14:sldIdLst>
            <p14:sldId id="262"/>
            <p14:sldId id="263"/>
          </p14:sldIdLst>
        </p14:section>
        <p14:section name="Decision" id="{71c6a071-2b03-8223-ecd6-13daed262ae5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spPr>
            <a:solidFill>
              <a:srgbClr val="8C4A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4A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A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Tactile CMM only</c:v>
                  </c:pt>
                  <c:pt idx="1">
                    <c:v>Non-contact only</c:v>
                  </c:pt>
                  <c:pt idx="2">
                    <c:v>Hybrid — 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3.8</c:v>
                </c:pt>
                <c:pt idx="2">
                  <c:v>4.6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6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The question put to the plant is a choice between a CMM and a non-contact vision system for inspecting engine cylinder blocks. I will argue that the choice as posed is a false alternative, and that the arithmetic of the line settles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cost is not the inspection labour. It is that a process drift is discovered sixteen blocks too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take the two technologies in turn, compare them on the parameters that matter, and then let the throughput arithmetic decide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38 kg cylinder block the moving bridge is the answer: the part stays still, so its mass never enters the servo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DCC and a scanning probe are not preferences here; the application forces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practical point: the quoted accuracy is only valid inside the thermal window, which is exactly why this CMM must be near-line in a climate-controlled room, not on the open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traceability gap: laser scanners are accepted to VDI/VDE 2634, which is not the standard a customer will 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column wins. The CMM owns accuracy and traceability; vision owns speed and in-line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calculation decides the architecture. Everything else is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scores 4.60. It wins because it is the only option that is strong on both of the top two weighted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technology alone is sufficient. Together they are complementary: vision gives coverage, the CMM gives traceability and acts as the reference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the choice as posed was a false alternative. The throughput arithmetic rules out a CMM as a 100 % instrument, and line-of-sight physics rules out vision as a complete substitute. The hybrid scores 4.60 out of 5 and pays back in about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68680" y="1417320"/>
            <a:ext cx="106070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20" kern="0" dirty="0">
                <a:solidFill>
                  <a:srgbClr val="7FC2D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47088"/>
            <a:ext cx="8092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68680" y="379476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50" dirty="0">
                <a:solidFill>
                  <a:srgbClr val="C9DCE6"/>
                </a:solidFill>
              </a:defRPr>
            </a:lvl1pPr>
          </a:lstStyle>
          <a:p>
            <a:pPr indent="0" marL="0">
              <a:buNone/>
            </a:pPr>
            <a:endParaRPr lang="en-US" sz="165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68680" y="5440680"/>
            <a:ext cx="10607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50" dirty="0">
                <a:solidFill>
                  <a:srgbClr val="8FA7B8"/>
                </a:solidFill>
              </a:defRPr>
            </a:lvl1pPr>
          </a:lstStyle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68680" y="2514600"/>
            <a:ext cx="1371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rgbClr val="1C5A7D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377440" y="2606040"/>
            <a:ext cx="9052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2377440" y="3611880"/>
            <a:ext cx="9052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C9DCE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 txBox="1"/>
          <p:nvPr/>
        </p:nvSpPr>
        <p:spPr>
          <a:xfrm>
            <a:off x="566928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Assignment 2  ·  In-Line Quality Inspection Strategy</a:t>
            </a:r>
            <a:endParaRPr lang="en-US" sz="95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chemeClr val="accent6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502920"/>
            <a:ext cx="106070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7B8"/>
                </a:solidFill>
              </a:rPr>
              <a:t>Assignment 2  ·  In-Line Quality Inspection Strategy</a:t>
            </a:r>
            <a:endParaRPr lang="en-US" sz="95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rgbClr val="8FA7B8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68680" y="1417320"/>
            <a:ext cx="10607040" cy="38404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7FC2D6"/>
                </a:solidFill>
              </a:rPr>
              <a:t>CASE STUDY &amp; SEMINAR  ·  AUTOMATION IN MANUFACTURING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68680" y="1847088"/>
            <a:ext cx="8092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In-Line Quality Inspection Strategy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68680" y="379476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50" dirty="0">
                <a:solidFill>
                  <a:srgbClr val="C9DCE6"/>
                </a:solidFill>
              </a:rPr>
              <a:t>Comparative analysis of Coordinate Measuring Machines against non-contact vision and laser inspection, for an automated engine cylinder-block line</a:t>
            </a:r>
            <a:endParaRPr lang="en-US" sz="165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868680" y="5440680"/>
            <a:ext cx="106070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50" dirty="0">
                <a:solidFill>
                  <a:srgbClr val="8FA7B8"/>
                </a:solidFill>
              </a:rPr>
              <a:t>Target COs: CO-1, CO-5          SDG 9 — Industry, Innovation &amp; Infrastructure          SDG 4 — Quality Education</a:t>
            </a:r>
            <a:endParaRPr lang="en-US" sz="1150" dirty="0"/>
          </a:p>
        </p:txBody>
      </p:sp>
      <p:sp>
        <p:nvSpPr>
          <p:cNvPr id="6" name="accentCircle"/>
          <p:cNvSpPr/>
          <p:nvPr/>
        </p:nvSpPr>
        <p:spPr>
          <a:xfrm>
            <a:off x="9418320" y="1298448"/>
            <a:ext cx="2194560" cy="2194560"/>
          </a:xfrm>
          <a:prstGeom prst="ellipse">
            <a:avLst/>
          </a:prstGeom>
          <a:solidFill>
            <a:srgbClr val="11506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0" y="1298448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FC2D6"/>
                </a:solidFill>
              </a:rPr>
              <a:t>± 5 µm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FC2D6"/>
                </a:solidFill>
              </a:rPr>
              <a:t>vs</a:t>
            </a:r>
            <a:endParaRPr lang="en-US" sz="19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FC2D6"/>
                </a:solidFill>
              </a:rPr>
              <a:t>90 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The problem: inspection has become the bottleneck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Automated cylinder-block line  ·  blocks are currently carried off the line for offline dimensional checking</a:t>
            </a:r>
            <a:endParaRPr lang="en-US" sz="1300" dirty="0"/>
          </a:p>
        </p:txBody>
      </p:sp>
      <p:sp>
        <p:nvSpPr>
          <p:cNvPr id="4" name="stat0"/>
          <p:cNvSpPr/>
          <p:nvPr/>
        </p:nvSpPr>
        <p:spPr>
          <a:xfrm>
            <a:off x="566928" y="1627632"/>
            <a:ext cx="2697480" cy="1572768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90 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line takt time</a:t>
            </a:r>
            <a:endParaRPr lang="en-US" sz="1150" dirty="0"/>
          </a:p>
        </p:txBody>
      </p:sp>
      <p:sp>
        <p:nvSpPr>
          <p:cNvPr id="7" name="stat1"/>
          <p:cNvSpPr/>
          <p:nvPr/>
        </p:nvSpPr>
        <p:spPr>
          <a:xfrm>
            <a:off x="3465576" y="1627632"/>
            <a:ext cx="2697480" cy="1572768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65576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blocks per day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(two shifts)</a:t>
            </a:r>
            <a:endParaRPr lang="en-US" sz="1150" dirty="0"/>
          </a:p>
        </p:txBody>
      </p:sp>
      <p:sp>
        <p:nvSpPr>
          <p:cNvPr id="10" name="stat2"/>
          <p:cNvSpPr/>
          <p:nvPr/>
        </p:nvSpPr>
        <p:spPr>
          <a:xfrm>
            <a:off x="6364224" y="1627632"/>
            <a:ext cx="2697480" cy="1572768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25 min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to inspect one 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 a CMM</a:t>
            </a:r>
            <a:endParaRPr lang="en-US" sz="1150" dirty="0"/>
          </a:p>
        </p:txBody>
      </p:sp>
      <p:sp>
        <p:nvSpPr>
          <p:cNvPr id="13" name="stat3"/>
          <p:cNvSpPr/>
          <p:nvPr/>
        </p:nvSpPr>
        <p:spPr>
          <a:xfrm>
            <a:off x="9262872" y="1627632"/>
            <a:ext cx="2697480" cy="1572768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2.0 %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present scrap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and rework rate</a:t>
            </a:r>
            <a:endParaRPr lang="en-US" sz="1150" dirty="0"/>
          </a:p>
        </p:txBody>
      </p:sp>
      <p:sp>
        <p:nvSpPr>
          <p:cNvPr id="16" name="consequence"/>
          <p:cNvSpPr/>
          <p:nvPr/>
        </p:nvSpPr>
        <p:spPr>
          <a:xfrm>
            <a:off x="566928" y="3520440"/>
            <a:ext cx="11057839" cy="2148840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Two consequences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041648"/>
            <a:ext cx="10509199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Inspection is the throughput bottleneck — the line waits on the inspection room.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Far more damaging: the DETECTION LAG. With sampling only, a drifting bore diameter is found long after a batch of blocks has already been machined to the wrong size.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Scrap is therefore not a measurement problem but a feedback-speed problem.</a:t>
            </a:r>
            <a:endParaRPr lang="en-US" sz="135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What this seminar covers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Three analyses, then a recommendation</a:t>
            </a:r>
            <a:endParaRPr lang="en-US" sz="1300" dirty="0"/>
          </a:p>
        </p:txBody>
      </p:sp>
      <p:sp>
        <p:nvSpPr>
          <p:cNvPr id="4" name="agenda0"/>
          <p:cNvSpPr/>
          <p:nvPr/>
        </p:nvSpPr>
        <p:spPr>
          <a:xfrm>
            <a:off x="566928" y="1627632"/>
            <a:ext cx="11057839" cy="1298448"/>
          </a:xfrm>
          <a:prstGeom prst="roundRect">
            <a:avLst>
              <a:gd name="adj" fmla="val 493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dot"/>
          <p:cNvSpPr/>
          <p:nvPr/>
        </p:nvSpPr>
        <p:spPr>
          <a:xfrm>
            <a:off x="877824" y="2020824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20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91056" y="1828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2"/>
                </a:solidFill>
              </a:rPr>
              <a:t>Tactile CMM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2212848"/>
            <a:ext cx="9594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Structural configurations · drive control · probe systems · accuracy tests, laser-interferometric calibration and error compensation</a:t>
            </a:r>
            <a:endParaRPr lang="en-US" sz="1250" dirty="0"/>
          </a:p>
        </p:txBody>
      </p:sp>
      <p:sp>
        <p:nvSpPr>
          <p:cNvPr id="9" name="agenda1"/>
          <p:cNvSpPr/>
          <p:nvPr/>
        </p:nvSpPr>
        <p:spPr>
          <a:xfrm>
            <a:off x="566928" y="3108960"/>
            <a:ext cx="11057839" cy="1298448"/>
          </a:xfrm>
          <a:prstGeom prst="roundRect">
            <a:avLst>
              <a:gd name="adj" fmla="val 493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0" name="dot"/>
          <p:cNvSpPr/>
          <p:nvPr/>
        </p:nvSpPr>
        <p:spPr>
          <a:xfrm>
            <a:off x="877824" y="350215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91056" y="3310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Non-contact inspection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591056" y="3694176"/>
            <a:ext cx="9594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3-D laser line scanners · CCD/CMOS machine vision · comparison across range, speed, accuracy, repeatability, reflectivity and environment</a:t>
            </a:r>
            <a:endParaRPr lang="en-US" sz="1250" dirty="0"/>
          </a:p>
        </p:txBody>
      </p:sp>
      <p:sp>
        <p:nvSpPr>
          <p:cNvPr id="14" name="agenda2"/>
          <p:cNvSpPr/>
          <p:nvPr/>
        </p:nvSpPr>
        <p:spPr>
          <a:xfrm>
            <a:off x="566928" y="4590288"/>
            <a:ext cx="11057839" cy="1298448"/>
          </a:xfrm>
          <a:prstGeom prst="roundRect">
            <a:avLst>
              <a:gd name="adj" fmla="val 4930"/>
            </a:avLst>
          </a:prstGeom>
          <a:solidFill>
            <a:srgbClr val="FBF3E6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5" name="dot"/>
          <p:cNvSpPr/>
          <p:nvPr/>
        </p:nvSpPr>
        <p:spPr>
          <a:xfrm>
            <a:off x="877824" y="4983480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91056" y="47914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3"/>
                </a:solidFill>
              </a:rPr>
              <a:t>Decision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5175504"/>
            <a:ext cx="9594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Weighted trade-off matrix · throughput arithmetic · economics · final engineering recommendation</a:t>
            </a:r>
            <a:endParaRPr lang="en-US" sz="125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Four structural configurations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Which structure suits which part — the trade-off between accuracy, stiffness, access and part size</a:t>
            </a:r>
            <a:endParaRPr lang="en-US" sz="1300" dirty="0"/>
          </a:p>
        </p:txBody>
      </p:sp>
      <p:sp>
        <p:nvSpPr>
          <p:cNvPr id="4" name="cfg0"/>
          <p:cNvSpPr/>
          <p:nvPr/>
        </p:nvSpPr>
        <p:spPr>
          <a:xfrm>
            <a:off x="566928" y="1572768"/>
            <a:ext cx="5550408" cy="2029968"/>
          </a:xfrm>
          <a:prstGeom prst="roundRect">
            <a:avLst>
              <a:gd name="adj" fmla="val 3153"/>
            </a:avLst>
          </a:prstGeom>
          <a:solidFill>
            <a:srgbClr val="EDF5EF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4"/>
                </a:solidFill>
              </a:rPr>
              <a:t>Moving bridge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482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Bridge travels over a fixed granite table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+  Best accuracy-to-cost; part mass does not enter the dynamics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–  Bridge yaw if single-driven</a:t>
            </a:r>
            <a:endParaRPr lang="en-US" sz="1200" dirty="0"/>
          </a:p>
        </p:txBody>
      </p:sp>
      <p:sp>
        <p:nvSpPr>
          <p:cNvPr id="8" name="cfg1"/>
          <p:cNvSpPr/>
          <p:nvPr/>
        </p:nvSpPr>
        <p:spPr>
          <a:xfrm>
            <a:off x="6345936" y="1572768"/>
            <a:ext cx="5550408" cy="2029968"/>
          </a:xfrm>
          <a:prstGeom prst="roundRect">
            <a:avLst>
              <a:gd name="adj" fmla="val 3153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7190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Fixed bridge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482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Bridge fixed, the TABLE moves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+  Highest accuracy — the metrology frame never moves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–  Moving table limits part weight</a:t>
            </a:r>
            <a:endParaRPr lang="en-US" sz="1200" dirty="0"/>
          </a:p>
        </p:txBody>
      </p:sp>
      <p:sp>
        <p:nvSpPr>
          <p:cNvPr id="12" name="cfg2"/>
          <p:cNvSpPr/>
          <p:nvPr/>
        </p:nvSpPr>
        <p:spPr>
          <a:xfrm>
            <a:off x="566928" y="3785616"/>
            <a:ext cx="5550408" cy="2029968"/>
          </a:xfrm>
          <a:prstGeom prst="roundRect">
            <a:avLst>
              <a:gd name="adj" fmla="val 3153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3931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Cantilever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2611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Probe on an arm from one side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590288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+  Open on three sides — easy robot loading; small footprint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–  Arm deflects with extension</a:t>
            </a:r>
            <a:endParaRPr lang="en-US" sz="1200" dirty="0"/>
          </a:p>
        </p:txBody>
      </p:sp>
      <p:sp>
        <p:nvSpPr>
          <p:cNvPr id="16" name="cfg3"/>
          <p:cNvSpPr/>
          <p:nvPr/>
        </p:nvSpPr>
        <p:spPr>
          <a:xfrm>
            <a:off x="6345936" y="3785616"/>
            <a:ext cx="5550408" cy="2029968"/>
          </a:xfrm>
          <a:prstGeom prst="roundRect">
            <a:avLst>
              <a:gd name="adj" fmla="val 3153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3931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6"/>
                </a:solidFill>
              </a:rPr>
              <a:t>Gantry / Horizontal arm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2611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Self-supporting frame / horizontal quill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590288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+  Very large volumes; part craned in; good access to vertical faces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–  Lower accuracy per metre; arm droop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Heavy parts (a 38 kg block)  →  moving bridge.        Light parts  →  cantilever.        Very large parts  →  gantry.</a:t>
            </a:r>
            <a:endParaRPr lang="en-US" sz="1300" dirty="0"/>
          </a:p>
        </p:txBody>
      </p:sp>
      <p:sp>
        <p:nvSpPr>
          <p:cNvPr id="22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Drive control and probe system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Both selections are forced by the need to run unattended inside a production cell</a:t>
            </a:r>
            <a:endParaRPr lang="en-US" sz="1300" dirty="0"/>
          </a:p>
        </p:txBody>
      </p:sp>
      <p:sp>
        <p:nvSpPr>
          <p:cNvPr id="4" name="drives"/>
          <p:cNvSpPr/>
          <p:nvPr/>
        </p:nvSpPr>
        <p:spPr>
          <a:xfrm>
            <a:off x="566928" y="1572768"/>
            <a:ext cx="5550408" cy="4114800"/>
          </a:xfrm>
          <a:prstGeom prst="roundRect">
            <a:avLst>
              <a:gd name="adj" fmla="val 1556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Drive control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Manual (free-floating)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operator pushes the carriages — repeatability depends on the operator. Rejected.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467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Motorised / joystick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3931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consistent approach speed, but still operator-paced. Teaching only.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17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Direct Computer Control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09744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part program drives the probe — repeatable, unattended, line-triggerable, and the only option that can scan. SELECTED.</a:t>
            </a:r>
            <a:endParaRPr lang="en-US" sz="1200" dirty="0"/>
          </a:p>
        </p:txBody>
      </p:sp>
      <p:sp>
        <p:nvSpPr>
          <p:cNvPr id="12" name="probes"/>
          <p:cNvSpPr/>
          <p:nvPr/>
        </p:nvSpPr>
        <p:spPr>
          <a:xfrm>
            <a:off x="6345936" y="1572768"/>
            <a:ext cx="5550408" cy="4114800"/>
          </a:xfrm>
          <a:prstGeom prst="roundRect">
            <a:avLst>
              <a:gd name="adj" fmla="val 1556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01968" y="1719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Probe system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176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Touch-trigger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468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3–5 points per second. Sizes and positions only. Main error is pre-travel variation — the trigger force changes with approach direction.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Continuous scanning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39502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Hundreds to thousands of points per second. Measures FORM — roundness, cylindricity, profile. SELECTED.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5138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chemeClr val="accent5"/>
                </a:solidFill>
              </a:rPr>
              <a:t>Cylinder bores need cylindricity — and that cannot be certified from a handful of discrete points.</a:t>
            </a:r>
            <a:endParaRPr lang="en-US" sz="125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Accuracy, calibration and traceability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CMM is itself a measuring instrument — it must be calibrated and periodically reverified</a:t>
            </a:r>
            <a:endParaRPr lang="en-US" sz="1300" dirty="0"/>
          </a:p>
        </p:txBody>
      </p:sp>
      <p:sp>
        <p:nvSpPr>
          <p:cNvPr id="4" name="err0"/>
          <p:cNvSpPr/>
          <p:nvPr/>
        </p:nvSpPr>
        <p:spPr>
          <a:xfrm>
            <a:off x="566928" y="1572768"/>
            <a:ext cx="2121408" cy="1517904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688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linear positioning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(scale) errors</a:t>
            </a:r>
            <a:endParaRPr lang="en-US" sz="1150" dirty="0"/>
          </a:p>
        </p:txBody>
      </p:sp>
      <p:sp>
        <p:nvSpPr>
          <p:cNvPr id="7" name="err1"/>
          <p:cNvSpPr/>
          <p:nvPr/>
        </p:nvSpPr>
        <p:spPr>
          <a:xfrm>
            <a:off x="2871216" y="1572768"/>
            <a:ext cx="2121408" cy="1517904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71216" y="162763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871216" y="24688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straightness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errors</a:t>
            </a:r>
            <a:endParaRPr lang="en-US" sz="1150" dirty="0"/>
          </a:p>
        </p:txBody>
      </p:sp>
      <p:sp>
        <p:nvSpPr>
          <p:cNvPr id="10" name="err2"/>
          <p:cNvSpPr/>
          <p:nvPr/>
        </p:nvSpPr>
        <p:spPr>
          <a:xfrm>
            <a:off x="5175504" y="1572768"/>
            <a:ext cx="2121408" cy="1517904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75504" y="162763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24688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angular errors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(pitch, yaw, roll)</a:t>
            </a:r>
            <a:endParaRPr lang="en-US" sz="1150" dirty="0"/>
          </a:p>
        </p:txBody>
      </p:sp>
      <p:sp>
        <p:nvSpPr>
          <p:cNvPr id="13" name="err3"/>
          <p:cNvSpPr/>
          <p:nvPr/>
        </p:nvSpPr>
        <p:spPr>
          <a:xfrm>
            <a:off x="7479792" y="1572768"/>
            <a:ext cx="2121408" cy="1517904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2763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4688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squareness errors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between axis pairs</a:t>
            </a:r>
            <a:endParaRPr lang="en-US" sz="1150" dirty="0"/>
          </a:p>
        </p:txBody>
      </p:sp>
      <p:sp>
        <p:nvSpPr>
          <p:cNvPr id="16" name="err4"/>
          <p:cNvSpPr/>
          <p:nvPr/>
        </p:nvSpPr>
        <p:spPr>
          <a:xfrm>
            <a:off x="9784080" y="1572768"/>
            <a:ext cx="2121408" cy="1517904"/>
          </a:xfrm>
          <a:prstGeom prst="roundRect">
            <a:avLst>
              <a:gd name="adj" fmla="val 4217"/>
            </a:avLst>
          </a:prstGeom>
          <a:solidFill>
            <a:srgbClr val="FBF3E6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4080" y="162763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21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46888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rigid-body error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components in total</a:t>
            </a:r>
            <a:endParaRPr lang="en-US" sz="1150" dirty="0"/>
          </a:p>
        </p:txBody>
      </p:sp>
      <p:sp>
        <p:nvSpPr>
          <p:cNvPr id="19" name="cal"/>
          <p:cNvSpPr/>
          <p:nvPr/>
        </p:nvSpPr>
        <p:spPr>
          <a:xfrm>
            <a:off x="566928" y="3310128"/>
            <a:ext cx="5550408" cy="2377440"/>
          </a:xfrm>
          <a:prstGeom prst="roundRect">
            <a:avLst>
              <a:gd name="adj" fmla="val 2692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4381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they are measured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803904"/>
            <a:ext cx="5074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Laser interferometry — linear positioning directly; pitch and yaw with angular optics; straightness with Wollaston optics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Roll by electronic level or autocollimator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Squareness by granite square, ball plate or ball bar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Air temperature, pressure and humidity fed in to correct the refractive index</a:t>
            </a:r>
            <a:endParaRPr lang="en-US" sz="1150" dirty="0"/>
          </a:p>
        </p:txBody>
      </p:sp>
      <p:sp>
        <p:nvSpPr>
          <p:cNvPr id="22" name="std"/>
          <p:cNvSpPr/>
          <p:nvPr/>
        </p:nvSpPr>
        <p:spPr>
          <a:xfrm>
            <a:off x="6345936" y="3310128"/>
            <a:ext cx="5550408" cy="2377440"/>
          </a:xfrm>
          <a:prstGeom prst="roundRect">
            <a:avLst>
              <a:gd name="adj" fmla="val 2692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34381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Compensation and acceptance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3803904"/>
            <a:ext cx="5074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21 components are loaded as a CAA volumetric compensation map — every point corrected in real time, improving volumetric accuracy 3–10×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ISO 10360-2 (IS 15250): length error E₀,MPE and repeatability R₀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ISO 10360-5: probing form error P on a calibrated sphere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ISO 10360-4: scanning probing error THP</a:t>
            </a:r>
            <a:endParaRPr lang="en-US" sz="1150" dirty="0"/>
          </a:p>
        </p:txBody>
      </p:sp>
      <p:sp>
        <p:nvSpPr>
          <p:cNvPr id="26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Two non-contact technologies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Both trade absolute accuracy for speed and coverage</a:t>
            </a:r>
            <a:endParaRPr lang="en-US" sz="1300" dirty="0"/>
          </a:p>
        </p:txBody>
      </p:sp>
      <p:sp>
        <p:nvSpPr>
          <p:cNvPr id="4" name="laser"/>
          <p:cNvSpPr/>
          <p:nvPr/>
        </p:nvSpPr>
        <p:spPr>
          <a:xfrm>
            <a:off x="566928" y="1572768"/>
            <a:ext cx="5550408" cy="4114800"/>
          </a:xfrm>
          <a:prstGeom prst="roundRect">
            <a:avLst>
              <a:gd name="adj" fmla="val 1556"/>
            </a:avLst>
          </a:prstGeom>
          <a:solidFill>
            <a:srgbClr val="EDF5EF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3-D laser line scanner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 laser line is projected on the part and imaged by a camera at a known angle; triangulation gives 3-D coordinates.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10 000 – 600 000 points per second — a whole block in 2–5 min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Full-field point cloud → colour deviation map against CAD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20–50 µm per point; 10–30 µm for a fitted feature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Accepted to VDI/VDE 2634, not ISO 10360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Weak on shiny, dark or translucent surfaces — dropout and noise</a:t>
            </a:r>
            <a:endParaRPr lang="en-US" sz="1220" dirty="0"/>
          </a:p>
        </p:txBody>
      </p:sp>
      <p:sp>
        <p:nvSpPr>
          <p:cNvPr id="8" name="vision"/>
          <p:cNvSpPr/>
          <p:nvPr/>
        </p:nvSpPr>
        <p:spPr>
          <a:xfrm>
            <a:off x="6345936" y="1572768"/>
            <a:ext cx="5550408" cy="4114800"/>
          </a:xfrm>
          <a:prstGeom prst="roundRect">
            <a:avLst>
              <a:gd name="adj" fmla="val 1556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01968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CCD / CMOS machine vision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2121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 telecentric lens images the feature, usually back-lit in silhouette; sub-pixel edge detection locates the edge.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724912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Sub-second per view — a full station fits inside a 90 s takt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50 mm field on a 5 MP sensor ≈ 20 µm per pixel; ~10–30 µm real accuracy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Telecentric optics are essential — constant magnification with height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Global-shutter CMOS specified; a rolling shutter distorts a moving part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chemeClr val="tx1"/>
                </a:solidFill>
              </a:rPr>
              <a:t>Two-dimensional, line of sight — blind bores are unreachable</a:t>
            </a:r>
            <a:endParaRPr lang="en-US" sz="1220" dirty="0"/>
          </a:p>
        </p:txBody>
      </p:sp>
      <p:sp>
        <p:nvSpPr>
          <p:cNvPr id="13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Head to head on the parameters that matter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15768"/>
                <a:gridCol w="2715768"/>
                <a:gridCol w="2697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Tactile CMM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 laser scanner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 / CMOS 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per block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 + L/300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30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2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20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10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reflectivity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affected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sensitive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Moderately sensitive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Coolant mist and dust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must be clean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scatter, dropout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sealed, purged optics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sensitive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tolerant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/ internal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them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of sight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of sight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GD&amp;T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and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2-D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10360 / IS 15250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VDI/VDE 2634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 R&amp;R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In-line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Near-line at 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on a robot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The arithmetic that settles it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1 500 s inspection cannot live inside a 90 s takt</a:t>
            </a:r>
            <a:endParaRPr lang="en-US" sz="1300" dirty="0"/>
          </a:p>
        </p:txBody>
      </p:sp>
      <p:sp>
        <p:nvSpPr>
          <p:cNvPr id="4" name="ar0"/>
          <p:cNvSpPr/>
          <p:nvPr/>
        </p:nvSpPr>
        <p:spPr>
          <a:xfrm>
            <a:off x="566928" y="1627632"/>
            <a:ext cx="2697480" cy="1627632"/>
          </a:xfrm>
          <a:prstGeom prst="roundRect">
            <a:avLst>
              <a:gd name="adj" fmla="val 3933"/>
            </a:avLst>
          </a:prstGeom>
          <a:solidFill>
            <a:srgbClr val="F7EDF0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1 500 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full GD&amp;T inspection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 the CMM</a:t>
            </a:r>
            <a:endParaRPr lang="en-US" sz="1150" dirty="0"/>
          </a:p>
        </p:txBody>
      </p:sp>
      <p:sp>
        <p:nvSpPr>
          <p:cNvPr id="7" name="ar1"/>
          <p:cNvSpPr/>
          <p:nvPr/>
        </p:nvSpPr>
        <p:spPr>
          <a:xfrm>
            <a:off x="3465576" y="1627632"/>
            <a:ext cx="2697480" cy="1627632"/>
          </a:xfrm>
          <a:prstGeom prst="roundRect">
            <a:avLst>
              <a:gd name="adj" fmla="val 3933"/>
            </a:avLst>
          </a:prstGeom>
          <a:solidFill>
            <a:srgbClr val="F7EDF0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65576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÷  90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line takt time</a:t>
            </a:r>
            <a:endParaRPr lang="en-US" sz="1150" dirty="0"/>
          </a:p>
        </p:txBody>
      </p:sp>
      <p:sp>
        <p:nvSpPr>
          <p:cNvPr id="10" name="ar2"/>
          <p:cNvSpPr/>
          <p:nvPr/>
        </p:nvSpPr>
        <p:spPr>
          <a:xfrm>
            <a:off x="6364224" y="1627632"/>
            <a:ext cx="2697480" cy="1627632"/>
          </a:xfrm>
          <a:prstGeom prst="roundRect">
            <a:avLst>
              <a:gd name="adj" fmla="val 3933"/>
            </a:avLst>
          </a:prstGeom>
          <a:solidFill>
            <a:srgbClr val="F7EDF0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CMMs needed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100 % inspection</a:t>
            </a:r>
            <a:endParaRPr lang="en-US" sz="1150" dirty="0"/>
          </a:p>
        </p:txBody>
      </p:sp>
      <p:sp>
        <p:nvSpPr>
          <p:cNvPr id="13" name="ar3"/>
          <p:cNvSpPr/>
          <p:nvPr/>
        </p:nvSpPr>
        <p:spPr>
          <a:xfrm>
            <a:off x="9262872" y="1627632"/>
            <a:ext cx="2697480" cy="1627632"/>
          </a:xfrm>
          <a:prstGeom prst="roundRect">
            <a:avLst>
              <a:gd name="adj" fmla="val 3933"/>
            </a:avLst>
          </a:prstGeom>
          <a:solidFill>
            <a:srgbClr val="F7EDF0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1700784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6 %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5420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sampling one CMM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can actually achieve</a:t>
            </a:r>
            <a:endParaRPr lang="en-US" sz="1150" dirty="0"/>
          </a:p>
        </p:txBody>
      </p:sp>
      <p:sp>
        <p:nvSpPr>
          <p:cNvPr id="16" name="visionrow"/>
          <p:cNvSpPr/>
          <p:nvPr/>
        </p:nvSpPr>
        <p:spPr>
          <a:xfrm>
            <a:off x="566928" y="3474720"/>
            <a:ext cx="11057839" cy="1005840"/>
          </a:xfrm>
          <a:prstGeom prst="roundRect">
            <a:avLst>
              <a:gd name="adj" fmla="val 6364"/>
            </a:avLst>
          </a:prstGeom>
          <a:solidFill>
            <a:srgbClr val="EDF5EF"/>
          </a:solidFill>
          <a:ln w="12700">
            <a:solidFill>
              <a:srgbClr val="DCE5EB"/>
            </a:solidFill>
            <a:prstDash val="solid"/>
          </a:ln>
          <a:effectLst>
            <a:outerShdw sx="100000" sy="100000" kx="0" ky="0" algn="bl" rotWithShape="0" blurRad="101600" dist="19050" dir="5400000">
              <a:srgbClr val="0B3C5D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86968" y="3474720"/>
            <a:ext cx="104177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In-line vision + laser: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45 s  &lt;  90 s takt   →   100 % of blocks gauged, every one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681728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Seventeen CMMs is not an engineering proposal. A CMM can therefore only ever sample — and sampling one block in seventeen means a drift is found, on average, sixteen blocks too late. That is the very failure the plant is trying to eliminate.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Weighted trade-off matrix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Seven criteria, weighted for this plant's problem — scores out of 5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0020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eights"/>
          <p:cNvSpPr/>
          <p:nvPr/>
        </p:nvSpPr>
        <p:spPr>
          <a:xfrm>
            <a:off x="7333488" y="1600200"/>
            <a:ext cx="4306824" cy="4023360"/>
          </a:xfrm>
          <a:prstGeom prst="roundRect">
            <a:avLst>
              <a:gd name="adj" fmla="val 1591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Criteria and weights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17627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25 %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66176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Cycle time and throughput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6517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20 %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66176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Accuracy on the CTQ features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1272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15 %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66176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GD&amp;T and datum capability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60273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15 %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66176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In-line integration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07822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40782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Robustness to mist, dust, vibration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45537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10 %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66176" y="4553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Capital and operating cost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0292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66176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SPC / MES data integration</a:t>
            </a:r>
            <a:endParaRPr lang="en-US" sz="1200" dirty="0"/>
          </a:p>
        </p:txBody>
      </p:sp>
      <p:sp>
        <p:nvSpPr>
          <p:cNvPr id="22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Recommendation: a hybrid architecture</a:t>
            </a:r>
            <a:endParaRPr lang="en-US" sz="2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100 % in-line non-contact gauging, backed by a near-line DCC scanning CMM sampling 1 block in 17</a:t>
            </a:r>
            <a:endParaRPr lang="en-US" sz="1300" dirty="0"/>
          </a:p>
        </p:txBody>
      </p:sp>
      <p:pic>
        <p:nvPicPr>
          <p:cNvPr id="4" name="architecture" descr="/home/user/6dof-robotic-arm-ros2-1.0/PBL_AM/Assignment2_Inspection/inspect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5096" cy="3401568"/>
          </a:xfrm>
          <a:prstGeom prst="rect">
            <a:avLst/>
          </a:prstGeom>
        </p:spPr>
      </p:pic>
      <p:sp>
        <p:nvSpPr>
          <p:cNvPr id="5" name="rec0"/>
          <p:cNvSpPr/>
          <p:nvPr/>
        </p:nvSpPr>
        <p:spPr>
          <a:xfrm>
            <a:off x="566928" y="5047488"/>
            <a:ext cx="3520440" cy="102412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In-line station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542239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100 % · 45 s · bore Ø and position, deck flatness, drilling and thread presence</a:t>
            </a:r>
            <a:endParaRPr lang="en-US" sz="1050" dirty="0"/>
          </a:p>
        </p:txBody>
      </p:sp>
      <p:sp>
        <p:nvSpPr>
          <p:cNvPr id="8" name="rec1"/>
          <p:cNvSpPr/>
          <p:nvPr/>
        </p:nvSpPr>
        <p:spPr>
          <a:xfrm>
            <a:off x="4306824" y="5047488"/>
            <a:ext cx="3520440" cy="102412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07992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Near-line CMM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07992" y="542239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 in 17 · 25 min · full GD&amp;T to ISO 10360, and the reference for gauge R&amp;R</a:t>
            </a:r>
            <a:endParaRPr lang="en-US" sz="1050" dirty="0"/>
          </a:p>
        </p:txBody>
      </p:sp>
      <p:sp>
        <p:nvSpPr>
          <p:cNvPr id="11" name="rec2"/>
          <p:cNvSpPr/>
          <p:nvPr/>
        </p:nvSpPr>
        <p:spPr>
          <a:xfrm>
            <a:off x="8046720" y="5047488"/>
            <a:ext cx="3520440" cy="102412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47888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Closed loop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542239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tool offsets fed back to OP 20 and OP 40 — a drift corrected within one part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68680" y="502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The business case, and what to do next</a:t>
            </a:r>
            <a:endParaRPr lang="en-US" sz="2700" dirty="0"/>
          </a:p>
        </p:txBody>
      </p:sp>
      <p:sp>
        <p:nvSpPr>
          <p:cNvPr id="3" name="eco0"/>
          <p:cNvSpPr/>
          <p:nvPr/>
        </p:nvSpPr>
        <p:spPr>
          <a:xfrm>
            <a:off x="868680" y="1481328"/>
            <a:ext cx="3383280" cy="1572768"/>
          </a:xfrm>
          <a:prstGeom prst="roundRect">
            <a:avLst>
              <a:gd name="adj" fmla="val 4070"/>
            </a:avLst>
          </a:prstGeom>
          <a:solidFill>
            <a:srgbClr val="11506F"/>
          </a:solidFill>
          <a:ln w="12700">
            <a:solidFill>
              <a:srgbClr val="1C638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72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57E"/>
                </a:solidFill>
              </a:rPr>
              <a:t>₹ 1.35 cr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4086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E6"/>
                </a:solidFill>
              </a:rPr>
              <a:t>annual saving from cutting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DCE6"/>
                </a:solidFill>
              </a:rPr>
              <a:t>scrap 2.0 % → 0.5 %</a:t>
            </a:r>
            <a:endParaRPr lang="en-US" sz="1150" dirty="0"/>
          </a:p>
        </p:txBody>
      </p:sp>
      <p:sp>
        <p:nvSpPr>
          <p:cNvPr id="6" name="eco1"/>
          <p:cNvSpPr/>
          <p:nvPr/>
        </p:nvSpPr>
        <p:spPr>
          <a:xfrm>
            <a:off x="4526280" y="1481328"/>
            <a:ext cx="3383280" cy="1572768"/>
          </a:xfrm>
          <a:prstGeom prst="roundRect">
            <a:avLst>
              <a:gd name="adj" fmla="val 4070"/>
            </a:avLst>
          </a:prstGeom>
          <a:solidFill>
            <a:srgbClr val="11506F"/>
          </a:solidFill>
          <a:ln w="12700">
            <a:solidFill>
              <a:srgbClr val="1C638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72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57E"/>
                </a:solidFill>
              </a:rPr>
              <a:t>₹ 1.30 cr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34086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E6"/>
                </a:solidFill>
              </a:rPr>
              <a:t>total capital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DCE6"/>
                </a:solidFill>
              </a:rPr>
              <a:t>(vision ₹45 L + CMM ₹85 L)</a:t>
            </a:r>
            <a:endParaRPr lang="en-US" sz="1150" dirty="0"/>
          </a:p>
        </p:txBody>
      </p:sp>
      <p:sp>
        <p:nvSpPr>
          <p:cNvPr id="9" name="eco2"/>
          <p:cNvSpPr/>
          <p:nvPr/>
        </p:nvSpPr>
        <p:spPr>
          <a:xfrm>
            <a:off x="8183880" y="1481328"/>
            <a:ext cx="3383280" cy="1572768"/>
          </a:xfrm>
          <a:prstGeom prst="roundRect">
            <a:avLst>
              <a:gd name="adj" fmla="val 4070"/>
            </a:avLst>
          </a:prstGeom>
          <a:solidFill>
            <a:srgbClr val="11506F"/>
          </a:solidFill>
          <a:ln w="12700">
            <a:solidFill>
              <a:srgbClr val="1C63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572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57E"/>
                </a:solidFill>
              </a:rPr>
              <a:t>≈ 1.0 yr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34086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E6"/>
                </a:solidFill>
              </a:rPr>
              <a:t>simple payback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00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7B8"/>
                </a:solidFill>
              </a:rPr>
              <a:t>Illustrative figures — the structure of the case is what matters: the saving is driven by the scrap improvement and is an order of magnitude larger than the difference in capital between the options.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Two conditions for success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062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</a:rPr>
              <a:t>Correlate the gauges formally — quarterly gauge R&amp;R between the in-line station and the CMM, with in-line control limits guard-banded inside the drawing tolerance by the measured uncertainty.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</a:rPr>
              <a:t>Protect the optics — a sealed, filtered, positive-pressure enclosure with an air knife. Most in-line vision installations that fail, fail for this reason, not for want of resolution.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650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57E"/>
                </a:solidFill>
              </a:rPr>
              <a:t>Thank you  —  questions welcome</a:t>
            </a:r>
            <a:endParaRPr lang="en-US" sz="1600" dirty="0"/>
          </a:p>
        </p:txBody>
      </p:sp>
      <p:sp>
        <p:nvSpPr>
          <p:cNvPr id="17" name="Text 2"/>
          <p:cNvSpPr/>
          <p:nvPr>
            <p:ph idx="103" hasCustomPrompt="1"/>
          </p:nvPr>
        </p:nvSpPr>
        <p:spPr>
          <a:xfrm>
            <a:off x="10893247" y="6327648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 Metrology">
  <a:themeElements>
    <a:clrScheme name="Precision Metrology">
      <a:dk1>
        <a:srgbClr val="16232E"/>
      </a:dk1>
      <a:lt1>
        <a:srgbClr val="FFFFFF"/>
      </a:lt1>
      <a:dk2>
        <a:srgbClr val="0B3C5D"/>
      </a:dk2>
      <a:lt2>
        <a:srgbClr val="EDF2F6"/>
      </a:lt2>
      <a:accent1>
        <a:srgbClr val="1C7293"/>
      </a:accent1>
      <a:accent2>
        <a:srgbClr val="0B3C5D"/>
      </a:accent2>
      <a:accent3>
        <a:srgbClr val="D98A2B"/>
      </a:accent3>
      <a:accent4>
        <a:srgbClr val="4A7C59"/>
      </a:accent4>
      <a:accent5>
        <a:srgbClr val="8C4A5E"/>
      </a:accent5>
      <a:accent6>
        <a:srgbClr val="6B7C8C"/>
      </a:accent6>
      <a:hlink>
        <a:srgbClr val="1C7293"/>
      </a:hlink>
      <a:folHlink>
        <a:srgbClr val="6B7C8C"/>
      </a:folHlink>
    </a:clrScheme>
    <a:fontScheme name="Precision Metrolo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In-Line Quality Inspection Strategy</dc:title>
  <dc:subject>CMM versus Non-Contact Vision Inspection</dc:subject>
  <dc:creator>Automation in Manufacturing - PBL Assignment 2</dc:creator>
  <cp:lastModifiedBy>Automation in Manufacturing - PBL Assignment 2</cp:lastModifiedBy>
  <cp:revision>1</cp:revision>
  <dcterms:created xsi:type="dcterms:W3CDTF">2026-10-02T10:45:56Z</dcterms:created>
  <dcterms:modified xsi:type="dcterms:W3CDTF">2026-10-02T10:45:56Z</dcterms:modified>
</cp:coreProperties>
</file>